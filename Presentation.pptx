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9144000" cy="5143500" type="screen16x9"/>
  <p:notesSz cx="6858000" cy="9144000"/>
  <p:embeddedFontLst>
    <p:embeddedFont>
      <p:font typeface="Lato"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F2E73B-1FD5-4EF3-B109-269E46EE486F}" v="71" dt="2021-12-03T12:41:46.995"/>
    <p1510:client id="{84516A09-E78A-4262-AF2F-3D9FAF4C1E07}" v="1" dt="2021-12-02T21:50:22.482"/>
    <p1510:client id="{9942EDE7-C07D-4B05-821B-069F2CE8D9E0}" v="19" dt="2021-12-02T21:48:05.204"/>
    <p1510:client id="{A8771223-0077-47C8-AD21-A54F1134B7E0}" v="2" dt="2021-12-02T21:52:26.977"/>
  </p1510:revLst>
</p1510:revInfo>
</file>

<file path=ppt/tableStyles.xml><?xml version="1.0" encoding="utf-8"?>
<a:tblStyleLst xmlns:a="http://schemas.openxmlformats.org/drawingml/2006/main" def="{4D11C929-2CF1-41A9-A7A1-38CD1D5D44DC}">
  <a:tblStyle styleId="{4D11C929-2CF1-41A9-A7A1-38CD1D5D44D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BE6A4FD-F2DC-4053-9529-1B390CDC873A}"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anuele Urselli" userId="S::e.urselli@studenti.unipi.it::2573c6b5-4b4d-4630-babd-fbfe6e8b1f71" providerId="AD" clId="Web-{84516A09-E78A-4262-AF2F-3D9FAF4C1E07}"/>
    <pc:docChg chg="modSld">
      <pc:chgData name="Emanuele Urselli" userId="S::e.urselli@studenti.unipi.it::2573c6b5-4b4d-4630-babd-fbfe6e8b1f71" providerId="AD" clId="Web-{84516A09-E78A-4262-AF2F-3D9FAF4C1E07}" dt="2021-12-02T21:55:12.022" v="33"/>
      <pc:docMkLst>
        <pc:docMk/>
      </pc:docMkLst>
      <pc:sldChg chg="modNotes">
        <pc:chgData name="Emanuele Urselli" userId="S::e.urselli@studenti.unipi.it::2573c6b5-4b4d-4630-babd-fbfe6e8b1f71" providerId="AD" clId="Web-{84516A09-E78A-4262-AF2F-3D9FAF4C1E07}" dt="2021-12-02T21:55:12.022" v="33"/>
        <pc:sldMkLst>
          <pc:docMk/>
          <pc:sldMk cId="0" sldId="258"/>
        </pc:sldMkLst>
      </pc:sldChg>
    </pc:docChg>
  </pc:docChgLst>
  <pc:docChgLst>
    <pc:chgData name="Alessandro Zanatta" userId="S::a.zanatta1@studenti.unipi.it::99685362-4619-400a-8ce4-226be283b9cf" providerId="AD" clId="Web-{A8771223-0077-47C8-AD21-A54F1134B7E0}"/>
    <pc:docChg chg="modSld">
      <pc:chgData name="Alessandro Zanatta" userId="S::a.zanatta1@studenti.unipi.it::99685362-4619-400a-8ce4-226be283b9cf" providerId="AD" clId="Web-{A8771223-0077-47C8-AD21-A54F1134B7E0}" dt="2021-12-02T21:52:26.977" v="1" actId="1076"/>
      <pc:docMkLst>
        <pc:docMk/>
      </pc:docMkLst>
      <pc:sldChg chg="modSp">
        <pc:chgData name="Alessandro Zanatta" userId="S::a.zanatta1@studenti.unipi.it::99685362-4619-400a-8ce4-226be283b9cf" providerId="AD" clId="Web-{A8771223-0077-47C8-AD21-A54F1134B7E0}" dt="2021-12-02T21:49:44.113" v="0" actId="1076"/>
        <pc:sldMkLst>
          <pc:docMk/>
          <pc:sldMk cId="0" sldId="258"/>
        </pc:sldMkLst>
        <pc:graphicFrameChg chg="mod">
          <ac:chgData name="Alessandro Zanatta" userId="S::a.zanatta1@studenti.unipi.it::99685362-4619-400a-8ce4-226be283b9cf" providerId="AD" clId="Web-{A8771223-0077-47C8-AD21-A54F1134B7E0}" dt="2021-12-02T21:49:44.113" v="0" actId="1076"/>
          <ac:graphicFrameMkLst>
            <pc:docMk/>
            <pc:sldMk cId="0" sldId="258"/>
            <ac:graphicFrameMk id="78" creationId="{00000000-0000-0000-0000-000000000000}"/>
          </ac:graphicFrameMkLst>
        </pc:graphicFrameChg>
      </pc:sldChg>
      <pc:sldChg chg="modSp">
        <pc:chgData name="Alessandro Zanatta" userId="S::a.zanatta1@studenti.unipi.it::99685362-4619-400a-8ce4-226be283b9cf" providerId="AD" clId="Web-{A8771223-0077-47C8-AD21-A54F1134B7E0}" dt="2021-12-02T21:52:26.977" v="1" actId="1076"/>
        <pc:sldMkLst>
          <pc:docMk/>
          <pc:sldMk cId="0" sldId="263"/>
        </pc:sldMkLst>
        <pc:graphicFrameChg chg="mod">
          <ac:chgData name="Alessandro Zanatta" userId="S::a.zanatta1@studenti.unipi.it::99685362-4619-400a-8ce4-226be283b9cf" providerId="AD" clId="Web-{A8771223-0077-47C8-AD21-A54F1134B7E0}" dt="2021-12-02T21:52:26.977" v="1" actId="1076"/>
          <ac:graphicFrameMkLst>
            <pc:docMk/>
            <pc:sldMk cId="0" sldId="263"/>
            <ac:graphicFrameMk id="125" creationId="{00000000-0000-0000-0000-000000000000}"/>
          </ac:graphicFrameMkLst>
        </pc:graphicFrameChg>
      </pc:sldChg>
    </pc:docChg>
  </pc:docChgLst>
  <pc:docChgLst>
    <pc:chgData name="Alessandro Zanatta" userId="S::a.zanatta1@studenti.unipi.it::99685362-4619-400a-8ce4-226be283b9cf" providerId="AD" clId="Web-{9942EDE7-C07D-4B05-821B-069F2CE8D9E0}"/>
    <pc:docChg chg="modSld">
      <pc:chgData name="Alessandro Zanatta" userId="S::a.zanatta1@studenti.unipi.it::99685362-4619-400a-8ce4-226be283b9cf" providerId="AD" clId="Web-{9942EDE7-C07D-4B05-821B-069F2CE8D9E0}" dt="2021-12-02T21:48:05.204" v="12" actId="1076"/>
      <pc:docMkLst>
        <pc:docMk/>
      </pc:docMkLst>
      <pc:sldChg chg="modSp">
        <pc:chgData name="Alessandro Zanatta" userId="S::a.zanatta1@studenti.unipi.it::99685362-4619-400a-8ce4-226be283b9cf" providerId="AD" clId="Web-{9942EDE7-C07D-4B05-821B-069F2CE8D9E0}" dt="2021-12-02T21:47:19.250" v="10" actId="1076"/>
        <pc:sldMkLst>
          <pc:docMk/>
          <pc:sldMk cId="0" sldId="257"/>
        </pc:sldMkLst>
        <pc:graphicFrameChg chg="mod">
          <ac:chgData name="Alessandro Zanatta" userId="S::a.zanatta1@studenti.unipi.it::99685362-4619-400a-8ce4-226be283b9cf" providerId="AD" clId="Web-{9942EDE7-C07D-4B05-821B-069F2CE8D9E0}" dt="2021-12-02T21:47:01.937" v="6" actId="1076"/>
          <ac:graphicFrameMkLst>
            <pc:docMk/>
            <pc:sldMk cId="0" sldId="257"/>
            <ac:graphicFrameMk id="67" creationId="{00000000-0000-0000-0000-000000000000}"/>
          </ac:graphicFrameMkLst>
        </pc:graphicFrameChg>
        <pc:graphicFrameChg chg="mod">
          <ac:chgData name="Alessandro Zanatta" userId="S::a.zanatta1@studenti.unipi.it::99685362-4619-400a-8ce4-226be283b9cf" providerId="AD" clId="Web-{9942EDE7-C07D-4B05-821B-069F2CE8D9E0}" dt="2021-12-02T21:47:19.250" v="10" actId="1076"/>
          <ac:graphicFrameMkLst>
            <pc:docMk/>
            <pc:sldMk cId="0" sldId="257"/>
            <ac:graphicFrameMk id="68" creationId="{00000000-0000-0000-0000-000000000000}"/>
          </ac:graphicFrameMkLst>
        </pc:graphicFrameChg>
        <pc:graphicFrameChg chg="mod">
          <ac:chgData name="Alessandro Zanatta" userId="S::a.zanatta1@studenti.unipi.it::99685362-4619-400a-8ce4-226be283b9cf" providerId="AD" clId="Web-{9942EDE7-C07D-4B05-821B-069F2CE8D9E0}" dt="2021-12-02T21:47:12.047" v="9" actId="1076"/>
          <ac:graphicFrameMkLst>
            <pc:docMk/>
            <pc:sldMk cId="0" sldId="257"/>
            <ac:graphicFrameMk id="69" creationId="{00000000-0000-0000-0000-000000000000}"/>
          </ac:graphicFrameMkLst>
        </pc:graphicFrameChg>
      </pc:sldChg>
      <pc:sldChg chg="modSp">
        <pc:chgData name="Alessandro Zanatta" userId="S::a.zanatta1@studenti.unipi.it::99685362-4619-400a-8ce4-226be283b9cf" providerId="AD" clId="Web-{9942EDE7-C07D-4B05-821B-069F2CE8D9E0}" dt="2021-12-02T21:48:05.204" v="12" actId="1076"/>
        <pc:sldMkLst>
          <pc:docMk/>
          <pc:sldMk cId="0" sldId="259"/>
        </pc:sldMkLst>
        <pc:graphicFrameChg chg="mod">
          <ac:chgData name="Alessandro Zanatta" userId="S::a.zanatta1@studenti.unipi.it::99685362-4619-400a-8ce4-226be283b9cf" providerId="AD" clId="Web-{9942EDE7-C07D-4B05-821B-069F2CE8D9E0}" dt="2021-12-02T21:48:05.204" v="12" actId="1076"/>
          <ac:graphicFrameMkLst>
            <pc:docMk/>
            <pc:sldMk cId="0" sldId="259"/>
            <ac:graphicFrameMk id="87" creationId="{00000000-0000-0000-0000-000000000000}"/>
          </ac:graphicFrameMkLst>
        </pc:graphicFrameChg>
      </pc:sldChg>
      <pc:sldChg chg="modSp">
        <pc:chgData name="Alessandro Zanatta" userId="S::a.zanatta1@studenti.unipi.it::99685362-4619-400a-8ce4-226be283b9cf" providerId="AD" clId="Web-{9942EDE7-C07D-4B05-821B-069F2CE8D9E0}" dt="2021-12-02T21:46:18.061" v="5"/>
        <pc:sldMkLst>
          <pc:docMk/>
          <pc:sldMk cId="0" sldId="269"/>
        </pc:sldMkLst>
        <pc:graphicFrameChg chg="mod modGraphic">
          <ac:chgData name="Alessandro Zanatta" userId="S::a.zanatta1@studenti.unipi.it::99685362-4619-400a-8ce4-226be283b9cf" providerId="AD" clId="Web-{9942EDE7-C07D-4B05-821B-069F2CE8D9E0}" dt="2021-12-02T21:46:18.061" v="5"/>
          <ac:graphicFrameMkLst>
            <pc:docMk/>
            <pc:sldMk cId="0" sldId="269"/>
            <ac:graphicFrameMk id="189" creationId="{00000000-0000-0000-0000-000000000000}"/>
          </ac:graphicFrameMkLst>
        </pc:graphicFrameChg>
      </pc:sldChg>
    </pc:docChg>
  </pc:docChgLst>
  <pc:docChgLst>
    <pc:chgData name="Gianmarco Pastore" userId="S::g.pastore11@studenti.unipi.it::4df70ea7-010b-4df8-9fdb-15a5f1351ca0" providerId="AD" clId="Web-{A56E7BB4-3F13-4511-9E3C-DD537CA7748A}"/>
    <pc:docChg chg="modSld">
      <pc:chgData name="Gianmarco Pastore" userId="S::g.pastore11@studenti.unipi.it::4df70ea7-010b-4df8-9fdb-15a5f1351ca0" providerId="AD" clId="Web-{A56E7BB4-3F13-4511-9E3C-DD537CA7748A}" dt="2021-12-03T12:37:15.589" v="2"/>
      <pc:docMkLst>
        <pc:docMk/>
      </pc:docMkLst>
      <pc:sldChg chg="modNotes">
        <pc:chgData name="Gianmarco Pastore" userId="S::g.pastore11@studenti.unipi.it::4df70ea7-010b-4df8-9fdb-15a5f1351ca0" providerId="AD" clId="Web-{A56E7BB4-3F13-4511-9E3C-DD537CA7748A}" dt="2021-12-03T12:37:15.589" v="2"/>
        <pc:sldMkLst>
          <pc:docMk/>
          <pc:sldMk cId="0" sldId="266"/>
        </pc:sldMkLst>
      </pc:sldChg>
    </pc:docChg>
  </pc:docChgLst>
  <pc:docChgLst>
    <pc:chgData name="Gianmarco Pastore" userId="S::g.pastore11@studenti.unipi.it::4df70ea7-010b-4df8-9fdb-15a5f1351ca0" providerId="AD" clId="Web-{44F2E73B-1FD5-4EF3-B109-269E46EE486F}"/>
    <pc:docChg chg="modSld">
      <pc:chgData name="Gianmarco Pastore" userId="S::g.pastore11@studenti.unipi.it::4df70ea7-010b-4df8-9fdb-15a5f1351ca0" providerId="AD" clId="Web-{44F2E73B-1FD5-4EF3-B109-269E46EE486F}" dt="2021-12-03T12:43:13.340" v="5"/>
      <pc:docMkLst>
        <pc:docMk/>
      </pc:docMkLst>
      <pc:sldChg chg="modSp modNotes">
        <pc:chgData name="Gianmarco Pastore" userId="S::g.pastore11@studenti.unipi.it::4df70ea7-010b-4df8-9fdb-15a5f1351ca0" providerId="AD" clId="Web-{44F2E73B-1FD5-4EF3-B109-269E46EE486F}" dt="2021-12-03T12:42:57.074" v="4"/>
        <pc:sldMkLst>
          <pc:docMk/>
          <pc:sldMk cId="0" sldId="265"/>
        </pc:sldMkLst>
        <pc:graphicFrameChg chg="mod">
          <ac:chgData name="Gianmarco Pastore" userId="S::g.pastore11@studenti.unipi.it::4df70ea7-010b-4df8-9fdb-15a5f1351ca0" providerId="AD" clId="Web-{44F2E73B-1FD5-4EF3-B109-269E46EE486F}" dt="2021-12-03T12:41:19.666" v="1" actId="1076"/>
          <ac:graphicFrameMkLst>
            <pc:docMk/>
            <pc:sldMk cId="0" sldId="265"/>
            <ac:graphicFrameMk id="141" creationId="{00000000-0000-0000-0000-000000000000}"/>
          </ac:graphicFrameMkLst>
        </pc:graphicFrameChg>
      </pc:sldChg>
      <pc:sldChg chg="modNotes">
        <pc:chgData name="Gianmarco Pastore" userId="S::g.pastore11@studenti.unipi.it::4df70ea7-010b-4df8-9fdb-15a5f1351ca0" providerId="AD" clId="Web-{44F2E73B-1FD5-4EF3-B109-269E46EE486F}" dt="2021-12-03T12:43:13.340" v="5"/>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103132db77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103132db77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it"/>
              <a:t>This project is prompted in an effort to mitigate cybersecurity risks and improve the overall security of a tax accountant office.</a:t>
            </a:r>
            <a:endParaRPr/>
          </a:p>
          <a:p>
            <a:pPr marL="0" lvl="0" indent="0" algn="l" rtl="0">
              <a:lnSpc>
                <a:spcPct val="115000"/>
              </a:lnSpc>
              <a:spcBef>
                <a:spcPts val="0"/>
              </a:spcBef>
              <a:spcAft>
                <a:spcPts val="0"/>
              </a:spcAft>
              <a:buClr>
                <a:schemeClr val="dk1"/>
              </a:buClr>
              <a:buSzPts val="1100"/>
              <a:buFont typeface="Arial"/>
              <a:buNone/>
            </a:pPr>
            <a:r>
              <a:rPr lang="it"/>
              <a:t>The company is composed of 2 offices, one in Tampa, the other in S.Petersburg with a total of 5 employees. It handles financial, accounting and taxation needs so that customers can focus on growing their business and supports business operations through the preparation and filing of company tax declarations, maintaining the company accounts.</a:t>
            </a:r>
            <a:endParaRPr/>
          </a:p>
          <a:p>
            <a:pPr marL="0" lvl="0" indent="0" algn="l" rtl="0">
              <a:lnSpc>
                <a:spcPct val="115000"/>
              </a:lnSpc>
              <a:spcBef>
                <a:spcPts val="0"/>
              </a:spcBef>
              <a:spcAft>
                <a:spcPts val="0"/>
              </a:spcAft>
              <a:buClr>
                <a:schemeClr val="dk1"/>
              </a:buClr>
              <a:buSzPts val="1100"/>
              <a:buFont typeface="Arial"/>
              <a:buNone/>
            </a:pPr>
            <a:r>
              <a:rPr lang="it"/>
              <a:t>EzAccount does not have an IRP nor a BCP, and has a naïve network architecture, which can be the source of many network vulnerabilities. </a:t>
            </a:r>
            <a:endParaRPr/>
          </a:p>
          <a:p>
            <a:pPr marL="0" lvl="0" indent="0" algn="l" rtl="0">
              <a:lnSpc>
                <a:spcPct val="115000"/>
              </a:lnSpc>
              <a:spcBef>
                <a:spcPts val="0"/>
              </a:spcBef>
              <a:spcAft>
                <a:spcPts val="0"/>
              </a:spcAft>
              <a:buClr>
                <a:schemeClr val="dk1"/>
              </a:buClr>
              <a:buSzPts val="1100"/>
              <a:buFont typeface="Arial"/>
              <a:buNone/>
            </a:pPr>
            <a:r>
              <a:rPr lang="it"/>
              <a:t>With our intervention we intend to bring the safety level of this company above the average level of the other SME.</a:t>
            </a:r>
            <a:endParaRPr sz="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01885ed03f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01885ed03f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lnSpc>
                <a:spcPct val="115000"/>
              </a:lnSpc>
              <a:buClr>
                <a:schemeClr val="dk1"/>
              </a:buClr>
              <a:buNone/>
            </a:pPr>
            <a:r>
              <a:rPr lang="it"/>
              <a:t>For </a:t>
            </a:r>
            <a:r>
              <a:rPr lang="it" err="1"/>
              <a:t>accountants</a:t>
            </a:r>
            <a:r>
              <a:rPr lang="it"/>
              <a:t> and tax </a:t>
            </a:r>
            <a:r>
              <a:rPr lang="it" err="1"/>
              <a:t>firms</a:t>
            </a:r>
            <a:r>
              <a:rPr lang="it"/>
              <a:t>, </a:t>
            </a:r>
            <a:r>
              <a:rPr lang="it" err="1"/>
              <a:t>it</a:t>
            </a:r>
            <a:r>
              <a:rPr lang="it"/>
              <a:t> </a:t>
            </a:r>
            <a:r>
              <a:rPr lang="it" err="1"/>
              <a:t>is</a:t>
            </a:r>
            <a:r>
              <a:rPr lang="it"/>
              <a:t> part of </a:t>
            </a:r>
            <a:r>
              <a:rPr lang="it" err="1"/>
              <a:t>daily</a:t>
            </a:r>
            <a:r>
              <a:rPr lang="it"/>
              <a:t> business to work with </a:t>
            </a:r>
            <a:r>
              <a:rPr lang="it" err="1"/>
              <a:t>their</a:t>
            </a:r>
            <a:r>
              <a:rPr lang="it"/>
              <a:t> customers’ </a:t>
            </a:r>
            <a:r>
              <a:rPr lang="it" err="1"/>
              <a:t>highly</a:t>
            </a:r>
            <a:r>
              <a:rPr lang="it"/>
              <a:t> sensitive data. </a:t>
            </a:r>
            <a:endParaRPr/>
          </a:p>
          <a:p>
            <a:pPr marL="0" indent="0">
              <a:lnSpc>
                <a:spcPct val="115000"/>
              </a:lnSpc>
              <a:buClr>
                <a:schemeClr val="dk1"/>
              </a:buClr>
              <a:buNone/>
            </a:pPr>
            <a:r>
              <a:rPr lang="it" err="1"/>
              <a:t>These</a:t>
            </a:r>
            <a:r>
              <a:rPr lang="it"/>
              <a:t> data are </a:t>
            </a:r>
            <a:r>
              <a:rPr lang="it" err="1"/>
              <a:t>currently</a:t>
            </a:r>
            <a:r>
              <a:rPr lang="it"/>
              <a:t> </a:t>
            </a:r>
            <a:r>
              <a:rPr lang="it" err="1"/>
              <a:t>stored</a:t>
            </a:r>
            <a:r>
              <a:rPr lang="it"/>
              <a:t> and </a:t>
            </a:r>
            <a:r>
              <a:rPr lang="it" err="1"/>
              <a:t>processed</a:t>
            </a:r>
            <a:r>
              <a:rPr lang="it"/>
              <a:t> </a:t>
            </a:r>
            <a:r>
              <a:rPr lang="it" err="1"/>
              <a:t>through</a:t>
            </a:r>
            <a:r>
              <a:rPr lang="it"/>
              <a:t> cloud services, </a:t>
            </a:r>
            <a:r>
              <a:rPr lang="it" err="1"/>
              <a:t>unlike</a:t>
            </a:r>
            <a:r>
              <a:rPr lang="it"/>
              <a:t> in the </a:t>
            </a:r>
            <a:r>
              <a:rPr lang="it" err="1"/>
              <a:t>past</a:t>
            </a:r>
            <a:r>
              <a:rPr lang="it"/>
              <a:t>, in </a:t>
            </a:r>
            <a:r>
              <a:rPr lang="it" err="1"/>
              <a:t>which</a:t>
            </a:r>
            <a:r>
              <a:rPr lang="it"/>
              <a:t> </a:t>
            </a:r>
            <a:r>
              <a:rPr lang="it" err="1"/>
              <a:t>their</a:t>
            </a:r>
            <a:r>
              <a:rPr lang="it"/>
              <a:t> </a:t>
            </a:r>
            <a:r>
              <a:rPr lang="it" err="1"/>
              <a:t>own</a:t>
            </a:r>
            <a:r>
              <a:rPr lang="it"/>
              <a:t> IT systems </a:t>
            </a:r>
            <a:r>
              <a:rPr lang="it" err="1"/>
              <a:t>were</a:t>
            </a:r>
            <a:r>
              <a:rPr lang="it"/>
              <a:t> </a:t>
            </a:r>
            <a:r>
              <a:rPr lang="it" err="1"/>
              <a:t>used</a:t>
            </a:r>
            <a:r>
              <a:rPr lang="it"/>
              <a:t>. </a:t>
            </a:r>
            <a:endParaRPr/>
          </a:p>
          <a:p>
            <a:pPr marL="0" lvl="0" indent="0" algn="l" rtl="0">
              <a:lnSpc>
                <a:spcPct val="115000"/>
              </a:lnSpc>
              <a:spcBef>
                <a:spcPts val="0"/>
              </a:spcBef>
              <a:spcAft>
                <a:spcPts val="0"/>
              </a:spcAft>
              <a:buClr>
                <a:schemeClr val="dk1"/>
              </a:buClr>
              <a:buSzPts val="1100"/>
              <a:buFont typeface="Arial"/>
              <a:buNone/>
            </a:pPr>
            <a:r>
              <a:rPr lang="it" err="1"/>
              <a:t>It</a:t>
            </a:r>
            <a:r>
              <a:rPr lang="it"/>
              <a:t> </a:t>
            </a:r>
            <a:r>
              <a:rPr lang="it" err="1"/>
              <a:t>is</a:t>
            </a:r>
            <a:r>
              <a:rPr lang="it"/>
              <a:t> </a:t>
            </a:r>
            <a:r>
              <a:rPr lang="it" err="1"/>
              <a:t>impossible</a:t>
            </a:r>
            <a:r>
              <a:rPr lang="it"/>
              <a:t> to </a:t>
            </a:r>
            <a:r>
              <a:rPr lang="it" err="1"/>
              <a:t>guarantee</a:t>
            </a:r>
            <a:r>
              <a:rPr lang="it"/>
              <a:t> the privacy of customer data, </a:t>
            </a:r>
            <a:r>
              <a:rPr lang="it" err="1"/>
              <a:t>as</a:t>
            </a:r>
            <a:r>
              <a:rPr lang="it"/>
              <a:t> </a:t>
            </a:r>
            <a:r>
              <a:rPr lang="it" err="1"/>
              <a:t>every</a:t>
            </a:r>
            <a:r>
              <a:rPr lang="it"/>
              <a:t> Internet connection and </a:t>
            </a:r>
            <a:r>
              <a:rPr lang="it" err="1"/>
              <a:t>every</a:t>
            </a:r>
            <a:r>
              <a:rPr lang="it"/>
              <a:t> email can pose a </a:t>
            </a:r>
            <a:r>
              <a:rPr lang="it" err="1"/>
              <a:t>potential</a:t>
            </a:r>
            <a:r>
              <a:rPr lang="it"/>
              <a:t> </a:t>
            </a:r>
            <a:r>
              <a:rPr lang="it" err="1"/>
              <a:t>danger</a:t>
            </a:r>
            <a:r>
              <a:rPr lang="it"/>
              <a:t>.</a:t>
            </a:r>
            <a:endParaRPr/>
          </a:p>
          <a:p>
            <a:pPr marL="0" indent="0">
              <a:lnSpc>
                <a:spcPct val="115000"/>
              </a:lnSpc>
              <a:buClr>
                <a:schemeClr val="dk1"/>
              </a:buClr>
              <a:buNone/>
            </a:pPr>
            <a:r>
              <a:rPr lang="it"/>
              <a:t>Accounting </a:t>
            </a:r>
            <a:r>
              <a:rPr lang="it" err="1"/>
              <a:t>firms</a:t>
            </a:r>
            <a:r>
              <a:rPr lang="it"/>
              <a:t> are </a:t>
            </a:r>
            <a:r>
              <a:rPr lang="it" err="1"/>
              <a:t>often</a:t>
            </a:r>
            <a:r>
              <a:rPr lang="it"/>
              <a:t> the </a:t>
            </a:r>
            <a:r>
              <a:rPr lang="it" err="1"/>
              <a:t>victims</a:t>
            </a:r>
            <a:r>
              <a:rPr lang="it"/>
              <a:t> of cyber </a:t>
            </a:r>
            <a:r>
              <a:rPr lang="it" err="1"/>
              <a:t>attacks</a:t>
            </a:r>
            <a:r>
              <a:rPr lang="it"/>
              <a:t> </a:t>
            </a:r>
            <a:r>
              <a:rPr lang="it" err="1"/>
              <a:t>when</a:t>
            </a:r>
            <a:r>
              <a:rPr lang="it"/>
              <a:t> working with </a:t>
            </a:r>
            <a:r>
              <a:rPr lang="it" err="1"/>
              <a:t>third</a:t>
            </a:r>
            <a:r>
              <a:rPr lang="it"/>
              <a:t> parties </a:t>
            </a:r>
            <a:r>
              <a:rPr lang="it" err="1"/>
              <a:t>that</a:t>
            </a:r>
            <a:r>
              <a:rPr lang="it"/>
              <a:t> are </a:t>
            </a:r>
            <a:r>
              <a:rPr lang="it" err="1"/>
              <a:t>not</a:t>
            </a:r>
            <a:r>
              <a:rPr lang="it"/>
              <a:t> secure, </a:t>
            </a:r>
            <a:r>
              <a:rPr lang="it" err="1"/>
              <a:t>when</a:t>
            </a:r>
            <a:r>
              <a:rPr lang="it"/>
              <a:t> </a:t>
            </a:r>
            <a:r>
              <a:rPr lang="it" err="1"/>
              <a:t>they</a:t>
            </a:r>
            <a:r>
              <a:rPr lang="it"/>
              <a:t> </a:t>
            </a:r>
            <a:r>
              <a:rPr lang="it" err="1"/>
              <a:t>have</a:t>
            </a:r>
            <a:r>
              <a:rPr lang="it"/>
              <a:t> network </a:t>
            </a:r>
            <a:r>
              <a:rPr lang="it" err="1"/>
              <a:t>vulnerabilities</a:t>
            </a:r>
            <a:r>
              <a:rPr lang="it"/>
              <a:t>, from phishing </a:t>
            </a:r>
            <a:r>
              <a:rPr lang="it" err="1"/>
              <a:t>scams</a:t>
            </a:r>
            <a:r>
              <a:rPr lang="it"/>
              <a:t>, </a:t>
            </a:r>
            <a:r>
              <a:rPr lang="it" err="1"/>
              <a:t>through</a:t>
            </a:r>
            <a:r>
              <a:rPr lang="it"/>
              <a:t> social engineering, or </a:t>
            </a:r>
            <a:r>
              <a:rPr lang="it" err="1"/>
              <a:t>having</a:t>
            </a:r>
            <a:r>
              <a:rPr lang="it"/>
              <a:t> </a:t>
            </a:r>
            <a:r>
              <a:rPr lang="it" err="1"/>
              <a:t>their</a:t>
            </a:r>
            <a:r>
              <a:rPr lang="it"/>
              <a:t> business email </a:t>
            </a:r>
            <a:r>
              <a:rPr lang="it" err="1"/>
              <a:t>compromised</a:t>
            </a:r>
            <a:r>
              <a:rPr lang="it"/>
              <a:t>. </a:t>
            </a:r>
          </a:p>
          <a:p>
            <a:pPr marL="0" lvl="0" indent="0" algn="l" rtl="0">
              <a:lnSpc>
                <a:spcPct val="115000"/>
              </a:lnSpc>
              <a:spcBef>
                <a:spcPts val="0"/>
              </a:spcBef>
              <a:spcAft>
                <a:spcPts val="0"/>
              </a:spcAft>
              <a:buClr>
                <a:schemeClr val="dk1"/>
              </a:buClr>
              <a:buSzPts val="1100"/>
              <a:buFont typeface="Arial"/>
              <a:buNone/>
            </a:pPr>
            <a:r>
              <a:rPr lang="it"/>
              <a:t>Cyber </a:t>
            </a:r>
            <a:r>
              <a:rPr lang="it" err="1"/>
              <a:t>attacks</a:t>
            </a:r>
            <a:r>
              <a:rPr lang="it"/>
              <a:t> can force the company to </a:t>
            </a:r>
            <a:r>
              <a:rPr lang="it" err="1"/>
              <a:t>shut</a:t>
            </a:r>
            <a:r>
              <a:rPr lang="it"/>
              <a:t> down for </a:t>
            </a:r>
            <a:r>
              <a:rPr lang="it" err="1"/>
              <a:t>many</a:t>
            </a:r>
            <a:r>
              <a:rPr lang="it"/>
              <a:t> weeks due to data and system </a:t>
            </a:r>
            <a:r>
              <a:rPr lang="it" err="1"/>
              <a:t>execution</a:t>
            </a:r>
            <a:r>
              <a:rPr lang="it"/>
              <a:t> recovery, or cause </a:t>
            </a:r>
            <a:r>
              <a:rPr lang="it" err="1"/>
              <a:t>it</a:t>
            </a:r>
            <a:r>
              <a:rPr lang="it"/>
              <a:t> to </a:t>
            </a:r>
            <a:r>
              <a:rPr lang="it" err="1"/>
              <a:t>fail</a:t>
            </a:r>
            <a:r>
              <a:rPr lang="it"/>
              <a:t> due to </a:t>
            </a:r>
            <a:r>
              <a:rPr lang="it" err="1"/>
              <a:t>huge</a:t>
            </a:r>
            <a:r>
              <a:rPr lang="it"/>
              <a:t> </a:t>
            </a:r>
            <a:r>
              <a:rPr lang="it" err="1"/>
              <a:t>economic</a:t>
            </a:r>
            <a:r>
              <a:rPr lang="it"/>
              <a:t> </a:t>
            </a:r>
            <a:r>
              <a:rPr lang="it" err="1"/>
              <a:t>losses</a:t>
            </a:r>
            <a:r>
              <a:rPr lang="it"/>
              <a:t>.</a:t>
            </a:r>
            <a:endParaRPr/>
          </a:p>
          <a:p>
            <a:pPr marL="0" indent="0">
              <a:lnSpc>
                <a:spcPct val="115000"/>
              </a:lnSpc>
              <a:buClr>
                <a:schemeClr val="dk1"/>
              </a:buClr>
              <a:buNone/>
            </a:pPr>
            <a:r>
              <a:rPr lang="it"/>
              <a:t>In the event of data </a:t>
            </a:r>
            <a:r>
              <a:rPr lang="it" err="1"/>
              <a:t>loss</a:t>
            </a:r>
            <a:r>
              <a:rPr lang="it"/>
              <a:t>, the </a:t>
            </a:r>
            <a:r>
              <a:rPr lang="it" err="1"/>
              <a:t>owners</a:t>
            </a:r>
            <a:r>
              <a:rPr lang="it"/>
              <a:t> violate </a:t>
            </a:r>
            <a:r>
              <a:rPr lang="it" err="1"/>
              <a:t>their</a:t>
            </a:r>
            <a:r>
              <a:rPr lang="it"/>
              <a:t> </a:t>
            </a:r>
            <a:r>
              <a:rPr lang="it" err="1"/>
              <a:t>professional</a:t>
            </a:r>
            <a:r>
              <a:rPr lang="it"/>
              <a:t> duty of </a:t>
            </a:r>
            <a:r>
              <a:rPr lang="it" err="1"/>
              <a:t>confidentiality</a:t>
            </a:r>
            <a:r>
              <a:rPr lang="it"/>
              <a:t>. </a:t>
            </a:r>
          </a:p>
          <a:p>
            <a:pPr marL="0" lvl="0" indent="0" algn="l">
              <a:lnSpc>
                <a:spcPct val="114999"/>
              </a:lnSpc>
              <a:spcBef>
                <a:spcPts val="0"/>
              </a:spcBef>
              <a:spcAft>
                <a:spcPts val="0"/>
              </a:spcAft>
              <a:buSzPts val="1100"/>
              <a:buFont typeface="Arial"/>
              <a:buNone/>
            </a:pPr>
            <a:r>
              <a:rPr lang="it" err="1"/>
              <a:t>This</a:t>
            </a:r>
            <a:r>
              <a:rPr lang="it"/>
              <a:t> makes </a:t>
            </a:r>
            <a:r>
              <a:rPr lang="it" err="1"/>
              <a:t>them</a:t>
            </a:r>
            <a:r>
              <a:rPr lang="it"/>
              <a:t> </a:t>
            </a:r>
            <a:r>
              <a:rPr lang="it" err="1"/>
              <a:t>fully</a:t>
            </a:r>
            <a:r>
              <a:rPr lang="it"/>
              <a:t> </a:t>
            </a:r>
            <a:r>
              <a:rPr lang="it" err="1"/>
              <a:t>accountable</a:t>
            </a:r>
            <a:r>
              <a:rPr lang="it"/>
              <a:t>, and </a:t>
            </a:r>
            <a:r>
              <a:rPr lang="it" err="1"/>
              <a:t>also</a:t>
            </a:r>
            <a:r>
              <a:rPr lang="it"/>
              <a:t> puts </a:t>
            </a:r>
            <a:r>
              <a:rPr lang="it" err="1"/>
              <a:t>their</a:t>
            </a:r>
            <a:r>
              <a:rPr lang="it"/>
              <a:t> </a:t>
            </a:r>
            <a:r>
              <a:rPr lang="it" err="1"/>
              <a:t>company's</a:t>
            </a:r>
            <a:r>
              <a:rPr lang="it"/>
              <a:t> </a:t>
            </a:r>
            <a:r>
              <a:rPr lang="it" err="1"/>
              <a:t>reputation</a:t>
            </a:r>
            <a:r>
              <a:rPr lang="it"/>
              <a:t> and </a:t>
            </a:r>
            <a:r>
              <a:rPr lang="it" err="1"/>
              <a:t>economic</a:t>
            </a:r>
            <a:r>
              <a:rPr lang="it"/>
              <a:t> future </a:t>
            </a:r>
            <a:r>
              <a:rPr lang="it" err="1"/>
              <a:t>at</a:t>
            </a:r>
            <a:r>
              <a:rPr lang="it"/>
              <a:t> risk.</a:t>
            </a:r>
            <a:endParaRPr/>
          </a:p>
          <a:p>
            <a:pPr marL="0" indent="0">
              <a:lnSpc>
                <a:spcPct val="115000"/>
              </a:lnSpc>
              <a:buClr>
                <a:schemeClr val="dk1"/>
              </a:buClr>
              <a:buNone/>
            </a:pPr>
            <a:r>
              <a:rPr lang="it"/>
              <a:t>Of </a:t>
            </a:r>
            <a:r>
              <a:rPr lang="it" err="1"/>
              <a:t>course</a:t>
            </a:r>
            <a:r>
              <a:rPr lang="it"/>
              <a:t>, the </a:t>
            </a:r>
            <a:r>
              <a:rPr lang="it" err="1"/>
              <a:t>loss</a:t>
            </a:r>
            <a:r>
              <a:rPr lang="it"/>
              <a:t> of tax </a:t>
            </a:r>
            <a:r>
              <a:rPr lang="it" err="1"/>
              <a:t>returns</a:t>
            </a:r>
            <a:r>
              <a:rPr lang="it"/>
              <a:t> and </a:t>
            </a:r>
            <a:r>
              <a:rPr lang="it" err="1"/>
              <a:t>financial</a:t>
            </a:r>
            <a:r>
              <a:rPr lang="it"/>
              <a:t> data </a:t>
            </a:r>
            <a:r>
              <a:rPr lang="it" err="1"/>
              <a:t>not</a:t>
            </a:r>
            <a:r>
              <a:rPr lang="it"/>
              <a:t> </a:t>
            </a:r>
            <a:r>
              <a:rPr lang="it" err="1"/>
              <a:t>only</a:t>
            </a:r>
            <a:r>
              <a:rPr lang="it"/>
              <a:t> impacts the </a:t>
            </a:r>
            <a:r>
              <a:rPr lang="it" err="1"/>
              <a:t>firm</a:t>
            </a:r>
            <a:r>
              <a:rPr lang="it"/>
              <a:t> </a:t>
            </a:r>
            <a:r>
              <a:rPr lang="it" err="1"/>
              <a:t>itself</a:t>
            </a:r>
            <a:r>
              <a:rPr lang="it"/>
              <a:t>, </a:t>
            </a:r>
            <a:r>
              <a:rPr lang="it" err="1"/>
              <a:t>but</a:t>
            </a:r>
            <a:r>
              <a:rPr lang="it"/>
              <a:t> clients </a:t>
            </a:r>
            <a:r>
              <a:rPr lang="it" err="1"/>
              <a:t>as</a:t>
            </a:r>
            <a:r>
              <a:rPr lang="it"/>
              <a:t> </a:t>
            </a:r>
            <a:r>
              <a:rPr lang="it" err="1"/>
              <a:t>well</a:t>
            </a:r>
            <a:r>
              <a:rPr lang="it"/>
              <a:t>. </a:t>
            </a:r>
            <a:endParaRPr/>
          </a:p>
          <a:p>
            <a:pPr marL="0" lvl="0" indent="0" algn="l" rtl="0">
              <a:lnSpc>
                <a:spcPct val="115000"/>
              </a:lnSpc>
              <a:spcBef>
                <a:spcPts val="0"/>
              </a:spcBef>
              <a:spcAft>
                <a:spcPts val="0"/>
              </a:spcAft>
              <a:buClr>
                <a:schemeClr val="dk1"/>
              </a:buClr>
              <a:buSzPts val="1100"/>
              <a:buFont typeface="Arial"/>
              <a:buNone/>
            </a:pPr>
            <a:r>
              <a:rPr lang="it" err="1"/>
              <a:t>They</a:t>
            </a:r>
            <a:r>
              <a:rPr lang="it"/>
              <a:t> </a:t>
            </a:r>
            <a:r>
              <a:rPr lang="it" err="1"/>
              <a:t>will</a:t>
            </a:r>
            <a:r>
              <a:rPr lang="it"/>
              <a:t> </a:t>
            </a:r>
            <a:r>
              <a:rPr lang="it" err="1"/>
              <a:t>not</a:t>
            </a:r>
            <a:r>
              <a:rPr lang="it"/>
              <a:t> </a:t>
            </a:r>
            <a:r>
              <a:rPr lang="it" err="1"/>
              <a:t>only</a:t>
            </a:r>
            <a:r>
              <a:rPr lang="it"/>
              <a:t> </a:t>
            </a:r>
            <a:r>
              <a:rPr lang="it" err="1"/>
              <a:t>have</a:t>
            </a:r>
            <a:r>
              <a:rPr lang="it"/>
              <a:t> to </a:t>
            </a:r>
            <a:r>
              <a:rPr lang="it" err="1"/>
              <a:t>deal</a:t>
            </a:r>
            <a:r>
              <a:rPr lang="it"/>
              <a:t> with the cost of the </a:t>
            </a:r>
            <a:r>
              <a:rPr lang="it" err="1"/>
              <a:t>breach</a:t>
            </a:r>
            <a:r>
              <a:rPr lang="it"/>
              <a:t> by </a:t>
            </a:r>
            <a:r>
              <a:rPr lang="it" err="1"/>
              <a:t>paying</a:t>
            </a:r>
            <a:r>
              <a:rPr lang="it"/>
              <a:t> a cyber security company to </a:t>
            </a:r>
            <a:r>
              <a:rPr lang="it" err="1"/>
              <a:t>recover</a:t>
            </a:r>
            <a:r>
              <a:rPr lang="it"/>
              <a:t> and </a:t>
            </a:r>
            <a:r>
              <a:rPr lang="it" err="1"/>
              <a:t>restore</a:t>
            </a:r>
            <a:r>
              <a:rPr lang="it"/>
              <a:t> information, </a:t>
            </a:r>
            <a:r>
              <a:rPr lang="it" err="1"/>
              <a:t>they</a:t>
            </a:r>
            <a:r>
              <a:rPr lang="it"/>
              <a:t> </a:t>
            </a:r>
            <a:r>
              <a:rPr lang="it" err="1"/>
              <a:t>will</a:t>
            </a:r>
            <a:r>
              <a:rPr lang="it"/>
              <a:t> </a:t>
            </a:r>
            <a:r>
              <a:rPr lang="it" err="1"/>
              <a:t>also</a:t>
            </a:r>
            <a:r>
              <a:rPr lang="it"/>
              <a:t> miss on new business </a:t>
            </a:r>
            <a:r>
              <a:rPr lang="it" err="1"/>
              <a:t>opportunities</a:t>
            </a:r>
            <a:r>
              <a:rPr lang="it"/>
              <a:t>, </a:t>
            </a:r>
            <a:r>
              <a:rPr lang="it" err="1"/>
              <a:t>they</a:t>
            </a:r>
            <a:r>
              <a:rPr lang="it"/>
              <a:t> </a:t>
            </a:r>
            <a:r>
              <a:rPr lang="it" err="1"/>
              <a:t>will</a:t>
            </a:r>
            <a:r>
              <a:rPr lang="it"/>
              <a:t> </a:t>
            </a:r>
            <a:r>
              <a:rPr lang="it" err="1"/>
              <a:t>not</a:t>
            </a:r>
            <a:r>
              <a:rPr lang="it"/>
              <a:t> be </a:t>
            </a:r>
            <a:r>
              <a:rPr lang="it" err="1"/>
              <a:t>able</a:t>
            </a:r>
            <a:r>
              <a:rPr lang="it"/>
              <a:t> to work on </a:t>
            </a:r>
            <a:r>
              <a:rPr lang="it" err="1"/>
              <a:t>existing</a:t>
            </a:r>
            <a:r>
              <a:rPr lang="it"/>
              <a:t> business, and </a:t>
            </a:r>
            <a:r>
              <a:rPr lang="it" err="1"/>
              <a:t>they</a:t>
            </a:r>
            <a:r>
              <a:rPr lang="it"/>
              <a:t> </a:t>
            </a:r>
            <a:r>
              <a:rPr lang="it" err="1"/>
              <a:t>will</a:t>
            </a:r>
            <a:r>
              <a:rPr lang="it"/>
              <a:t> </a:t>
            </a:r>
            <a:r>
              <a:rPr lang="it" err="1"/>
              <a:t>have</a:t>
            </a:r>
            <a:r>
              <a:rPr lang="it"/>
              <a:t> to </a:t>
            </a:r>
            <a:r>
              <a:rPr lang="it" err="1"/>
              <a:t>deal</a:t>
            </a:r>
            <a:r>
              <a:rPr lang="it"/>
              <a:t> with the </a:t>
            </a:r>
            <a:r>
              <a:rPr lang="it" err="1"/>
              <a:t>bad</a:t>
            </a:r>
            <a:r>
              <a:rPr lang="it"/>
              <a:t> press </a:t>
            </a:r>
            <a:r>
              <a:rPr lang="it" err="1"/>
              <a:t>caused</a:t>
            </a:r>
            <a:r>
              <a:rPr lang="it"/>
              <a:t> by the data </a:t>
            </a:r>
            <a:r>
              <a:rPr lang="it" err="1"/>
              <a:t>breach</a:t>
            </a:r>
            <a:r>
              <a:rPr lang="it"/>
              <a:t>.</a:t>
            </a:r>
            <a:endParaRPr/>
          </a:p>
          <a:p>
            <a:pPr marL="0" lvl="0" indent="0" algn="l" rtl="0">
              <a:lnSpc>
                <a:spcPct val="115000"/>
              </a:lnSpc>
              <a:spcBef>
                <a:spcPts val="0"/>
              </a:spcBef>
              <a:spcAft>
                <a:spcPts val="0"/>
              </a:spcAft>
              <a:buClr>
                <a:schemeClr val="dk1"/>
              </a:buClr>
              <a:buSzPts val="1100"/>
              <a:buFont typeface="Arial"/>
              <a:buNone/>
            </a:pPr>
            <a:endParaRPr/>
          </a:p>
          <a:p>
            <a:pPr marL="0" indent="0">
              <a:lnSpc>
                <a:spcPct val="115000"/>
              </a:lnSpc>
              <a:buClr>
                <a:schemeClr val="dk1"/>
              </a:buClr>
              <a:buNone/>
            </a:pPr>
            <a:r>
              <a:rPr lang="it" err="1"/>
              <a:t>Consider</a:t>
            </a:r>
            <a:r>
              <a:rPr lang="it"/>
              <a:t> </a:t>
            </a:r>
            <a:r>
              <a:rPr lang="it" err="1"/>
              <a:t>that</a:t>
            </a:r>
            <a:r>
              <a:rPr lang="it"/>
              <a:t>, </a:t>
            </a:r>
            <a:r>
              <a:rPr lang="it" err="1"/>
              <a:t>during</a:t>
            </a:r>
            <a:r>
              <a:rPr lang="it"/>
              <a:t> the pandemic, phishing </a:t>
            </a:r>
            <a:r>
              <a:rPr lang="it" err="1"/>
              <a:t>attacks</a:t>
            </a:r>
            <a:r>
              <a:rPr lang="it"/>
              <a:t> </a:t>
            </a:r>
            <a:r>
              <a:rPr lang="it" err="1"/>
              <a:t>grew</a:t>
            </a:r>
            <a:r>
              <a:rPr lang="it"/>
              <a:t> by 600% in March 2020 and </a:t>
            </a:r>
            <a:r>
              <a:rPr lang="it" err="1"/>
              <a:t>have</a:t>
            </a:r>
            <a:r>
              <a:rPr lang="it"/>
              <a:t> </a:t>
            </a:r>
            <a:r>
              <a:rPr lang="it" err="1"/>
              <a:t>been</a:t>
            </a:r>
            <a:r>
              <a:rPr lang="it"/>
              <a:t> part of 86% of the </a:t>
            </a:r>
            <a:r>
              <a:rPr lang="it" err="1"/>
              <a:t>total</a:t>
            </a:r>
            <a:r>
              <a:rPr lang="it"/>
              <a:t> global </a:t>
            </a:r>
            <a:r>
              <a:rPr lang="it" err="1"/>
              <a:t>attackS</a:t>
            </a:r>
            <a:r>
              <a:rPr lang="it"/>
              <a:t>.</a:t>
            </a:r>
            <a:endParaRPr lang="en-US"/>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01885ed03f_0_6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01885ed03f_0_6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it"/>
              <a:t>The company represents a small accountancy firm, made up of 5 employees.</a:t>
            </a:r>
            <a:endParaRPr/>
          </a:p>
          <a:p>
            <a:pPr marL="0" lvl="0" indent="0" algn="just" rtl="0">
              <a:lnSpc>
                <a:spcPct val="115000"/>
              </a:lnSpc>
              <a:spcBef>
                <a:spcPts val="0"/>
              </a:spcBef>
              <a:spcAft>
                <a:spcPts val="0"/>
              </a:spcAft>
              <a:buClr>
                <a:schemeClr val="dk1"/>
              </a:buClr>
              <a:buSzPts val="1100"/>
              <a:buFont typeface="Arial"/>
              <a:buNone/>
            </a:pPr>
            <a:r>
              <a:rPr lang="it"/>
              <a:t>The organization consists of two offices that share a common network connection through the use of two suitably configured home routers. </a:t>
            </a:r>
            <a:endParaRPr/>
          </a:p>
          <a:p>
            <a:pPr marL="0" lvl="0" indent="0" algn="just" rtl="0">
              <a:lnSpc>
                <a:spcPct val="115000"/>
              </a:lnSpc>
              <a:spcBef>
                <a:spcPts val="0"/>
              </a:spcBef>
              <a:spcAft>
                <a:spcPts val="0"/>
              </a:spcAft>
              <a:buClr>
                <a:schemeClr val="dk1"/>
              </a:buClr>
              <a:buSzPts val="1100"/>
              <a:buFont typeface="Arial"/>
              <a:buNone/>
            </a:pPr>
            <a:r>
              <a:rPr lang="it"/>
              <a:t>A Network Attached Storage (NAS) on each office allows to perform tasks such as storage and backup.</a:t>
            </a:r>
            <a:endParaRPr/>
          </a:p>
          <a:p>
            <a:pPr marL="0" lvl="0" indent="0" algn="just" rtl="0">
              <a:lnSpc>
                <a:spcPct val="115000"/>
              </a:lnSpc>
              <a:spcBef>
                <a:spcPts val="0"/>
              </a:spcBef>
              <a:spcAft>
                <a:spcPts val="0"/>
              </a:spcAft>
              <a:buClr>
                <a:schemeClr val="dk1"/>
              </a:buClr>
              <a:buSzPts val="1100"/>
              <a:buFont typeface="Arial"/>
              <a:buNone/>
            </a:pPr>
            <a:r>
              <a:rPr lang="it"/>
              <a:t>The main application software used for tax accounting, tax returns and other daily activities is cloud-based.</a:t>
            </a:r>
            <a:endParaRPr/>
          </a:p>
          <a:p>
            <a:pPr marL="0" lvl="0" indent="0" algn="just" rtl="0">
              <a:lnSpc>
                <a:spcPct val="115000"/>
              </a:lnSpc>
              <a:spcBef>
                <a:spcPts val="0"/>
              </a:spcBef>
              <a:spcAft>
                <a:spcPts val="0"/>
              </a:spcAft>
              <a:buClr>
                <a:schemeClr val="dk1"/>
              </a:buClr>
              <a:buSzPts val="1100"/>
              <a:buFont typeface="Arial"/>
              <a:buNone/>
            </a:pPr>
            <a:r>
              <a:rPr lang="it"/>
              <a:t>The owner allows her two children and her customers to use the wifi connection of the offices and the password is pinned on the board of the meeting room, accessible to anyone.</a:t>
            </a:r>
            <a:endParaRPr/>
          </a:p>
          <a:p>
            <a:pPr marL="0" lvl="0" indent="0" algn="just" rtl="0">
              <a:lnSpc>
                <a:spcPct val="115000"/>
              </a:lnSpc>
              <a:spcBef>
                <a:spcPts val="0"/>
              </a:spcBef>
              <a:spcAft>
                <a:spcPts val="0"/>
              </a:spcAft>
              <a:buClr>
                <a:schemeClr val="dk1"/>
              </a:buClr>
              <a:buSzPts val="1100"/>
              <a:buFont typeface="Arial"/>
              <a:buNone/>
            </a:pPr>
            <a:r>
              <a:rPr lang="it"/>
              <a:t>In addition, the owner often works from home, using the office laptop and accesses the network using the standard VPN of the operating system.</a:t>
            </a:r>
            <a:endParaRPr/>
          </a:p>
          <a:p>
            <a:pPr marL="0" lvl="0" indent="0" algn="just" rtl="0">
              <a:lnSpc>
                <a:spcPct val="115000"/>
              </a:lnSpc>
              <a:spcBef>
                <a:spcPts val="0"/>
              </a:spcBef>
              <a:spcAft>
                <a:spcPts val="0"/>
              </a:spcAft>
              <a:buClr>
                <a:schemeClr val="dk1"/>
              </a:buClr>
              <a:buSzPts val="1100"/>
              <a:buFont typeface="Arial"/>
              <a:buNone/>
            </a:pPr>
            <a:r>
              <a:rPr lang="it"/>
              <a:t>The company does not use a firewall to protect its internal, unsegmented network, and the mobile devices used currently do not use a secure VPN.</a:t>
            </a:r>
            <a:endParaRPr/>
          </a:p>
          <a:p>
            <a:pPr marL="0" lvl="0" indent="0" algn="just" rtl="0">
              <a:lnSpc>
                <a:spcPct val="115000"/>
              </a:lnSpc>
              <a:spcBef>
                <a:spcPts val="0"/>
              </a:spcBef>
              <a:spcAft>
                <a:spcPts val="0"/>
              </a:spcAft>
              <a:buClr>
                <a:schemeClr val="dk1"/>
              </a:buClr>
              <a:buSzPts val="1100"/>
              <a:buFont typeface="Arial"/>
              <a:buNone/>
            </a:pPr>
            <a:r>
              <a:rPr lang="it"/>
              <a:t>The company does not have a business continuity, incident response and business recovery plan.</a:t>
            </a:r>
            <a:endParaRPr/>
          </a:p>
          <a:p>
            <a:pPr marL="0" lvl="0" indent="0" algn="just" rtl="0">
              <a:lnSpc>
                <a:spcPct val="115000"/>
              </a:lnSpc>
              <a:spcBef>
                <a:spcPts val="0"/>
              </a:spcBef>
              <a:spcAft>
                <a:spcPts val="0"/>
              </a:spcAft>
              <a:buClr>
                <a:schemeClr val="dk1"/>
              </a:buClr>
              <a:buSzPts val="1100"/>
              <a:buFont typeface="Arial"/>
              <a:buNone/>
            </a:pPr>
            <a:r>
              <a:rPr lang="it"/>
              <a:t>The overall cybersecurity position for the company is considered a level 1 within the implementation levels of the NIST cybersecurity framework.</a:t>
            </a:r>
            <a:endParaRPr/>
          </a:p>
          <a:p>
            <a:pPr marL="0" lvl="0" indent="0" algn="just"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1885ed03f_0_6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1885ed03f_0_6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it"/>
              <a:t>Tax accountants, such as ezAccount, are smart working due to the pandemic and risk cyber attacks.</a:t>
            </a:r>
            <a:endParaRPr/>
          </a:p>
          <a:p>
            <a:pPr marL="0" lvl="0" indent="0" algn="l" rtl="0">
              <a:lnSpc>
                <a:spcPct val="115000"/>
              </a:lnSpc>
              <a:spcBef>
                <a:spcPts val="0"/>
              </a:spcBef>
              <a:spcAft>
                <a:spcPts val="0"/>
              </a:spcAft>
              <a:buClr>
                <a:schemeClr val="dk1"/>
              </a:buClr>
              <a:buSzPts val="1100"/>
              <a:buFont typeface="Arial"/>
              <a:buNone/>
            </a:pPr>
            <a:r>
              <a:rPr lang="it"/>
              <a:t>The overall goal is to improve security through: identity management, access control, anomaly detection, continuous network monitoring and employee training, resulting in the development of BCP, IRP and RP.</a:t>
            </a:r>
            <a:endParaRPr/>
          </a:p>
          <a:p>
            <a:pPr marL="0" lvl="0" indent="0" algn="l" rtl="0">
              <a:lnSpc>
                <a:spcPct val="115000"/>
              </a:lnSpc>
              <a:spcBef>
                <a:spcPts val="0"/>
              </a:spcBef>
              <a:spcAft>
                <a:spcPts val="0"/>
              </a:spcAft>
              <a:buClr>
                <a:schemeClr val="dk1"/>
              </a:buClr>
              <a:buSzPts val="1100"/>
              <a:buFont typeface="Arial"/>
              <a:buNone/>
            </a:pPr>
            <a:r>
              <a:rPr lang="it"/>
              <a:t>These improvements will take the company to a higher level than the NIST framework.</a:t>
            </a:r>
            <a:endParaRPr/>
          </a:p>
          <a:p>
            <a:pPr marL="0" lvl="0" indent="0" algn="l" rtl="0">
              <a:lnSpc>
                <a:spcPct val="115000"/>
              </a:lnSpc>
              <a:spcBef>
                <a:spcPts val="0"/>
              </a:spcBef>
              <a:spcAft>
                <a:spcPts val="0"/>
              </a:spcAft>
              <a:buClr>
                <a:schemeClr val="dk1"/>
              </a:buClr>
              <a:buSzPts val="1100"/>
              <a:buFont typeface="Arial"/>
              <a:buNone/>
            </a:pPr>
            <a:r>
              <a:rPr lang="it"/>
              <a:t>So the three main objectives of the project are:</a:t>
            </a:r>
            <a:endParaRPr/>
          </a:p>
          <a:p>
            <a:pPr marL="457200" lvl="0" indent="-298450" algn="l" rtl="0">
              <a:lnSpc>
                <a:spcPct val="115000"/>
              </a:lnSpc>
              <a:spcBef>
                <a:spcPts val="0"/>
              </a:spcBef>
              <a:spcAft>
                <a:spcPts val="0"/>
              </a:spcAft>
              <a:buSzPts val="1100"/>
              <a:buChar char="●"/>
            </a:pPr>
            <a:r>
              <a:rPr lang="it"/>
              <a:t>Implement efficient and secure network architecture.</a:t>
            </a:r>
            <a:endParaRPr/>
          </a:p>
          <a:p>
            <a:pPr marL="457200" lvl="0" indent="-298450" algn="l" rtl="0">
              <a:lnSpc>
                <a:spcPct val="115000"/>
              </a:lnSpc>
              <a:spcBef>
                <a:spcPts val="0"/>
              </a:spcBef>
              <a:spcAft>
                <a:spcPts val="0"/>
              </a:spcAft>
              <a:buSzPts val="1100"/>
              <a:buChar char="●"/>
            </a:pPr>
            <a:r>
              <a:rPr lang="it"/>
              <a:t>Mitigate common threats related to technical problems.</a:t>
            </a:r>
            <a:endParaRPr/>
          </a:p>
          <a:p>
            <a:pPr marL="457200" lvl="0" indent="-298450" algn="l" rtl="0">
              <a:lnSpc>
                <a:spcPct val="115000"/>
              </a:lnSpc>
              <a:spcBef>
                <a:spcPts val="0"/>
              </a:spcBef>
              <a:spcAft>
                <a:spcPts val="0"/>
              </a:spcAft>
              <a:buSzPts val="1100"/>
              <a:buChar char="●"/>
            </a:pPr>
            <a:r>
              <a:rPr lang="it"/>
              <a:t>Train employees and managers, establishing an IRP and a BCP.</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0359481395_14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0359481395_14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1300" b="1"/>
              <a:t>Actual Situation</a:t>
            </a:r>
            <a:endParaRPr sz="1300" b="1"/>
          </a:p>
          <a:p>
            <a:pPr marL="0" lvl="0" indent="0" algn="l" rtl="0">
              <a:spcBef>
                <a:spcPts val="0"/>
              </a:spcBef>
              <a:spcAft>
                <a:spcPts val="0"/>
              </a:spcAft>
              <a:buNone/>
            </a:pPr>
            <a:endParaRPr sz="1300" b="1"/>
          </a:p>
          <a:p>
            <a:pPr marL="0" lvl="0" indent="0" algn="l" rtl="0">
              <a:spcBef>
                <a:spcPts val="0"/>
              </a:spcBef>
              <a:spcAft>
                <a:spcPts val="0"/>
              </a:spcAft>
              <a:buNone/>
            </a:pPr>
            <a:r>
              <a:rPr lang="it"/>
              <a:t>There are three location geographically distributed. The first is the CEO home, the second the Main Office and the last one, the branch office.</a:t>
            </a:r>
            <a:endParaRPr/>
          </a:p>
          <a:p>
            <a:pPr marL="0" lvl="0" indent="0" algn="l" rtl="0">
              <a:spcBef>
                <a:spcPts val="0"/>
              </a:spcBef>
              <a:spcAft>
                <a:spcPts val="0"/>
              </a:spcAft>
              <a:buNone/>
            </a:pPr>
            <a:r>
              <a:rPr lang="it"/>
              <a:t>Main and branch office are organized on the same mode. All the cabled devices (nas, printers, fixed PC) are connected to a simple HPE 24P switch, all with 192.168.1.0/24 address class and no VLAN (Everyone can speak to everyone). The Switch and all wireless devices (guests devices included) are directly connected to router using Wi-Fi. The Wi-Fi password is a simple 8 characters password write on a post-it pinned on blackboard. The two NAS present on each office are not synchronized and maybe have different data. </a:t>
            </a:r>
            <a:endParaRPr/>
          </a:p>
          <a:p>
            <a:pPr marL="0" lvl="0" indent="0" algn="l" rtl="0">
              <a:spcBef>
                <a:spcPts val="0"/>
              </a:spcBef>
              <a:spcAft>
                <a:spcPts val="0"/>
              </a:spcAft>
              <a:buNone/>
            </a:pPr>
            <a:r>
              <a:rPr lang="it"/>
              <a:t>Offices are a fixed public IP address and the router is configured with simple VPN connection (to call, not site-to-site). The two offices cannot communicate as a single office.</a:t>
            </a:r>
            <a:endParaRPr/>
          </a:p>
          <a:p>
            <a:pPr marL="0" lvl="0" indent="0" algn="l" rtl="0">
              <a:spcBef>
                <a:spcPts val="0"/>
              </a:spcBef>
              <a:spcAft>
                <a:spcPts val="0"/>
              </a:spcAft>
              <a:buNone/>
            </a:pPr>
            <a:r>
              <a:rPr lang="it"/>
              <a:t>At own home, the CEO have a laptop that transport from home to office, the sons laptop and some family’ smartphones. All devices are connected using Wi-Fi to Router. To work on Main/Branch offices resources the CEO have a VPN software client installed on own Laptop. To be sure to have a “backup laptop” in case of own laptop fault, the VPN software is also installed on Son’s Laptop. The Wi-Fi connection in the offices and CEO home is configured as WPA and the VPN policy use ad AES-128 protocol.</a:t>
            </a:r>
            <a:endParaRPr/>
          </a:p>
          <a:p>
            <a:pPr marL="0" lvl="0" indent="0" algn="l" rtl="0">
              <a:spcBef>
                <a:spcPts val="0"/>
              </a:spcBef>
              <a:spcAft>
                <a:spcPts val="0"/>
              </a:spcAft>
              <a:buNone/>
            </a:pPr>
            <a:r>
              <a:rPr lang="it"/>
              <a:t>On the cloud we have the CRM and the Office 365 services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035948139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1035948139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t" sz="1300" b="1"/>
              <a:t>Future Situation</a:t>
            </a:r>
            <a:endParaRPr sz="1300" b="1"/>
          </a:p>
          <a:p>
            <a:pPr marL="0" lvl="0" indent="0" algn="l" rtl="0">
              <a:spcBef>
                <a:spcPts val="0"/>
              </a:spcBef>
              <a:spcAft>
                <a:spcPts val="0"/>
              </a:spcAft>
              <a:buClr>
                <a:schemeClr val="dk1"/>
              </a:buClr>
              <a:buSzPts val="1100"/>
              <a:buFont typeface="Arial"/>
              <a:buNone/>
            </a:pPr>
            <a:endParaRPr sz="1300" b="1"/>
          </a:p>
          <a:p>
            <a:pPr marL="0" lvl="0" indent="0" algn="l" rtl="0">
              <a:spcBef>
                <a:spcPts val="0"/>
              </a:spcBef>
              <a:spcAft>
                <a:spcPts val="0"/>
              </a:spcAft>
              <a:buClr>
                <a:schemeClr val="dk1"/>
              </a:buClr>
              <a:buSzPts val="1100"/>
              <a:buFont typeface="Arial"/>
              <a:buNone/>
            </a:pPr>
            <a:r>
              <a:rPr lang="it"/>
              <a:t>On this schema we can see an improvement in every aspect of the network. </a:t>
            </a:r>
            <a:endParaRPr/>
          </a:p>
          <a:p>
            <a:pPr marL="0" lvl="0" indent="0" algn="l" rtl="0">
              <a:spcBef>
                <a:spcPts val="0"/>
              </a:spcBef>
              <a:spcAft>
                <a:spcPts val="0"/>
              </a:spcAft>
              <a:buClr>
                <a:schemeClr val="dk1"/>
              </a:buClr>
              <a:buSzPts val="1100"/>
              <a:buFont typeface="Arial"/>
              <a:buNone/>
            </a:pPr>
            <a:r>
              <a:rPr lang="it"/>
              <a:t>In the Main and Branch office all the cabled devices (PC, Printer, NAS) are connected to an advanced HPE Switch configured using VLAN. The firewall/Gateway appliance (Sophos) have the following rules:</a:t>
            </a:r>
            <a:endParaRPr/>
          </a:p>
          <a:p>
            <a:pPr marL="457200" lvl="0" indent="-298450" algn="l" rtl="0">
              <a:spcBef>
                <a:spcPts val="0"/>
              </a:spcBef>
              <a:spcAft>
                <a:spcPts val="0"/>
              </a:spcAft>
              <a:buSzPts val="1100"/>
              <a:buChar char="-"/>
            </a:pPr>
            <a:r>
              <a:rPr lang="it"/>
              <a:t>Manage all the permissions from different VLAN</a:t>
            </a:r>
            <a:endParaRPr/>
          </a:p>
          <a:p>
            <a:pPr marL="457200" lvl="0" indent="-298450" algn="l" rtl="0">
              <a:spcBef>
                <a:spcPts val="0"/>
              </a:spcBef>
              <a:spcAft>
                <a:spcPts val="0"/>
              </a:spcAft>
              <a:buSzPts val="1100"/>
              <a:buChar char="-"/>
            </a:pPr>
            <a:r>
              <a:rPr lang="it"/>
              <a:t>Intrusion Detection System</a:t>
            </a:r>
            <a:endParaRPr/>
          </a:p>
          <a:p>
            <a:pPr marL="457200" lvl="0" indent="-298450" algn="l" rtl="0">
              <a:spcBef>
                <a:spcPts val="0"/>
              </a:spcBef>
              <a:spcAft>
                <a:spcPts val="0"/>
              </a:spcAft>
              <a:buSzPts val="1100"/>
              <a:buChar char="-"/>
            </a:pPr>
            <a:r>
              <a:rPr lang="it"/>
              <a:t>Web Proxy</a:t>
            </a:r>
            <a:endParaRPr/>
          </a:p>
          <a:p>
            <a:pPr marL="457200" lvl="0" indent="-298450" algn="l" rtl="0">
              <a:spcBef>
                <a:spcPts val="0"/>
              </a:spcBef>
              <a:spcAft>
                <a:spcPts val="0"/>
              </a:spcAft>
              <a:buSzPts val="1100"/>
              <a:buChar char="-"/>
            </a:pPr>
            <a:r>
              <a:rPr lang="it"/>
              <a:t>VPN site-to-site management (AES-256)</a:t>
            </a:r>
            <a:endParaRPr/>
          </a:p>
          <a:p>
            <a:pPr marL="0" lvl="0" indent="0" algn="l" rtl="0">
              <a:spcBef>
                <a:spcPts val="0"/>
              </a:spcBef>
              <a:spcAft>
                <a:spcPts val="0"/>
              </a:spcAft>
              <a:buNone/>
            </a:pPr>
            <a:r>
              <a:rPr lang="it"/>
              <a:t>All users’ wireless devices (Laptop, Managed Smartphones) can connect directly to Firewall Wi-Fi but all guest’s devices are separatly managed using a PFSense Captive Portal appliance connected to a different firewall port. This VLAN is completely disconnected from the others and provides to guest the internet connection only. </a:t>
            </a:r>
            <a:endParaRPr/>
          </a:p>
          <a:p>
            <a:pPr marL="0" lvl="0" indent="0" algn="l" rtl="0">
              <a:spcBef>
                <a:spcPts val="0"/>
              </a:spcBef>
              <a:spcAft>
                <a:spcPts val="0"/>
              </a:spcAft>
              <a:buNone/>
            </a:pPr>
            <a:r>
              <a:rPr lang="it"/>
              <a:t>All the VLAN passes from the first two firewall ports except the NAS and the Captive Portal that have a reserved port to improve security.</a:t>
            </a:r>
            <a:endParaRPr/>
          </a:p>
          <a:p>
            <a:pPr marL="0" lvl="0" indent="0" algn="l" rtl="0">
              <a:spcBef>
                <a:spcPts val="0"/>
              </a:spcBef>
              <a:spcAft>
                <a:spcPts val="0"/>
              </a:spcAft>
              <a:buNone/>
            </a:pPr>
            <a:r>
              <a:rPr lang="it"/>
              <a:t>At CEO home we have a</a:t>
            </a:r>
            <a:r>
              <a:rPr lang="it" b="1"/>
              <a:t> Bitdefender Box Firewall</a:t>
            </a:r>
            <a:r>
              <a:rPr lang="it"/>
              <a:t> connected to a router and the </a:t>
            </a:r>
            <a:r>
              <a:rPr lang="it" b="1"/>
              <a:t>Sophos RED</a:t>
            </a:r>
            <a:r>
              <a:rPr lang="it"/>
              <a:t> always connected to office with a</a:t>
            </a:r>
            <a:r>
              <a:rPr lang="it" b="1"/>
              <a:t> site-to-site VPN</a:t>
            </a:r>
            <a:r>
              <a:rPr lang="it"/>
              <a:t>. The only device authorised on this vpn must be the CEO laptop. All sons devices are re-routed on Internet directly.</a:t>
            </a:r>
            <a:endParaRPr/>
          </a:p>
          <a:p>
            <a:pPr marL="0" lvl="0" indent="0" algn="l" rtl="0">
              <a:spcBef>
                <a:spcPts val="0"/>
              </a:spcBef>
              <a:spcAft>
                <a:spcPts val="0"/>
              </a:spcAft>
              <a:buNone/>
            </a:pPr>
            <a:r>
              <a:rPr lang="it"/>
              <a:t>The site-to-site VPN permit to have a “Big Office” that include all the offices (Main, Branch, Home)</a:t>
            </a:r>
            <a:endParaRPr/>
          </a:p>
          <a:p>
            <a:pPr marL="0" lvl="0" indent="0" algn="l" rtl="0">
              <a:spcBef>
                <a:spcPts val="0"/>
              </a:spcBef>
              <a:spcAft>
                <a:spcPts val="0"/>
              </a:spcAft>
              <a:buNone/>
            </a:pPr>
            <a:r>
              <a:rPr lang="it"/>
              <a:t>Speaking about NAS, We’ll use a good enterprise</a:t>
            </a:r>
            <a:r>
              <a:rPr lang="it" b="1"/>
              <a:t> Synology RS NAS</a:t>
            </a:r>
            <a:r>
              <a:rPr lang="it"/>
              <a:t> on  Raid-5 configuration. The two NAS will be syncronized using Synology C2 Storage cloud service (encrypted end-to-end) and backed up using Synology C2 Backup cloud service.</a:t>
            </a:r>
            <a:endParaRPr/>
          </a:p>
          <a:p>
            <a:pPr marL="0" lvl="0" indent="0" algn="l" rtl="0">
              <a:spcBef>
                <a:spcPts val="0"/>
              </a:spcBef>
              <a:spcAft>
                <a:spcPts val="0"/>
              </a:spcAft>
              <a:buNone/>
            </a:pPr>
            <a:r>
              <a:rPr lang="it"/>
              <a:t>Some cloud services will be added to improve security and configurability of the environment like:</a:t>
            </a:r>
            <a:endParaRPr/>
          </a:p>
          <a:p>
            <a:pPr marL="457200" lvl="0" indent="-298450" algn="l" rtl="0">
              <a:spcBef>
                <a:spcPts val="0"/>
              </a:spcBef>
              <a:spcAft>
                <a:spcPts val="0"/>
              </a:spcAft>
              <a:buSzPts val="1100"/>
              <a:buChar char="-"/>
            </a:pPr>
            <a:r>
              <a:rPr lang="it"/>
              <a:t>Aruba Central (switch manager)</a:t>
            </a:r>
            <a:endParaRPr/>
          </a:p>
          <a:p>
            <a:pPr marL="457200" lvl="0" indent="-298450" algn="l" rtl="0">
              <a:spcBef>
                <a:spcPts val="0"/>
              </a:spcBef>
              <a:spcAft>
                <a:spcPts val="0"/>
              </a:spcAft>
              <a:buSzPts val="1100"/>
              <a:buChar char="-"/>
            </a:pPr>
            <a:r>
              <a:rPr lang="it"/>
              <a:t>Sophos Central (Antivirus centralized manager)</a:t>
            </a:r>
            <a:endParaRPr/>
          </a:p>
          <a:p>
            <a:pPr marL="457200" lvl="0" indent="-298450" algn="l" rtl="0">
              <a:spcBef>
                <a:spcPts val="0"/>
              </a:spcBef>
              <a:spcAft>
                <a:spcPts val="0"/>
              </a:spcAft>
              <a:buSzPts val="1100"/>
              <a:buChar char="-"/>
            </a:pPr>
            <a:r>
              <a:rPr lang="it"/>
              <a:t>Third Part advanced antispam like LibraEsva</a:t>
            </a:r>
            <a:endParaRPr/>
          </a:p>
          <a:p>
            <a:pPr marL="0" lvl="0" indent="0" algn="l" rtl="0">
              <a:spcBef>
                <a:spcPts val="0"/>
              </a:spcBef>
              <a:spcAft>
                <a:spcPts val="0"/>
              </a:spcAft>
              <a:buNone/>
            </a:pPr>
            <a:r>
              <a:rPr lang="it"/>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1885ed03f_0_6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1885ed03f_0_6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it">
                <a:solidFill>
                  <a:schemeClr val="dk1"/>
                </a:solidFill>
              </a:rPr>
              <a:t>Regarding the action plan, we have decided to apply the NIST Cybersecurity Framework guidance on how to mitigate cyber threats in order to adopt a comprehensive cybersecurity strategy. We have linked every action to one or more NIST categories and we have also defined the type of the action, that is, if it is technical or managerial.</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it">
                <a:solidFill>
                  <a:schemeClr val="dk1"/>
                </a:solidFill>
              </a:rPr>
              <a:t>The first measures to implement are the installation of firewalls, the network segmentation, the adoption of VPN with strong encryption, the use of an IDS and of a centralized antivirus. To achieve this objectives, we have devised the need for a number of devices, such as Sophos firewalls, a VPN using Sophos RED, a Bitdefender home firewall, NAS for in-site storage and NAS cloud synchronization for off-site backup, as well as a captive portal appliance for customers and Jane’s children.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it">
                <a:solidFill>
                  <a:schemeClr val="dk1"/>
                </a:solidFill>
              </a:rPr>
              <a:t>The second action to implement is the training of manager and employees on topics regarding the cyber-hygiene and cyber-awareness.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fc0e1f3e2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fc0e1f3e2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Thirdly, as the firm lacks a Business Continuity Plan and an Incident Response Plan, there is a need to define and implement both of these plans. We will answer this need, and we will also implement a Maintenance program to address security updates and fixes.</a:t>
            </a:r>
            <a:endParaRPr/>
          </a:p>
          <a:p>
            <a:pPr marL="0" lvl="0" indent="0" algn="l" rtl="0">
              <a:spcBef>
                <a:spcPts val="0"/>
              </a:spcBef>
              <a:spcAft>
                <a:spcPts val="0"/>
              </a:spcAft>
              <a:buNone/>
            </a:pPr>
            <a:endParaRPr/>
          </a:p>
          <a:p>
            <a:pPr marL="0" lvl="0" indent="0" algn="l" rtl="0">
              <a:spcBef>
                <a:spcPts val="0"/>
              </a:spcBef>
              <a:spcAft>
                <a:spcPts val="0"/>
              </a:spcAft>
              <a:buNone/>
            </a:pPr>
            <a:r>
              <a:rPr lang="it"/>
              <a:t>Finally, every asset will use data encryption and their data will be synchronized on the cloud, all mobile phones will be enrolled in a </a:t>
            </a:r>
            <a:r>
              <a:rPr lang="it">
                <a:solidFill>
                  <a:schemeClr val="dk1"/>
                </a:solidFill>
              </a:rPr>
              <a:t>Bring your own device service. Systems will also be configured to comply to the least privilege principle, to implement RBAC and to use zero-trust or 2 Factor Authentication.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01885ed03f_0_6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01885ed03f_0_6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38100" lvl="0" indent="0" algn="l" rtl="0">
              <a:lnSpc>
                <a:spcPct val="100000"/>
              </a:lnSpc>
              <a:spcBef>
                <a:spcPts val="0"/>
              </a:spcBef>
              <a:spcAft>
                <a:spcPts val="0"/>
              </a:spcAft>
              <a:buNone/>
            </a:pPr>
            <a:r>
              <a:rPr lang="it" sz="1300" err="1"/>
              <a:t>During</a:t>
            </a:r>
            <a:r>
              <a:rPr lang="it" sz="1300"/>
              <a:t> the RMA </a:t>
            </a:r>
            <a:r>
              <a:rPr lang="it" sz="1300" err="1"/>
              <a:t>we</a:t>
            </a:r>
            <a:r>
              <a:rPr lang="it" sz="1300"/>
              <a:t> </a:t>
            </a:r>
            <a:r>
              <a:rPr lang="it" sz="1300" err="1"/>
              <a:t>decided</a:t>
            </a:r>
            <a:r>
              <a:rPr lang="it" sz="1300"/>
              <a:t> to </a:t>
            </a:r>
            <a:r>
              <a:rPr lang="it" sz="1300" err="1"/>
              <a:t>assign</a:t>
            </a:r>
            <a:r>
              <a:rPr lang="it" sz="1300"/>
              <a:t> high impact to </a:t>
            </a:r>
            <a:r>
              <a:rPr lang="it" sz="1300" err="1"/>
              <a:t>all</a:t>
            </a:r>
            <a:r>
              <a:rPr lang="it" sz="1300"/>
              <a:t> </a:t>
            </a:r>
            <a:r>
              <a:rPr lang="it" sz="1300" err="1"/>
              <a:t>threats</a:t>
            </a:r>
            <a:r>
              <a:rPr lang="it" sz="1300"/>
              <a:t>. In </a:t>
            </a:r>
            <a:r>
              <a:rPr lang="it" sz="1300" err="1"/>
              <a:t>fact</a:t>
            </a:r>
            <a:r>
              <a:rPr lang="it" sz="1300"/>
              <a:t>, for a tax </a:t>
            </a:r>
            <a:r>
              <a:rPr lang="it" sz="1300" err="1"/>
              <a:t>accountant</a:t>
            </a:r>
            <a:r>
              <a:rPr lang="it" sz="1300"/>
              <a:t>, </a:t>
            </a:r>
            <a:r>
              <a:rPr lang="it" sz="1300" err="1"/>
              <a:t>any</a:t>
            </a:r>
            <a:r>
              <a:rPr lang="it" sz="1300"/>
              <a:t> </a:t>
            </a:r>
            <a:r>
              <a:rPr lang="it" sz="1300" err="1"/>
              <a:t>loss</a:t>
            </a:r>
            <a:r>
              <a:rPr lang="it" sz="1300"/>
              <a:t> or </a:t>
            </a:r>
            <a:r>
              <a:rPr lang="it" sz="1300" err="1"/>
              <a:t>disclosure</a:t>
            </a:r>
            <a:r>
              <a:rPr lang="it" sz="1300"/>
              <a:t> of sensitive data can </a:t>
            </a:r>
            <a:r>
              <a:rPr lang="it" sz="1300" err="1"/>
              <a:t>have</a:t>
            </a:r>
            <a:r>
              <a:rPr lang="it" sz="1300"/>
              <a:t> </a:t>
            </a:r>
            <a:r>
              <a:rPr lang="it" sz="1300" err="1"/>
              <a:t>disastrous</a:t>
            </a:r>
            <a:r>
              <a:rPr lang="it" sz="1300"/>
              <a:t> </a:t>
            </a:r>
            <a:r>
              <a:rPr lang="it" sz="1300" err="1"/>
              <a:t>consequences</a:t>
            </a:r>
            <a:r>
              <a:rPr lang="it" sz="1300"/>
              <a:t>. </a:t>
            </a:r>
            <a:r>
              <a:rPr lang="it" sz="1300" err="1"/>
              <a:t>Despite</a:t>
            </a:r>
            <a:r>
              <a:rPr lang="it" sz="1300"/>
              <a:t> </a:t>
            </a:r>
            <a:r>
              <a:rPr lang="it" sz="1300" err="1"/>
              <a:t>this</a:t>
            </a:r>
            <a:r>
              <a:rPr lang="it" sz="1300"/>
              <a:t>, the </a:t>
            </a:r>
            <a:r>
              <a:rPr lang="it" sz="1300" err="1"/>
              <a:t>danger</a:t>
            </a:r>
            <a:r>
              <a:rPr lang="it" sz="1300"/>
              <a:t> of the </a:t>
            </a:r>
            <a:r>
              <a:rPr lang="it" sz="1300" err="1"/>
              <a:t>threats</a:t>
            </a:r>
            <a:r>
              <a:rPr lang="it" sz="1300"/>
              <a:t> </a:t>
            </a:r>
            <a:r>
              <a:rPr lang="it" sz="1300" err="1"/>
              <a:t>is</a:t>
            </a:r>
            <a:r>
              <a:rPr lang="it" sz="1300"/>
              <a:t> </a:t>
            </a:r>
            <a:r>
              <a:rPr lang="it" sz="1300" err="1"/>
              <a:t>not</a:t>
            </a:r>
            <a:r>
              <a:rPr lang="it" sz="1300"/>
              <a:t> the </a:t>
            </a:r>
            <a:r>
              <a:rPr lang="it" sz="1300" err="1"/>
              <a:t>same</a:t>
            </a:r>
            <a:r>
              <a:rPr lang="it" sz="1300"/>
              <a:t>, </a:t>
            </a:r>
            <a:r>
              <a:rPr lang="it" sz="1300" err="1"/>
              <a:t>which</a:t>
            </a:r>
            <a:r>
              <a:rPr lang="it" sz="1300"/>
              <a:t> </a:t>
            </a:r>
            <a:r>
              <a:rPr lang="it" sz="1300" err="1"/>
              <a:t>is</a:t>
            </a:r>
            <a:r>
              <a:rPr lang="it" sz="1300"/>
              <a:t> </a:t>
            </a:r>
            <a:r>
              <a:rPr lang="it" sz="1300" err="1"/>
              <a:t>why</a:t>
            </a:r>
            <a:r>
              <a:rPr lang="it" sz="1300"/>
              <a:t> </a:t>
            </a:r>
            <a:r>
              <a:rPr lang="it" sz="1300" err="1"/>
              <a:t>they</a:t>
            </a:r>
            <a:r>
              <a:rPr lang="it" sz="1300"/>
              <a:t> </a:t>
            </a:r>
            <a:r>
              <a:rPr lang="it" sz="1300" err="1"/>
              <a:t>have</a:t>
            </a:r>
            <a:r>
              <a:rPr lang="it" sz="1300"/>
              <a:t> </a:t>
            </a:r>
            <a:r>
              <a:rPr lang="it" sz="1300" err="1"/>
              <a:t>been</a:t>
            </a:r>
            <a:r>
              <a:rPr lang="it" sz="1300"/>
              <a:t> </a:t>
            </a:r>
            <a:r>
              <a:rPr lang="it" sz="1300" err="1"/>
              <a:t>ordered</a:t>
            </a:r>
            <a:r>
              <a:rPr lang="it" sz="1300"/>
              <a:t> with a </a:t>
            </a:r>
            <a:r>
              <a:rPr lang="it" sz="1300" err="1"/>
              <a:t>rank</a:t>
            </a:r>
            <a:r>
              <a:rPr lang="it" sz="1300"/>
              <a:t>. </a:t>
            </a:r>
            <a:r>
              <a:rPr lang="it" sz="1300" err="1"/>
              <a:t>Futhermore</a:t>
            </a:r>
            <a:r>
              <a:rPr lang="it" sz="1300"/>
              <a:t> </a:t>
            </a:r>
            <a:r>
              <a:rPr lang="it" sz="1300" err="1"/>
              <a:t>each</a:t>
            </a:r>
            <a:r>
              <a:rPr lang="it" sz="1300"/>
              <a:t> </a:t>
            </a:r>
            <a:r>
              <a:rPr lang="it" sz="1300" err="1"/>
              <a:t>threat</a:t>
            </a:r>
            <a:r>
              <a:rPr lang="it" sz="1300"/>
              <a:t> of the </a:t>
            </a:r>
            <a:r>
              <a:rPr lang="it" sz="1300" err="1"/>
              <a:t>table</a:t>
            </a:r>
            <a:r>
              <a:rPr lang="it" sz="1300"/>
              <a:t> </a:t>
            </a:r>
            <a:r>
              <a:rPr lang="it" sz="1300" err="1"/>
              <a:t>is</a:t>
            </a:r>
            <a:r>
              <a:rPr lang="it" sz="1300"/>
              <a:t> </a:t>
            </a:r>
            <a:r>
              <a:rPr lang="it" sz="1300" err="1"/>
              <a:t>associated</a:t>
            </a:r>
            <a:r>
              <a:rPr lang="it" sz="1300"/>
              <a:t> to a </a:t>
            </a:r>
            <a:r>
              <a:rPr lang="it" sz="1300" err="1"/>
              <a:t>specific</a:t>
            </a:r>
            <a:r>
              <a:rPr lang="it" sz="1300"/>
              <a:t> item of the action plan.</a:t>
            </a:r>
            <a:endParaRPr lang="it-IT" sz="1300"/>
          </a:p>
          <a:p>
            <a:pPr marL="0" marR="38100" indent="0">
              <a:buNone/>
            </a:pPr>
            <a:r>
              <a:rPr lang="it" sz="1300"/>
              <a:t>The first and </a:t>
            </a:r>
            <a:r>
              <a:rPr lang="it" sz="1300" err="1"/>
              <a:t>worst</a:t>
            </a:r>
            <a:r>
              <a:rPr lang="it" sz="1300"/>
              <a:t> </a:t>
            </a:r>
            <a:r>
              <a:rPr lang="it" sz="1300" err="1"/>
              <a:t>threat</a:t>
            </a:r>
            <a:r>
              <a:rPr lang="it" sz="1300"/>
              <a:t> </a:t>
            </a:r>
            <a:r>
              <a:rPr lang="it" sz="1300" err="1"/>
              <a:t>is</a:t>
            </a:r>
            <a:r>
              <a:rPr lang="it" sz="1300"/>
              <a:t> </a:t>
            </a:r>
            <a:r>
              <a:rPr lang="it" sz="1300" b="1"/>
              <a:t>data </a:t>
            </a:r>
            <a:r>
              <a:rPr lang="it" sz="1300" b="1" err="1"/>
              <a:t>breach</a:t>
            </a:r>
            <a:r>
              <a:rPr lang="it" sz="1300" b="1"/>
              <a:t>, </a:t>
            </a:r>
            <a:r>
              <a:rPr lang="it" sz="1300" err="1"/>
              <a:t>u</a:t>
            </a:r>
            <a:r>
              <a:rPr lang="it" sz="1300" err="1">
                <a:solidFill>
                  <a:schemeClr val="dk1"/>
                </a:solidFill>
              </a:rPr>
              <a:t>nauthorized</a:t>
            </a:r>
            <a:r>
              <a:rPr lang="it" sz="1300">
                <a:solidFill>
                  <a:schemeClr val="dk1"/>
                </a:solidFill>
              </a:rPr>
              <a:t> </a:t>
            </a:r>
            <a:r>
              <a:rPr lang="it" sz="1300" err="1">
                <a:solidFill>
                  <a:schemeClr val="dk1"/>
                </a:solidFill>
              </a:rPr>
              <a:t>disclosure</a:t>
            </a:r>
            <a:r>
              <a:rPr lang="it" sz="1300">
                <a:solidFill>
                  <a:schemeClr val="dk1"/>
                </a:solidFill>
              </a:rPr>
              <a:t> of sensitive customer data. In order to </a:t>
            </a:r>
            <a:r>
              <a:rPr lang="it" sz="1300" err="1">
                <a:solidFill>
                  <a:schemeClr val="dk1"/>
                </a:solidFill>
              </a:rPr>
              <a:t>avoid</a:t>
            </a:r>
            <a:r>
              <a:rPr lang="it" sz="1300">
                <a:solidFill>
                  <a:schemeClr val="dk1"/>
                </a:solidFill>
              </a:rPr>
              <a:t> </a:t>
            </a:r>
            <a:r>
              <a:rPr lang="it" sz="1300" err="1">
                <a:solidFill>
                  <a:schemeClr val="dk1"/>
                </a:solidFill>
              </a:rPr>
              <a:t>it</a:t>
            </a:r>
            <a:r>
              <a:rPr lang="it" sz="1300">
                <a:solidFill>
                  <a:schemeClr val="dk1"/>
                </a:solidFill>
              </a:rPr>
              <a:t> </a:t>
            </a:r>
            <a:r>
              <a:rPr lang="it" sz="1300" err="1">
                <a:solidFill>
                  <a:schemeClr val="dk1"/>
                </a:solidFill>
              </a:rPr>
              <a:t>we</a:t>
            </a:r>
            <a:r>
              <a:rPr lang="it" sz="1300">
                <a:solidFill>
                  <a:schemeClr val="dk1"/>
                </a:solidFill>
              </a:rPr>
              <a:t> </a:t>
            </a:r>
            <a:r>
              <a:rPr lang="it" sz="1300" err="1">
                <a:solidFill>
                  <a:schemeClr val="dk1"/>
                </a:solidFill>
              </a:rPr>
              <a:t>will</a:t>
            </a:r>
            <a:r>
              <a:rPr lang="it" sz="1300">
                <a:solidFill>
                  <a:schemeClr val="dk1"/>
                </a:solidFill>
              </a:rPr>
              <a:t> </a:t>
            </a:r>
            <a:r>
              <a:rPr lang="it" sz="1300" err="1">
                <a:solidFill>
                  <a:schemeClr val="dk1"/>
                </a:solidFill>
              </a:rPr>
              <a:t>install</a:t>
            </a:r>
            <a:r>
              <a:rPr lang="it" sz="1300">
                <a:solidFill>
                  <a:schemeClr val="dk1"/>
                </a:solidFill>
              </a:rPr>
              <a:t> firewalls in </a:t>
            </a:r>
            <a:r>
              <a:rPr lang="it" sz="1300" err="1">
                <a:solidFill>
                  <a:schemeClr val="dk1"/>
                </a:solidFill>
              </a:rPr>
              <a:t>both</a:t>
            </a:r>
            <a:r>
              <a:rPr lang="it" sz="1300">
                <a:solidFill>
                  <a:schemeClr val="dk1"/>
                </a:solidFill>
              </a:rPr>
              <a:t> offices, </a:t>
            </a:r>
            <a:r>
              <a:rPr lang="it" sz="1300" err="1">
                <a:solidFill>
                  <a:schemeClr val="dk1"/>
                </a:solidFill>
              </a:rPr>
              <a:t>implement</a:t>
            </a:r>
            <a:r>
              <a:rPr lang="it" sz="1300">
                <a:solidFill>
                  <a:schemeClr val="dk1"/>
                </a:solidFill>
              </a:rPr>
              <a:t> network </a:t>
            </a:r>
            <a:r>
              <a:rPr lang="it" sz="1300" err="1">
                <a:solidFill>
                  <a:schemeClr val="dk1"/>
                </a:solidFill>
              </a:rPr>
              <a:t>segmentation,IDS</a:t>
            </a:r>
            <a:r>
              <a:rPr lang="it" sz="1300">
                <a:solidFill>
                  <a:schemeClr val="dk1"/>
                </a:solidFill>
              </a:rPr>
              <a:t> and </a:t>
            </a:r>
            <a:r>
              <a:rPr lang="it" sz="1300" err="1">
                <a:solidFill>
                  <a:schemeClr val="dk1"/>
                </a:solidFill>
              </a:rPr>
              <a:t>adopt</a:t>
            </a:r>
            <a:r>
              <a:rPr lang="it" sz="1300">
                <a:solidFill>
                  <a:schemeClr val="dk1"/>
                </a:solidFill>
              </a:rPr>
              <a:t> VPN with strong </a:t>
            </a:r>
            <a:r>
              <a:rPr lang="it" sz="1300" err="1">
                <a:solidFill>
                  <a:schemeClr val="dk1"/>
                </a:solidFill>
              </a:rPr>
              <a:t>encryption</a:t>
            </a:r>
            <a:r>
              <a:rPr lang="it" sz="1300">
                <a:solidFill>
                  <a:schemeClr val="dk1"/>
                </a:solidFill>
              </a:rPr>
              <a:t>. The second </a:t>
            </a:r>
            <a:r>
              <a:rPr lang="it" sz="1300" err="1">
                <a:solidFill>
                  <a:schemeClr val="dk1"/>
                </a:solidFill>
              </a:rPr>
              <a:t>threat</a:t>
            </a:r>
            <a:r>
              <a:rPr lang="it" sz="1300">
                <a:solidFill>
                  <a:schemeClr val="dk1"/>
                </a:solidFill>
              </a:rPr>
              <a:t> </a:t>
            </a:r>
            <a:r>
              <a:rPr lang="it" sz="1300" err="1">
                <a:solidFill>
                  <a:schemeClr val="dk1"/>
                </a:solidFill>
              </a:rPr>
              <a:t>is</a:t>
            </a:r>
            <a:r>
              <a:rPr lang="it" sz="1300">
                <a:solidFill>
                  <a:schemeClr val="dk1"/>
                </a:solidFill>
              </a:rPr>
              <a:t> </a:t>
            </a:r>
            <a:r>
              <a:rPr lang="it" sz="1300" b="1">
                <a:solidFill>
                  <a:schemeClr val="dk1"/>
                </a:solidFill>
              </a:rPr>
              <a:t>ransomware</a:t>
            </a:r>
            <a:r>
              <a:rPr lang="it" sz="1300">
                <a:solidFill>
                  <a:schemeClr val="dk1"/>
                </a:solidFill>
              </a:rPr>
              <a:t>, one of the </a:t>
            </a:r>
            <a:r>
              <a:rPr lang="it" sz="1300" err="1">
                <a:solidFill>
                  <a:schemeClr val="dk1"/>
                </a:solidFill>
              </a:rPr>
              <a:t>most</a:t>
            </a:r>
            <a:r>
              <a:rPr lang="it" sz="1300">
                <a:solidFill>
                  <a:schemeClr val="dk1"/>
                </a:solidFill>
              </a:rPr>
              <a:t> common </a:t>
            </a:r>
            <a:r>
              <a:rPr lang="it" sz="1300" err="1">
                <a:solidFill>
                  <a:schemeClr val="dk1"/>
                </a:solidFill>
              </a:rPr>
              <a:t>threats</a:t>
            </a:r>
            <a:r>
              <a:rPr lang="it" sz="1300">
                <a:solidFill>
                  <a:schemeClr val="dk1"/>
                </a:solidFill>
              </a:rPr>
              <a:t> </a:t>
            </a:r>
            <a:r>
              <a:rPr lang="it" sz="1300" err="1">
                <a:solidFill>
                  <a:schemeClr val="dk1"/>
                </a:solidFill>
              </a:rPr>
              <a:t>nowadays</a:t>
            </a:r>
            <a:r>
              <a:rPr lang="it" sz="1300">
                <a:solidFill>
                  <a:schemeClr val="dk1"/>
                </a:solidFill>
              </a:rPr>
              <a:t>. The </a:t>
            </a:r>
            <a:r>
              <a:rPr lang="it" sz="1300" err="1">
                <a:solidFill>
                  <a:schemeClr val="dk1"/>
                </a:solidFill>
              </a:rPr>
              <a:t>proposed</a:t>
            </a:r>
            <a:r>
              <a:rPr lang="it" sz="1300">
                <a:solidFill>
                  <a:schemeClr val="dk1"/>
                </a:solidFill>
              </a:rPr>
              <a:t> </a:t>
            </a:r>
            <a:r>
              <a:rPr lang="it" sz="1300" err="1">
                <a:solidFill>
                  <a:schemeClr val="dk1"/>
                </a:solidFill>
              </a:rPr>
              <a:t>mitigation</a:t>
            </a:r>
            <a:r>
              <a:rPr lang="it" sz="1300">
                <a:solidFill>
                  <a:schemeClr val="dk1"/>
                </a:solidFill>
              </a:rPr>
              <a:t> </a:t>
            </a:r>
            <a:r>
              <a:rPr lang="it" sz="1300" err="1">
                <a:solidFill>
                  <a:schemeClr val="dk1"/>
                </a:solidFill>
              </a:rPr>
              <a:t>startegy</a:t>
            </a:r>
            <a:r>
              <a:rPr lang="it" sz="1300">
                <a:solidFill>
                  <a:schemeClr val="dk1"/>
                </a:solidFill>
              </a:rPr>
              <a:t> </a:t>
            </a:r>
            <a:r>
              <a:rPr lang="it" sz="1300" err="1">
                <a:solidFill>
                  <a:schemeClr val="dk1"/>
                </a:solidFill>
              </a:rPr>
              <a:t>is</a:t>
            </a:r>
            <a:r>
              <a:rPr lang="it" sz="1300">
                <a:solidFill>
                  <a:schemeClr val="dk1"/>
                </a:solidFill>
              </a:rPr>
              <a:t> </a:t>
            </a:r>
            <a:r>
              <a:rPr lang="it" sz="1300" err="1">
                <a:solidFill>
                  <a:schemeClr val="dk1"/>
                </a:solidFill>
              </a:rPr>
              <a:t>based</a:t>
            </a:r>
            <a:r>
              <a:rPr lang="it" sz="1300">
                <a:solidFill>
                  <a:schemeClr val="dk1"/>
                </a:solidFill>
              </a:rPr>
              <a:t> on </a:t>
            </a:r>
            <a:r>
              <a:rPr lang="it" sz="1300" err="1">
                <a:solidFill>
                  <a:schemeClr val="dk1"/>
                </a:solidFill>
              </a:rPr>
              <a:t>employees</a:t>
            </a:r>
            <a:r>
              <a:rPr lang="it" sz="1300">
                <a:solidFill>
                  <a:schemeClr val="dk1"/>
                </a:solidFill>
              </a:rPr>
              <a:t> training </a:t>
            </a:r>
            <a:r>
              <a:rPr lang="it" sz="1300" err="1">
                <a:solidFill>
                  <a:schemeClr val="dk1"/>
                </a:solidFill>
              </a:rPr>
              <a:t>about</a:t>
            </a:r>
            <a:r>
              <a:rPr lang="it" sz="1300">
                <a:solidFill>
                  <a:schemeClr val="dk1"/>
                </a:solidFill>
              </a:rPr>
              <a:t> </a:t>
            </a:r>
            <a:r>
              <a:rPr lang="it" sz="1300" err="1">
                <a:solidFill>
                  <a:schemeClr val="dk1"/>
                </a:solidFill>
              </a:rPr>
              <a:t>cyeber-hygene</a:t>
            </a:r>
            <a:r>
              <a:rPr lang="it" sz="1300">
                <a:solidFill>
                  <a:schemeClr val="dk1"/>
                </a:solidFill>
              </a:rPr>
              <a:t> and cyber-</a:t>
            </a:r>
            <a:r>
              <a:rPr lang="it" sz="1300" err="1">
                <a:solidFill>
                  <a:schemeClr val="dk1"/>
                </a:solidFill>
              </a:rPr>
              <a:t>awareness</a:t>
            </a:r>
            <a:r>
              <a:rPr lang="it" sz="1300">
                <a:solidFill>
                  <a:schemeClr val="dk1"/>
                </a:solidFill>
              </a:rPr>
              <a:t> and on technical </a:t>
            </a:r>
            <a:r>
              <a:rPr lang="it" sz="1300" err="1">
                <a:solidFill>
                  <a:schemeClr val="dk1"/>
                </a:solidFill>
              </a:rPr>
              <a:t>countermeasures</a:t>
            </a:r>
            <a:r>
              <a:rPr lang="it" sz="1300">
                <a:solidFill>
                  <a:schemeClr val="dk1"/>
                </a:solidFill>
              </a:rPr>
              <a:t> like antivirus and proxy server to access internet. </a:t>
            </a:r>
            <a:endParaRPr sz="1300">
              <a:solidFill>
                <a:schemeClr val="dk1"/>
              </a:solidFill>
            </a:endParaRPr>
          </a:p>
          <a:p>
            <a:pPr marL="0" marR="38100" indent="0">
              <a:buNone/>
            </a:pPr>
            <a:r>
              <a:rPr lang="it" sz="1300">
                <a:solidFill>
                  <a:schemeClr val="dk1"/>
                </a:solidFill>
              </a:rPr>
              <a:t>The </a:t>
            </a:r>
            <a:r>
              <a:rPr lang="it" sz="1300" err="1">
                <a:solidFill>
                  <a:schemeClr val="dk1"/>
                </a:solidFill>
              </a:rPr>
              <a:t>next</a:t>
            </a:r>
            <a:r>
              <a:rPr lang="it" sz="1300">
                <a:solidFill>
                  <a:schemeClr val="dk1"/>
                </a:solidFill>
              </a:rPr>
              <a:t> </a:t>
            </a:r>
            <a:r>
              <a:rPr lang="it" sz="1300" err="1">
                <a:solidFill>
                  <a:schemeClr val="dk1"/>
                </a:solidFill>
              </a:rPr>
              <a:t>three</a:t>
            </a:r>
            <a:r>
              <a:rPr lang="it" sz="1300">
                <a:solidFill>
                  <a:schemeClr val="dk1"/>
                </a:solidFill>
              </a:rPr>
              <a:t> </a:t>
            </a:r>
            <a:r>
              <a:rPr lang="it" sz="1300" err="1">
                <a:solidFill>
                  <a:schemeClr val="dk1"/>
                </a:solidFill>
              </a:rPr>
              <a:t>threats</a:t>
            </a:r>
            <a:r>
              <a:rPr lang="it" sz="1300">
                <a:solidFill>
                  <a:schemeClr val="dk1"/>
                </a:solidFill>
              </a:rPr>
              <a:t> in the </a:t>
            </a:r>
            <a:r>
              <a:rPr lang="it" sz="1300" err="1">
                <a:solidFill>
                  <a:schemeClr val="dk1"/>
                </a:solidFill>
              </a:rPr>
              <a:t>table</a:t>
            </a:r>
            <a:r>
              <a:rPr lang="it" sz="1300">
                <a:solidFill>
                  <a:schemeClr val="dk1"/>
                </a:solidFill>
              </a:rPr>
              <a:t>, with medium </a:t>
            </a:r>
            <a:r>
              <a:rPr lang="it" sz="1300" err="1">
                <a:solidFill>
                  <a:schemeClr val="dk1"/>
                </a:solidFill>
              </a:rPr>
              <a:t>likelihood</a:t>
            </a:r>
            <a:r>
              <a:rPr lang="it" sz="1300">
                <a:solidFill>
                  <a:schemeClr val="dk1"/>
                </a:solidFill>
              </a:rPr>
              <a:t>, are </a:t>
            </a:r>
            <a:r>
              <a:rPr lang="it" sz="1300" err="1">
                <a:solidFill>
                  <a:schemeClr val="dk1"/>
                </a:solidFill>
              </a:rPr>
              <a:t>related</a:t>
            </a:r>
            <a:r>
              <a:rPr lang="it" sz="1300">
                <a:solidFill>
                  <a:schemeClr val="dk1"/>
                </a:solidFill>
              </a:rPr>
              <a:t> to the network </a:t>
            </a:r>
            <a:r>
              <a:rPr lang="it" sz="1300" err="1">
                <a:solidFill>
                  <a:schemeClr val="dk1"/>
                </a:solidFill>
              </a:rPr>
              <a:t>vulnerabilities</a:t>
            </a:r>
            <a:r>
              <a:rPr lang="it" sz="1300">
                <a:solidFill>
                  <a:schemeClr val="dk1"/>
                </a:solidFill>
              </a:rPr>
              <a:t> and to the </a:t>
            </a:r>
            <a:r>
              <a:rPr lang="it" sz="1300" err="1">
                <a:solidFill>
                  <a:schemeClr val="dk1"/>
                </a:solidFill>
              </a:rPr>
              <a:t>lack</a:t>
            </a:r>
            <a:r>
              <a:rPr lang="it" sz="1300">
                <a:solidFill>
                  <a:schemeClr val="dk1"/>
                </a:solidFill>
              </a:rPr>
              <a:t> of data </a:t>
            </a:r>
            <a:r>
              <a:rPr lang="it" sz="1300" err="1">
                <a:solidFill>
                  <a:schemeClr val="dk1"/>
                </a:solidFill>
              </a:rPr>
              <a:t>encryption</a:t>
            </a:r>
            <a:r>
              <a:rPr lang="it" sz="1300">
                <a:solidFill>
                  <a:schemeClr val="dk1"/>
                </a:solidFill>
              </a:rPr>
              <a:t> </a:t>
            </a:r>
            <a:r>
              <a:rPr lang="it" sz="1300" err="1">
                <a:solidFill>
                  <a:schemeClr val="dk1"/>
                </a:solidFill>
              </a:rPr>
              <a:t>that</a:t>
            </a:r>
            <a:r>
              <a:rPr lang="it" sz="1300">
                <a:solidFill>
                  <a:schemeClr val="dk1"/>
                </a:solidFill>
              </a:rPr>
              <a:t> </a:t>
            </a:r>
            <a:r>
              <a:rPr lang="it" sz="1300" err="1">
                <a:solidFill>
                  <a:schemeClr val="dk1"/>
                </a:solidFill>
              </a:rPr>
              <a:t>emerged</a:t>
            </a:r>
            <a:r>
              <a:rPr lang="it" sz="1300">
                <a:solidFill>
                  <a:schemeClr val="dk1"/>
                </a:solidFill>
              </a:rPr>
              <a:t> in </a:t>
            </a:r>
            <a:r>
              <a:rPr lang="it" sz="1300" err="1">
                <a:solidFill>
                  <a:schemeClr val="dk1"/>
                </a:solidFill>
              </a:rPr>
              <a:t>our</a:t>
            </a:r>
            <a:r>
              <a:rPr lang="it" sz="1300">
                <a:solidFill>
                  <a:schemeClr val="dk1"/>
                </a:solidFill>
              </a:rPr>
              <a:t> </a:t>
            </a:r>
            <a:r>
              <a:rPr lang="it" sz="1300" err="1">
                <a:solidFill>
                  <a:schemeClr val="dk1"/>
                </a:solidFill>
              </a:rPr>
              <a:t>analysis</a:t>
            </a:r>
            <a:r>
              <a:rPr lang="it" sz="1300">
                <a:solidFill>
                  <a:schemeClr val="dk1"/>
                </a:solidFill>
              </a:rPr>
              <a:t>. </a:t>
            </a:r>
            <a:r>
              <a:rPr lang="it" sz="1300" err="1">
                <a:solidFill>
                  <a:schemeClr val="dk1"/>
                </a:solidFill>
              </a:rPr>
              <a:t>They</a:t>
            </a:r>
            <a:r>
              <a:rPr lang="it" sz="1300">
                <a:solidFill>
                  <a:schemeClr val="dk1"/>
                </a:solidFill>
              </a:rPr>
              <a:t> </a:t>
            </a:r>
            <a:r>
              <a:rPr lang="it" sz="1300" err="1">
                <a:solidFill>
                  <a:schemeClr val="dk1"/>
                </a:solidFill>
              </a:rPr>
              <a:t>will</a:t>
            </a:r>
            <a:r>
              <a:rPr lang="it" sz="1300">
                <a:solidFill>
                  <a:schemeClr val="dk1"/>
                </a:solidFill>
              </a:rPr>
              <a:t> be </a:t>
            </a:r>
            <a:r>
              <a:rPr lang="it" sz="1300" err="1">
                <a:solidFill>
                  <a:schemeClr val="dk1"/>
                </a:solidFill>
              </a:rPr>
              <a:t>mitigated</a:t>
            </a:r>
            <a:r>
              <a:rPr lang="it" sz="1300">
                <a:solidFill>
                  <a:schemeClr val="dk1"/>
                </a:solidFill>
              </a:rPr>
              <a:t> by the network upgrade and the adoption of secure access control </a:t>
            </a:r>
            <a:r>
              <a:rPr lang="it" sz="1300" err="1">
                <a:solidFill>
                  <a:schemeClr val="dk1"/>
                </a:solidFill>
              </a:rPr>
              <a:t>mechanisms</a:t>
            </a:r>
            <a:r>
              <a:rPr lang="it" sz="1300">
                <a:solidFill>
                  <a:schemeClr val="dk1"/>
                </a:solidFill>
              </a:rPr>
              <a:t>. </a:t>
            </a:r>
          </a:p>
          <a:p>
            <a:pPr marL="0" marR="38100" lvl="0" indent="0" algn="l" rtl="0">
              <a:lnSpc>
                <a:spcPct val="100000"/>
              </a:lnSpc>
              <a:spcBef>
                <a:spcPts val="0"/>
              </a:spcBef>
              <a:spcAft>
                <a:spcPts val="0"/>
              </a:spcAft>
              <a:buNone/>
            </a:pPr>
            <a:r>
              <a:rPr lang="it" sz="1300">
                <a:solidFill>
                  <a:schemeClr val="dk1"/>
                </a:solidFill>
              </a:rPr>
              <a:t>Last </a:t>
            </a:r>
            <a:r>
              <a:rPr lang="it" sz="1300" err="1">
                <a:solidFill>
                  <a:schemeClr val="dk1"/>
                </a:solidFill>
              </a:rPr>
              <a:t>but</a:t>
            </a:r>
            <a:r>
              <a:rPr lang="it" sz="1300">
                <a:solidFill>
                  <a:schemeClr val="dk1"/>
                </a:solidFill>
              </a:rPr>
              <a:t> </a:t>
            </a:r>
            <a:r>
              <a:rPr lang="it" sz="1300" err="1">
                <a:solidFill>
                  <a:schemeClr val="dk1"/>
                </a:solidFill>
              </a:rPr>
              <a:t>not</a:t>
            </a:r>
            <a:r>
              <a:rPr lang="it" sz="1300">
                <a:solidFill>
                  <a:schemeClr val="dk1"/>
                </a:solidFill>
              </a:rPr>
              <a:t> </a:t>
            </a:r>
            <a:r>
              <a:rPr lang="it" sz="1300" err="1">
                <a:solidFill>
                  <a:schemeClr val="dk1"/>
                </a:solidFill>
              </a:rPr>
              <a:t>least</a:t>
            </a:r>
            <a:r>
              <a:rPr lang="it" sz="1300">
                <a:solidFill>
                  <a:schemeClr val="dk1"/>
                </a:solidFill>
              </a:rPr>
              <a:t> </a:t>
            </a:r>
            <a:r>
              <a:rPr lang="it" sz="1300" err="1">
                <a:solidFill>
                  <a:schemeClr val="dk1"/>
                </a:solidFill>
              </a:rPr>
              <a:t>there</a:t>
            </a:r>
            <a:r>
              <a:rPr lang="it" sz="1300">
                <a:solidFill>
                  <a:schemeClr val="dk1"/>
                </a:solidFill>
              </a:rPr>
              <a:t> are Business </a:t>
            </a:r>
            <a:r>
              <a:rPr lang="it" sz="1300" err="1">
                <a:solidFill>
                  <a:schemeClr val="dk1"/>
                </a:solidFill>
              </a:rPr>
              <a:t>Operation</a:t>
            </a:r>
            <a:r>
              <a:rPr lang="it" sz="1300">
                <a:solidFill>
                  <a:schemeClr val="dk1"/>
                </a:solidFill>
              </a:rPr>
              <a:t> </a:t>
            </a:r>
            <a:r>
              <a:rPr lang="it" sz="1300" err="1">
                <a:solidFill>
                  <a:schemeClr val="dk1"/>
                </a:solidFill>
              </a:rPr>
              <a:t>contnuity</a:t>
            </a:r>
            <a:r>
              <a:rPr lang="it" sz="1300">
                <a:solidFill>
                  <a:schemeClr val="dk1"/>
                </a:solidFill>
              </a:rPr>
              <a:t>/recovery risk and </a:t>
            </a:r>
            <a:r>
              <a:rPr lang="it" sz="1300" err="1">
                <a:solidFill>
                  <a:schemeClr val="dk1"/>
                </a:solidFill>
              </a:rPr>
              <a:t>physical</a:t>
            </a:r>
            <a:r>
              <a:rPr lang="it" sz="1300">
                <a:solidFill>
                  <a:schemeClr val="dk1"/>
                </a:solidFill>
              </a:rPr>
              <a:t> </a:t>
            </a:r>
            <a:r>
              <a:rPr lang="it" sz="1300" err="1">
                <a:solidFill>
                  <a:schemeClr val="dk1"/>
                </a:solidFill>
              </a:rPr>
              <a:t>theft</a:t>
            </a:r>
            <a:r>
              <a:rPr lang="it" sz="1300">
                <a:solidFill>
                  <a:schemeClr val="dk1"/>
                </a:solidFill>
              </a:rPr>
              <a:t>. The first one </a:t>
            </a:r>
            <a:r>
              <a:rPr lang="it" sz="1300" err="1">
                <a:solidFill>
                  <a:schemeClr val="dk1"/>
                </a:solidFill>
              </a:rPr>
              <a:t>is</a:t>
            </a:r>
            <a:r>
              <a:rPr lang="it" sz="1300">
                <a:solidFill>
                  <a:schemeClr val="dk1"/>
                </a:solidFill>
              </a:rPr>
              <a:t> </a:t>
            </a:r>
            <a:r>
              <a:rPr lang="it" sz="1300" err="1">
                <a:solidFill>
                  <a:schemeClr val="dk1"/>
                </a:solidFill>
              </a:rPr>
              <a:t>quite</a:t>
            </a:r>
            <a:r>
              <a:rPr lang="it" sz="1300">
                <a:solidFill>
                  <a:schemeClr val="dk1"/>
                </a:solidFill>
              </a:rPr>
              <a:t> </a:t>
            </a:r>
            <a:r>
              <a:rPr lang="it" sz="1300" err="1">
                <a:solidFill>
                  <a:schemeClr val="dk1"/>
                </a:solidFill>
              </a:rPr>
              <a:t>dangerous</a:t>
            </a:r>
            <a:r>
              <a:rPr lang="it" sz="1300">
                <a:solidFill>
                  <a:schemeClr val="dk1"/>
                </a:solidFill>
              </a:rPr>
              <a:t>, </a:t>
            </a:r>
            <a:r>
              <a:rPr lang="it" sz="1300" err="1">
                <a:solidFill>
                  <a:schemeClr val="dk1"/>
                </a:solidFill>
              </a:rPr>
              <a:t>despite</a:t>
            </a:r>
            <a:r>
              <a:rPr lang="it" sz="1300">
                <a:solidFill>
                  <a:schemeClr val="dk1"/>
                </a:solidFill>
              </a:rPr>
              <a:t> the low </a:t>
            </a:r>
            <a:r>
              <a:rPr lang="it" sz="1300" err="1">
                <a:solidFill>
                  <a:schemeClr val="dk1"/>
                </a:solidFill>
              </a:rPr>
              <a:t>likelihood</a:t>
            </a:r>
            <a:r>
              <a:rPr lang="it" sz="1300">
                <a:solidFill>
                  <a:schemeClr val="dk1"/>
                </a:solidFill>
              </a:rPr>
              <a:t>, </a:t>
            </a:r>
            <a:r>
              <a:rPr lang="it" sz="1300" err="1">
                <a:solidFill>
                  <a:schemeClr val="dk1"/>
                </a:solidFill>
              </a:rPr>
              <a:t>because</a:t>
            </a:r>
            <a:r>
              <a:rPr lang="it" sz="1300">
                <a:solidFill>
                  <a:schemeClr val="dk1"/>
                </a:solidFill>
              </a:rPr>
              <a:t> the </a:t>
            </a:r>
            <a:r>
              <a:rPr lang="it" sz="1300" err="1">
                <a:solidFill>
                  <a:schemeClr val="dk1"/>
                </a:solidFill>
              </a:rPr>
              <a:t>lack</a:t>
            </a:r>
            <a:r>
              <a:rPr lang="it" sz="1300">
                <a:solidFill>
                  <a:schemeClr val="dk1"/>
                </a:solidFill>
              </a:rPr>
              <a:t> of </a:t>
            </a:r>
            <a:r>
              <a:rPr lang="it" sz="1300" err="1">
                <a:solidFill>
                  <a:schemeClr val="dk1"/>
                </a:solidFill>
              </a:rPr>
              <a:t>incident</a:t>
            </a:r>
            <a:r>
              <a:rPr lang="it" sz="1300">
                <a:solidFill>
                  <a:schemeClr val="dk1"/>
                </a:solidFill>
              </a:rPr>
              <a:t> </a:t>
            </a:r>
            <a:r>
              <a:rPr lang="it" sz="1300" err="1">
                <a:solidFill>
                  <a:schemeClr val="dk1"/>
                </a:solidFill>
              </a:rPr>
              <a:t>response</a:t>
            </a:r>
            <a:r>
              <a:rPr lang="it" sz="1300">
                <a:solidFill>
                  <a:schemeClr val="dk1"/>
                </a:solidFill>
              </a:rPr>
              <a:t> and recovery </a:t>
            </a:r>
            <a:r>
              <a:rPr lang="it" sz="1300" err="1">
                <a:solidFill>
                  <a:schemeClr val="dk1"/>
                </a:solidFill>
              </a:rPr>
              <a:t>procedures</a:t>
            </a:r>
            <a:r>
              <a:rPr lang="it" sz="1300"/>
              <a:t> can complicate </a:t>
            </a:r>
            <a:r>
              <a:rPr lang="it" sz="1300" err="1">
                <a:solidFill>
                  <a:schemeClr val="dk1"/>
                </a:solidFill>
              </a:rPr>
              <a:t>even</a:t>
            </a:r>
            <a:r>
              <a:rPr lang="it" sz="1300">
                <a:solidFill>
                  <a:schemeClr val="dk1"/>
                </a:solidFill>
              </a:rPr>
              <a:t> more a </a:t>
            </a:r>
            <a:r>
              <a:rPr lang="it" sz="1300"/>
              <a:t>situation </a:t>
            </a:r>
            <a:r>
              <a:rPr lang="it" sz="1300" err="1"/>
              <a:t>which</a:t>
            </a:r>
            <a:r>
              <a:rPr lang="it" sz="1300"/>
              <a:t> </a:t>
            </a:r>
            <a:r>
              <a:rPr lang="it" sz="1300" err="1"/>
              <a:t>is</a:t>
            </a:r>
            <a:r>
              <a:rPr lang="it" sz="1300"/>
              <a:t> </a:t>
            </a:r>
            <a:r>
              <a:rPr lang="it" sz="1300" err="1"/>
              <a:t>already</a:t>
            </a:r>
            <a:r>
              <a:rPr lang="it" sz="1300"/>
              <a:t> </a:t>
            </a:r>
            <a:r>
              <a:rPr lang="it" sz="1300" err="1"/>
              <a:t>bad</a:t>
            </a:r>
            <a:r>
              <a:rPr lang="it" sz="1300"/>
              <a:t>. </a:t>
            </a:r>
            <a:endParaRPr sz="1300"/>
          </a:p>
          <a:p>
            <a:pPr marL="0" marR="38100" indent="0">
              <a:buNone/>
            </a:pPr>
            <a:r>
              <a:rPr lang="it" sz="1300">
                <a:solidFill>
                  <a:schemeClr val="dk1"/>
                </a:solidFill>
              </a:rPr>
              <a:t> </a:t>
            </a:r>
            <a:endParaRPr sz="1300">
              <a:solidFill>
                <a:schemeClr val="dk1"/>
              </a:solidFill>
            </a:endParaRPr>
          </a:p>
          <a:p>
            <a:pPr marL="0" marR="38100" lvl="0" indent="0" algn="l" rtl="0">
              <a:lnSpc>
                <a:spcPct val="100000"/>
              </a:lnSpc>
              <a:spcBef>
                <a:spcPts val="0"/>
              </a:spcBef>
              <a:spcAft>
                <a:spcPts val="0"/>
              </a:spcAft>
              <a:buNone/>
            </a:pPr>
            <a:endParaRPr sz="13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01885ed03f_0_6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01885ed03f_0_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it" sz="1300">
                <a:solidFill>
                  <a:schemeClr val="dk1"/>
                </a:solidFill>
              </a:rPr>
              <a:t>The </a:t>
            </a:r>
            <a:r>
              <a:rPr lang="it" sz="1300" err="1">
                <a:solidFill>
                  <a:schemeClr val="dk1"/>
                </a:solidFill>
              </a:rPr>
              <a:t>expected</a:t>
            </a:r>
            <a:r>
              <a:rPr lang="it" sz="1300">
                <a:solidFill>
                  <a:schemeClr val="dk1"/>
                </a:solidFill>
              </a:rPr>
              <a:t> </a:t>
            </a:r>
            <a:r>
              <a:rPr lang="it" sz="1300" err="1">
                <a:solidFill>
                  <a:schemeClr val="dk1"/>
                </a:solidFill>
              </a:rPr>
              <a:t>result</a:t>
            </a:r>
            <a:r>
              <a:rPr lang="it" sz="1300">
                <a:solidFill>
                  <a:schemeClr val="dk1"/>
                </a:solidFill>
              </a:rPr>
              <a:t> of </a:t>
            </a:r>
            <a:r>
              <a:rPr lang="it" sz="1300" err="1">
                <a:solidFill>
                  <a:schemeClr val="dk1"/>
                </a:solidFill>
              </a:rPr>
              <a:t>this</a:t>
            </a:r>
            <a:r>
              <a:rPr lang="it" sz="1300">
                <a:solidFill>
                  <a:schemeClr val="dk1"/>
                </a:solidFill>
              </a:rPr>
              <a:t> project </a:t>
            </a:r>
            <a:r>
              <a:rPr lang="it" sz="1300" err="1">
                <a:solidFill>
                  <a:schemeClr val="dk1"/>
                </a:solidFill>
              </a:rPr>
              <a:t>allows</a:t>
            </a:r>
            <a:r>
              <a:rPr lang="it" sz="1300">
                <a:solidFill>
                  <a:schemeClr val="dk1"/>
                </a:solidFill>
              </a:rPr>
              <a:t> to </a:t>
            </a:r>
            <a:r>
              <a:rPr lang="it" sz="1300" err="1">
                <a:solidFill>
                  <a:schemeClr val="dk1"/>
                </a:solidFill>
              </a:rPr>
              <a:t>considerably</a:t>
            </a:r>
            <a:r>
              <a:rPr lang="it" sz="1300">
                <a:solidFill>
                  <a:schemeClr val="dk1"/>
                </a:solidFill>
              </a:rPr>
              <a:t> </a:t>
            </a:r>
            <a:r>
              <a:rPr lang="it" sz="1300" err="1">
                <a:solidFill>
                  <a:schemeClr val="dk1"/>
                </a:solidFill>
              </a:rPr>
              <a:t>increase</a:t>
            </a:r>
            <a:r>
              <a:rPr lang="it" sz="1300">
                <a:solidFill>
                  <a:schemeClr val="dk1"/>
                </a:solidFill>
              </a:rPr>
              <a:t> the </a:t>
            </a:r>
            <a:r>
              <a:rPr lang="it" sz="1300" err="1">
                <a:solidFill>
                  <a:schemeClr val="dk1"/>
                </a:solidFill>
              </a:rPr>
              <a:t>level</a:t>
            </a:r>
            <a:r>
              <a:rPr lang="it" sz="1300">
                <a:solidFill>
                  <a:schemeClr val="dk1"/>
                </a:solidFill>
              </a:rPr>
              <a:t> of cybersecurity of the company. Using </a:t>
            </a:r>
            <a:r>
              <a:rPr lang="it" sz="1300" err="1">
                <a:solidFill>
                  <a:schemeClr val="dk1"/>
                </a:solidFill>
              </a:rPr>
              <a:t>NIST's</a:t>
            </a:r>
            <a:r>
              <a:rPr lang="it" sz="1300">
                <a:solidFill>
                  <a:schemeClr val="dk1"/>
                </a:solidFill>
              </a:rPr>
              <a:t> cybersecurity framework, </a:t>
            </a:r>
            <a:r>
              <a:rPr lang="it" sz="1300" err="1">
                <a:solidFill>
                  <a:schemeClr val="dk1"/>
                </a:solidFill>
              </a:rPr>
              <a:t>it</a:t>
            </a:r>
            <a:r>
              <a:rPr lang="it" sz="1300">
                <a:solidFill>
                  <a:schemeClr val="dk1"/>
                </a:solidFill>
              </a:rPr>
              <a:t> </a:t>
            </a:r>
            <a:r>
              <a:rPr lang="it" sz="1300" err="1">
                <a:solidFill>
                  <a:schemeClr val="dk1"/>
                </a:solidFill>
              </a:rPr>
              <a:t>will</a:t>
            </a:r>
            <a:r>
              <a:rPr lang="it" sz="1300">
                <a:solidFill>
                  <a:schemeClr val="dk1"/>
                </a:solidFill>
              </a:rPr>
              <a:t> </a:t>
            </a:r>
            <a:r>
              <a:rPr lang="it" sz="1300" err="1">
                <a:solidFill>
                  <a:schemeClr val="dk1"/>
                </a:solidFill>
              </a:rPr>
              <a:t>offer</a:t>
            </a:r>
            <a:r>
              <a:rPr lang="it" sz="1300">
                <a:solidFill>
                  <a:schemeClr val="dk1"/>
                </a:solidFill>
              </a:rPr>
              <a:t> the company an </a:t>
            </a:r>
            <a:r>
              <a:rPr lang="it" sz="1300" err="1">
                <a:solidFill>
                  <a:schemeClr val="dk1"/>
                </a:solidFill>
              </a:rPr>
              <a:t>effective</a:t>
            </a:r>
            <a:r>
              <a:rPr lang="it" sz="1300">
                <a:solidFill>
                  <a:schemeClr val="dk1"/>
                </a:solidFill>
              </a:rPr>
              <a:t> and </a:t>
            </a:r>
            <a:r>
              <a:rPr lang="it" sz="1300" err="1">
                <a:solidFill>
                  <a:schemeClr val="dk1"/>
                </a:solidFill>
              </a:rPr>
              <a:t>efficient</a:t>
            </a:r>
            <a:r>
              <a:rPr lang="it" sz="1300">
                <a:solidFill>
                  <a:schemeClr val="dk1"/>
                </a:solidFill>
              </a:rPr>
              <a:t> way to </a:t>
            </a:r>
            <a:r>
              <a:rPr lang="it" sz="1300" err="1">
                <a:solidFill>
                  <a:schemeClr val="dk1"/>
                </a:solidFill>
              </a:rPr>
              <a:t>comply</a:t>
            </a:r>
            <a:r>
              <a:rPr lang="it" sz="1300">
                <a:solidFill>
                  <a:schemeClr val="dk1"/>
                </a:solidFill>
              </a:rPr>
              <a:t> with </a:t>
            </a:r>
            <a:r>
              <a:rPr lang="it" sz="1300" err="1">
                <a:solidFill>
                  <a:schemeClr val="dk1"/>
                </a:solidFill>
              </a:rPr>
              <a:t>it</a:t>
            </a:r>
            <a:r>
              <a:rPr lang="it" sz="1300">
                <a:solidFill>
                  <a:schemeClr val="dk1"/>
                </a:solidFill>
              </a:rPr>
              <a:t> and </a:t>
            </a:r>
            <a:r>
              <a:rPr lang="it" sz="1300" err="1">
                <a:solidFill>
                  <a:schemeClr val="dk1"/>
                </a:solidFill>
              </a:rPr>
              <a:t>achieve</a:t>
            </a:r>
            <a:r>
              <a:rPr lang="it" sz="1300">
                <a:solidFill>
                  <a:schemeClr val="dk1"/>
                </a:solidFill>
              </a:rPr>
              <a:t> </a:t>
            </a:r>
            <a:r>
              <a:rPr lang="it" sz="1300" err="1">
                <a:solidFill>
                  <a:schemeClr val="dk1"/>
                </a:solidFill>
              </a:rPr>
              <a:t>its</a:t>
            </a:r>
            <a:r>
              <a:rPr lang="it" sz="1300">
                <a:solidFill>
                  <a:schemeClr val="dk1"/>
                </a:solidFill>
              </a:rPr>
              <a:t> </a:t>
            </a:r>
            <a:r>
              <a:rPr lang="it" sz="1300" err="1">
                <a:solidFill>
                  <a:schemeClr val="dk1"/>
                </a:solidFill>
              </a:rPr>
              <a:t>intended</a:t>
            </a:r>
            <a:r>
              <a:rPr lang="it" sz="1300">
                <a:solidFill>
                  <a:schemeClr val="dk1"/>
                </a:solidFill>
              </a:rPr>
              <a:t> </a:t>
            </a:r>
            <a:r>
              <a:rPr lang="it" sz="1300" err="1">
                <a:solidFill>
                  <a:schemeClr val="dk1"/>
                </a:solidFill>
              </a:rPr>
              <a:t>results</a:t>
            </a:r>
            <a:r>
              <a:rPr lang="it" sz="1300">
                <a:solidFill>
                  <a:schemeClr val="dk1"/>
                </a:solidFill>
              </a:rPr>
              <a:t>. </a:t>
            </a:r>
            <a:r>
              <a:rPr lang="it" sz="1300" err="1">
                <a:solidFill>
                  <a:schemeClr val="dk1"/>
                </a:solidFill>
              </a:rPr>
              <a:t>Furthermore</a:t>
            </a:r>
            <a:r>
              <a:rPr lang="it" sz="1300">
                <a:solidFill>
                  <a:schemeClr val="dk1"/>
                </a:solidFill>
              </a:rPr>
              <a:t>, to </a:t>
            </a:r>
            <a:r>
              <a:rPr lang="it" sz="1300" err="1">
                <a:solidFill>
                  <a:schemeClr val="dk1"/>
                </a:solidFill>
              </a:rPr>
              <a:t>simplify</a:t>
            </a:r>
            <a:r>
              <a:rPr lang="it" sz="1300">
                <a:solidFill>
                  <a:schemeClr val="dk1"/>
                </a:solidFill>
              </a:rPr>
              <a:t> the </a:t>
            </a:r>
            <a:r>
              <a:rPr lang="it" sz="1300" err="1">
                <a:solidFill>
                  <a:schemeClr val="dk1"/>
                </a:solidFill>
              </a:rPr>
              <a:t>improvement</a:t>
            </a:r>
            <a:r>
              <a:rPr lang="it" sz="1300">
                <a:solidFill>
                  <a:schemeClr val="dk1"/>
                </a:solidFill>
              </a:rPr>
              <a:t> </a:t>
            </a:r>
            <a:r>
              <a:rPr lang="it" sz="1300" err="1">
                <a:solidFill>
                  <a:schemeClr val="dk1"/>
                </a:solidFill>
              </a:rPr>
              <a:t>process</a:t>
            </a:r>
            <a:r>
              <a:rPr lang="it" sz="1300">
                <a:solidFill>
                  <a:schemeClr val="dk1"/>
                </a:solidFill>
              </a:rPr>
              <a:t>, training hours are </a:t>
            </a:r>
            <a:r>
              <a:rPr lang="it" sz="1300" err="1">
                <a:solidFill>
                  <a:schemeClr val="dk1"/>
                </a:solidFill>
              </a:rPr>
              <a:t>provided</a:t>
            </a:r>
            <a:r>
              <a:rPr lang="it" sz="1300">
                <a:solidFill>
                  <a:schemeClr val="dk1"/>
                </a:solidFill>
              </a:rPr>
              <a:t> for </a:t>
            </a:r>
            <a:r>
              <a:rPr lang="it" sz="1300" err="1">
                <a:solidFill>
                  <a:schemeClr val="dk1"/>
                </a:solidFill>
              </a:rPr>
              <a:t>all</a:t>
            </a:r>
            <a:r>
              <a:rPr lang="it" sz="1300">
                <a:solidFill>
                  <a:schemeClr val="dk1"/>
                </a:solidFill>
              </a:rPr>
              <a:t> company </a:t>
            </a:r>
            <a:r>
              <a:rPr lang="it" sz="1300" err="1">
                <a:solidFill>
                  <a:schemeClr val="dk1"/>
                </a:solidFill>
              </a:rPr>
              <a:t>personnel</a:t>
            </a:r>
            <a:r>
              <a:rPr lang="it" sz="1300">
                <a:solidFill>
                  <a:schemeClr val="dk1"/>
                </a:solidFill>
              </a:rPr>
              <a:t>. </a:t>
            </a:r>
            <a:r>
              <a:rPr lang="it" sz="1300" err="1">
                <a:solidFill>
                  <a:schemeClr val="dk1"/>
                </a:solidFill>
              </a:rPr>
              <a:t>As</a:t>
            </a:r>
            <a:r>
              <a:rPr lang="it" sz="1300">
                <a:solidFill>
                  <a:schemeClr val="dk1"/>
                </a:solidFill>
              </a:rPr>
              <a:t> </a:t>
            </a:r>
            <a:r>
              <a:rPr lang="it" sz="1300" err="1">
                <a:solidFill>
                  <a:schemeClr val="dk1"/>
                </a:solidFill>
              </a:rPr>
              <a:t>shown</a:t>
            </a:r>
            <a:r>
              <a:rPr lang="it" sz="1300">
                <a:solidFill>
                  <a:schemeClr val="dk1"/>
                </a:solidFill>
              </a:rPr>
              <a:t> in the figure </a:t>
            </a:r>
            <a:r>
              <a:rPr lang="it" sz="1300" err="1">
                <a:solidFill>
                  <a:schemeClr val="dk1"/>
                </a:solidFill>
              </a:rPr>
              <a:t>we</a:t>
            </a:r>
            <a:r>
              <a:rPr lang="it" sz="1300">
                <a:solidFill>
                  <a:schemeClr val="dk1"/>
                </a:solidFill>
              </a:rPr>
              <a:t> </a:t>
            </a:r>
            <a:r>
              <a:rPr lang="it" sz="1300" err="1">
                <a:solidFill>
                  <a:schemeClr val="dk1"/>
                </a:solidFill>
              </a:rPr>
              <a:t>intend</a:t>
            </a:r>
            <a:r>
              <a:rPr lang="it" sz="1300">
                <a:solidFill>
                  <a:schemeClr val="dk1"/>
                </a:solidFill>
              </a:rPr>
              <a:t> to </a:t>
            </a:r>
            <a:r>
              <a:rPr lang="it" sz="1300" err="1">
                <a:solidFill>
                  <a:schemeClr val="dk1"/>
                </a:solidFill>
              </a:rPr>
              <a:t>bring</a:t>
            </a:r>
            <a:r>
              <a:rPr lang="it" sz="1300">
                <a:solidFill>
                  <a:schemeClr val="dk1"/>
                </a:solidFill>
              </a:rPr>
              <a:t> </a:t>
            </a:r>
            <a:r>
              <a:rPr lang="it" sz="1300" err="1">
                <a:solidFill>
                  <a:schemeClr val="dk1"/>
                </a:solidFill>
              </a:rPr>
              <a:t>EzAccount</a:t>
            </a:r>
            <a:r>
              <a:rPr lang="it" sz="1300">
                <a:solidFill>
                  <a:schemeClr val="dk1"/>
                </a:solidFill>
              </a:rPr>
              <a:t>, </a:t>
            </a:r>
            <a:r>
              <a:rPr lang="it" sz="1300" err="1">
                <a:solidFill>
                  <a:schemeClr val="dk1"/>
                </a:solidFill>
              </a:rPr>
              <a:t>according</a:t>
            </a:r>
            <a:r>
              <a:rPr lang="it" sz="1300">
                <a:solidFill>
                  <a:schemeClr val="dk1"/>
                </a:solidFill>
              </a:rPr>
              <a:t> to the NIST framework, from </a:t>
            </a:r>
            <a:r>
              <a:rPr lang="it" sz="1300" err="1">
                <a:solidFill>
                  <a:schemeClr val="dk1"/>
                </a:solidFill>
              </a:rPr>
              <a:t>tier</a:t>
            </a:r>
            <a:r>
              <a:rPr lang="it" sz="1300">
                <a:solidFill>
                  <a:schemeClr val="dk1"/>
                </a:solidFill>
              </a:rPr>
              <a:t> 1 to </a:t>
            </a:r>
            <a:r>
              <a:rPr lang="it" sz="1300" err="1">
                <a:solidFill>
                  <a:schemeClr val="dk1"/>
                </a:solidFill>
              </a:rPr>
              <a:t>tier</a:t>
            </a:r>
            <a:r>
              <a:rPr lang="it" sz="1300">
                <a:solidFill>
                  <a:schemeClr val="dk1"/>
                </a:solidFill>
              </a:rPr>
              <a:t> 2. </a:t>
            </a:r>
            <a:r>
              <a:rPr lang="it" sz="1300" err="1">
                <a:solidFill>
                  <a:schemeClr val="dk1"/>
                </a:solidFill>
              </a:rPr>
              <a:t>This</a:t>
            </a:r>
            <a:r>
              <a:rPr lang="it" sz="1300">
                <a:solidFill>
                  <a:schemeClr val="dk1"/>
                </a:solidFill>
              </a:rPr>
              <a:t> </a:t>
            </a:r>
            <a:r>
              <a:rPr lang="it" sz="1300" err="1">
                <a:solidFill>
                  <a:schemeClr val="dk1"/>
                </a:solidFill>
              </a:rPr>
              <a:t>is</a:t>
            </a:r>
            <a:r>
              <a:rPr lang="it" sz="1300">
                <a:solidFill>
                  <a:schemeClr val="dk1"/>
                </a:solidFill>
              </a:rPr>
              <a:t> a </a:t>
            </a:r>
            <a:r>
              <a:rPr lang="it" sz="1300" err="1">
                <a:solidFill>
                  <a:schemeClr val="dk1"/>
                </a:solidFill>
              </a:rPr>
              <a:t>noticeable</a:t>
            </a:r>
            <a:r>
              <a:rPr lang="it" sz="1300">
                <a:solidFill>
                  <a:schemeClr val="dk1"/>
                </a:solidFill>
              </a:rPr>
              <a:t> </a:t>
            </a:r>
            <a:r>
              <a:rPr lang="it" sz="1300" err="1">
                <a:solidFill>
                  <a:schemeClr val="dk1"/>
                </a:solidFill>
              </a:rPr>
              <a:t>improvement</a:t>
            </a:r>
            <a:r>
              <a:rPr lang="it" sz="1300">
                <a:solidFill>
                  <a:schemeClr val="dk1"/>
                </a:solidFill>
              </a:rPr>
              <a:t> </a:t>
            </a:r>
            <a:r>
              <a:rPr lang="it" sz="1300" err="1">
                <a:solidFill>
                  <a:schemeClr val="dk1"/>
                </a:solidFill>
              </a:rPr>
              <a:t>that</a:t>
            </a:r>
            <a:r>
              <a:rPr lang="it" sz="1300">
                <a:solidFill>
                  <a:schemeClr val="dk1"/>
                </a:solidFill>
              </a:rPr>
              <a:t> </a:t>
            </a:r>
            <a:r>
              <a:rPr lang="it" sz="1300" err="1">
                <a:solidFill>
                  <a:schemeClr val="dk1"/>
                </a:solidFill>
              </a:rPr>
              <a:t>allows</a:t>
            </a:r>
            <a:r>
              <a:rPr lang="it" sz="1300">
                <a:solidFill>
                  <a:schemeClr val="dk1"/>
                </a:solidFill>
              </a:rPr>
              <a:t> the company to </a:t>
            </a:r>
            <a:r>
              <a:rPr lang="it" sz="1300" err="1">
                <a:solidFill>
                  <a:schemeClr val="dk1"/>
                </a:solidFill>
              </a:rPr>
              <a:t>resist</a:t>
            </a:r>
            <a:r>
              <a:rPr lang="it" sz="1300">
                <a:solidFill>
                  <a:schemeClr val="dk1"/>
                </a:solidFill>
              </a:rPr>
              <a:t> the </a:t>
            </a:r>
            <a:r>
              <a:rPr lang="it" sz="1300" err="1">
                <a:solidFill>
                  <a:schemeClr val="dk1"/>
                </a:solidFill>
              </a:rPr>
              <a:t>most</a:t>
            </a:r>
            <a:r>
              <a:rPr lang="it" sz="1300">
                <a:solidFill>
                  <a:schemeClr val="dk1"/>
                </a:solidFill>
              </a:rPr>
              <a:t> common </a:t>
            </a:r>
            <a:r>
              <a:rPr lang="it" sz="1300" err="1">
                <a:solidFill>
                  <a:schemeClr val="dk1"/>
                </a:solidFill>
              </a:rPr>
              <a:t>threats</a:t>
            </a:r>
            <a:r>
              <a:rPr lang="it" sz="1300">
                <a:solidFill>
                  <a:schemeClr val="dk1"/>
                </a:solidFill>
              </a:rPr>
              <a:t> like data </a:t>
            </a:r>
            <a:r>
              <a:rPr lang="it" sz="1300" err="1">
                <a:solidFill>
                  <a:schemeClr val="dk1"/>
                </a:solidFill>
              </a:rPr>
              <a:t>breaches</a:t>
            </a:r>
            <a:r>
              <a:rPr lang="it" sz="1300">
                <a:solidFill>
                  <a:schemeClr val="dk1"/>
                </a:solidFill>
              </a:rPr>
              <a:t>, ransomware and malware, data leakage, </a:t>
            </a:r>
            <a:r>
              <a:rPr lang="it" sz="1300" err="1">
                <a:solidFill>
                  <a:schemeClr val="dk1"/>
                </a:solidFill>
              </a:rPr>
              <a:t>unauthorized</a:t>
            </a:r>
            <a:r>
              <a:rPr lang="it" sz="1300">
                <a:solidFill>
                  <a:schemeClr val="dk1"/>
                </a:solidFill>
              </a:rPr>
              <a:t> remote accesses and </a:t>
            </a:r>
            <a:r>
              <a:rPr lang="it" sz="1300" err="1">
                <a:solidFill>
                  <a:schemeClr val="dk1"/>
                </a:solidFill>
              </a:rPr>
              <a:t>consequent</a:t>
            </a:r>
            <a:r>
              <a:rPr lang="it" sz="1300">
                <a:solidFill>
                  <a:schemeClr val="dk1"/>
                </a:solidFill>
              </a:rPr>
              <a:t> </a:t>
            </a:r>
            <a:r>
              <a:rPr lang="it" sz="1300" err="1">
                <a:solidFill>
                  <a:schemeClr val="dk1"/>
                </a:solidFill>
              </a:rPr>
              <a:t>losses</a:t>
            </a:r>
            <a:r>
              <a:rPr lang="it" sz="1300">
                <a:solidFill>
                  <a:schemeClr val="dk1"/>
                </a:solidFill>
              </a:rPr>
              <a:t> of </a:t>
            </a:r>
            <a:r>
              <a:rPr lang="it" sz="1300" err="1">
                <a:solidFill>
                  <a:schemeClr val="dk1"/>
                </a:solidFill>
              </a:rPr>
              <a:t>confidentiality</a:t>
            </a:r>
            <a:r>
              <a:rPr lang="it" sz="1300">
                <a:solidFill>
                  <a:schemeClr val="dk1"/>
                </a:solidFill>
              </a:rPr>
              <a:t>, </a:t>
            </a:r>
            <a:r>
              <a:rPr lang="it" sz="1300" err="1">
                <a:solidFill>
                  <a:schemeClr val="dk1"/>
                </a:solidFill>
              </a:rPr>
              <a:t>integrity</a:t>
            </a:r>
            <a:r>
              <a:rPr lang="it" sz="1300">
                <a:solidFill>
                  <a:schemeClr val="dk1"/>
                </a:solidFill>
              </a:rPr>
              <a:t> and </a:t>
            </a:r>
            <a:r>
              <a:rPr lang="it" sz="1300" err="1">
                <a:solidFill>
                  <a:schemeClr val="dk1"/>
                </a:solidFill>
              </a:rPr>
              <a:t>availability</a:t>
            </a:r>
            <a:r>
              <a:rPr lang="it" sz="1300">
                <a:solidFill>
                  <a:schemeClr val="dk1"/>
                </a:solidFill>
              </a:rPr>
              <a:t> of the data and the service </a:t>
            </a:r>
            <a:r>
              <a:rPr lang="it" sz="1300" err="1">
                <a:solidFill>
                  <a:schemeClr val="dk1"/>
                </a:solidFill>
              </a:rPr>
              <a:t>offered</a:t>
            </a:r>
            <a:r>
              <a:rPr lang="it" sz="1300">
                <a:solidFill>
                  <a:schemeClr val="dk1"/>
                </a:solidFill>
              </a:rPr>
              <a:t>, </a:t>
            </a:r>
            <a:r>
              <a:rPr lang="it" sz="1300" err="1">
                <a:solidFill>
                  <a:schemeClr val="dk1"/>
                </a:solidFill>
              </a:rPr>
              <a:t>aligning</a:t>
            </a:r>
            <a:r>
              <a:rPr lang="it" sz="1300">
                <a:solidFill>
                  <a:schemeClr val="dk1"/>
                </a:solidFill>
              </a:rPr>
              <a:t> </a:t>
            </a:r>
            <a:r>
              <a:rPr lang="it" sz="1300" err="1">
                <a:solidFill>
                  <a:schemeClr val="dk1"/>
                </a:solidFill>
              </a:rPr>
              <a:t>all</a:t>
            </a:r>
            <a:r>
              <a:rPr lang="it" sz="1300">
                <a:solidFill>
                  <a:schemeClr val="dk1"/>
                </a:solidFill>
              </a:rPr>
              <a:t> with a new business </a:t>
            </a:r>
            <a:r>
              <a:rPr lang="it" sz="1300" err="1">
                <a:solidFill>
                  <a:schemeClr val="dk1"/>
                </a:solidFill>
              </a:rPr>
              <a:t>continuity</a:t>
            </a:r>
            <a:r>
              <a:rPr lang="it" sz="1300">
                <a:solidFill>
                  <a:schemeClr val="dk1"/>
                </a:solidFill>
              </a:rPr>
              <a:t>, </a:t>
            </a:r>
            <a:r>
              <a:rPr lang="it" sz="1300" err="1">
                <a:solidFill>
                  <a:schemeClr val="dk1"/>
                </a:solidFill>
              </a:rPr>
              <a:t>incident</a:t>
            </a:r>
            <a:r>
              <a:rPr lang="it" sz="1300">
                <a:solidFill>
                  <a:schemeClr val="dk1"/>
                </a:solidFill>
              </a:rPr>
              <a:t> </a:t>
            </a:r>
            <a:r>
              <a:rPr lang="it" sz="1300" err="1">
                <a:solidFill>
                  <a:schemeClr val="dk1"/>
                </a:solidFill>
              </a:rPr>
              <a:t>response</a:t>
            </a:r>
            <a:r>
              <a:rPr lang="it" sz="1300">
                <a:solidFill>
                  <a:schemeClr val="dk1"/>
                </a:solidFill>
              </a:rPr>
              <a:t> and recovery plan.</a:t>
            </a:r>
            <a:endParaRPr lang="it-IT" sz="1300">
              <a:solidFill>
                <a:schemeClr val="dk1"/>
              </a:solidFill>
            </a:endParaRPr>
          </a:p>
          <a:p>
            <a:pPr marL="0" lvl="0" indent="0" algn="l" rtl="0">
              <a:lnSpc>
                <a:spcPct val="115000"/>
              </a:lnSpc>
              <a:spcBef>
                <a:spcPts val="0"/>
              </a:spcBef>
              <a:spcAft>
                <a:spcPts val="0"/>
              </a:spcAft>
              <a:buNone/>
            </a:pPr>
            <a:endParaRPr>
              <a:solidFill>
                <a:schemeClr val="dk1"/>
              </a:solidFill>
              <a:highlight>
                <a:srgbClr val="FFFFFF"/>
              </a:highlight>
            </a:endParaRPr>
          </a:p>
          <a:p>
            <a:pPr marL="0" lvl="0" indent="0" algn="just"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101885ed03f_0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101885ed03f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Here add description off all day activities and initial component to be bought </a:t>
            </a:r>
            <a:endParaRPr/>
          </a:p>
          <a:p>
            <a:pPr marL="0" lvl="0" indent="0" algn="l" rtl="0">
              <a:spcBef>
                <a:spcPts val="0"/>
              </a:spcBef>
              <a:spcAft>
                <a:spcPts val="0"/>
              </a:spcAft>
              <a:buNone/>
            </a:pPr>
            <a:r>
              <a:rPr lang="it"/>
              <a:t>All activitieswill be performed internally</a:t>
            </a:r>
            <a:endParaRPr/>
          </a:p>
          <a:p>
            <a:pPr marL="0" lvl="0" indent="0" algn="l" rtl="0">
              <a:spcBef>
                <a:spcPts val="0"/>
              </a:spcBef>
              <a:spcAft>
                <a:spcPts val="0"/>
              </a:spcAft>
              <a:buNone/>
            </a:pPr>
            <a:r>
              <a:rPr lang="it"/>
              <a:t>&lt;describe and comment each item&gt;</a:t>
            </a:r>
            <a:endParaRPr/>
          </a:p>
          <a:p>
            <a:pPr marL="0" lvl="0" indent="0" algn="l" rtl="0">
              <a:spcBef>
                <a:spcPts val="0"/>
              </a:spcBef>
              <a:spcAft>
                <a:spcPts val="0"/>
              </a:spcAft>
              <a:buNone/>
            </a:pPr>
            <a:r>
              <a:rPr lang="it"/>
              <a:t>hihlight byod, vlan and secure cabinet among the others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0359481395_8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10359481395_8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like all the safety and security system we need to Perform a continues maintenance</a:t>
            </a:r>
            <a:endParaRPr/>
          </a:p>
          <a:p>
            <a:pPr marL="0" lvl="0" indent="0" algn="l" rtl="0">
              <a:spcBef>
                <a:spcPts val="0"/>
              </a:spcBef>
              <a:spcAft>
                <a:spcPts val="0"/>
              </a:spcAft>
              <a:buNone/>
            </a:pPr>
            <a:r>
              <a:rPr lang="it"/>
              <a:t>we are planning to spend 8 hours per year in order to maintenace software, policies and recovery procedures.</a:t>
            </a:r>
            <a:endParaRPr/>
          </a:p>
          <a:p>
            <a:pPr marL="0" lvl="0" indent="0" algn="l" rtl="0">
              <a:spcBef>
                <a:spcPts val="0"/>
              </a:spcBef>
              <a:spcAft>
                <a:spcPts val="0"/>
              </a:spcAft>
              <a:buNone/>
            </a:pPr>
            <a:r>
              <a:rPr lang="it"/>
              <a:t>&lt;describe &amp; comment each item&gt;</a:t>
            </a:r>
            <a:endParaRPr/>
          </a:p>
          <a:p>
            <a:pPr marL="0" lvl="0" indent="0" algn="l" rtl="0">
              <a:spcBef>
                <a:spcPts val="0"/>
              </a:spcBef>
              <a:spcAft>
                <a:spcPts val="0"/>
              </a:spcAft>
              <a:buNone/>
            </a:pPr>
            <a:r>
              <a:rPr lang="it"/>
              <a:t>&lt;highlight emergency contact list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03132db77b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03132db77b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it">
                <a:solidFill>
                  <a:schemeClr val="dk1"/>
                </a:solidFill>
              </a:rPr>
              <a:t>Accountants' offices are locations that contain private information that could harm customers if it became public or lost. Changes to the cybersecurity location may allow for greater confidentiality and availability of these critical resources to authorized employees of the accounting firm. In this project, various areas are highlighted where the organization's cybersecurity can be improved. Improving cybersecurity in these areas will reduce the likelihood of the accounting firm experiencing cyberattacks and improve the firm's ability to respond to and recover from an incident. It is estimated that approximately 70 hours of consultancy by a cybersecurity specialist and an initial investment of </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it">
                <a:solidFill>
                  <a:schemeClr val="dk1"/>
                </a:solidFill>
              </a:rPr>
              <a:t>€ 18,838 will be required.</a:t>
            </a:r>
            <a:endParaRPr>
              <a:solidFill>
                <a:schemeClr val="dk1"/>
              </a:solidFill>
            </a:endParaRPr>
          </a:p>
          <a:p>
            <a:pPr marL="0" lvl="0" indent="0" algn="just" rtl="0">
              <a:lnSpc>
                <a:spcPct val="115000"/>
              </a:lnSpc>
              <a:spcBef>
                <a:spcPts val="0"/>
              </a:spcBef>
              <a:spcAft>
                <a:spcPts val="1200"/>
              </a:spcAft>
              <a:buClr>
                <a:schemeClr val="dk1"/>
              </a:buClr>
              <a:buSzPts val="1100"/>
              <a:buFont typeface="Arial"/>
              <a:buNone/>
            </a:pP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01885ed03f_0_6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01885ed03f_0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5dc54b98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05dc54b98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6028/NIST.CSWP.04162018"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jpeg"/><Relationship Id="rId5" Type="http://schemas.openxmlformats.org/officeDocument/2006/relationships/hyperlink" Target="https://www.irs.gov/compliance/criminal-investigation/irs-warns-about-covid-19-economic-impact-payment-fraud" TargetMode="External"/><Relationship Id="rId4" Type="http://schemas.openxmlformats.org/officeDocument/2006/relationships/hyperlink" Target="https://doi.org/10.1080/17517575.2021"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0" cy="5143500"/>
          </a:xfrm>
          <a:prstGeom prst="rect">
            <a:avLst/>
          </a:prstGeom>
          <a:noFill/>
          <a:ln>
            <a:noFill/>
          </a:ln>
        </p:spPr>
      </p:pic>
      <p:sp>
        <p:nvSpPr>
          <p:cNvPr id="55" name="Google Shape;55;p13"/>
          <p:cNvSpPr txBox="1">
            <a:spLocks noGrp="1"/>
          </p:cNvSpPr>
          <p:nvPr>
            <p:ph type="ctrTitle"/>
          </p:nvPr>
        </p:nvSpPr>
        <p:spPr>
          <a:xfrm>
            <a:off x="601325" y="767600"/>
            <a:ext cx="3991500" cy="2863500"/>
          </a:xfrm>
          <a:prstGeom prst="rect">
            <a:avLst/>
          </a:prstGeom>
          <a:solidFill>
            <a:srgbClr val="000000">
              <a:alpha val="45100"/>
            </a:srgbClr>
          </a:solidFill>
        </p:spPr>
        <p:txBody>
          <a:bodyPr spcFirstLastPara="1" wrap="square" lIns="91425" tIns="91425" rIns="91425" bIns="91425" anchor="ctr" anchorCtr="0">
            <a:noAutofit/>
          </a:bodyPr>
          <a:lstStyle/>
          <a:p>
            <a:pPr marL="0" lvl="0" indent="0" algn="l" rtl="0">
              <a:spcBef>
                <a:spcPts val="0"/>
              </a:spcBef>
              <a:spcAft>
                <a:spcPts val="0"/>
              </a:spcAft>
              <a:buSzPts val="990"/>
              <a:buNone/>
            </a:pPr>
            <a:r>
              <a:rPr lang="it" sz="2990" b="1">
                <a:solidFill>
                  <a:schemeClr val="lt1"/>
                </a:solidFill>
              </a:rPr>
              <a:t>ezAccount</a:t>
            </a:r>
            <a:endParaRPr sz="2990" b="1">
              <a:solidFill>
                <a:schemeClr val="lt1"/>
              </a:solidFill>
            </a:endParaRPr>
          </a:p>
          <a:p>
            <a:pPr marL="0" lvl="0" indent="0" algn="l" rtl="0">
              <a:spcBef>
                <a:spcPts val="0"/>
              </a:spcBef>
              <a:spcAft>
                <a:spcPts val="0"/>
              </a:spcAft>
              <a:buSzPts val="990"/>
              <a:buNone/>
            </a:pPr>
            <a:r>
              <a:rPr lang="it" sz="2990">
                <a:solidFill>
                  <a:schemeClr val="lt1"/>
                </a:solidFill>
              </a:rPr>
              <a:t>Improving network security in a tax accountant office</a:t>
            </a:r>
            <a:endParaRPr sz="2990">
              <a:solidFill>
                <a:schemeClr val="lt1"/>
              </a:solidFill>
            </a:endParaRPr>
          </a:p>
        </p:txBody>
      </p:sp>
      <p:sp>
        <p:nvSpPr>
          <p:cNvPr id="56" name="Google Shape;56;p13"/>
          <p:cNvSpPr txBox="1"/>
          <p:nvPr/>
        </p:nvSpPr>
        <p:spPr>
          <a:xfrm>
            <a:off x="0" y="4444750"/>
            <a:ext cx="9144000" cy="391500"/>
          </a:xfrm>
          <a:prstGeom prst="rect">
            <a:avLst/>
          </a:prstGeom>
          <a:solidFill>
            <a:srgbClr val="000000">
              <a:alpha val="45100"/>
            </a:srgbClr>
          </a:solid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1200"/>
              </a:spcAft>
              <a:buNone/>
            </a:pPr>
            <a:r>
              <a:rPr lang="it" sz="1300">
                <a:solidFill>
                  <a:srgbClr val="FFFFFF"/>
                </a:solidFill>
                <a:latin typeface="Lato"/>
                <a:ea typeface="Lato"/>
                <a:cs typeface="Lato"/>
                <a:sym typeface="Lato"/>
              </a:rPr>
              <a:t>Emanuele</a:t>
            </a:r>
            <a:r>
              <a:rPr lang="it" sz="1300" b="1">
                <a:solidFill>
                  <a:srgbClr val="FFFFFF"/>
                </a:solidFill>
                <a:latin typeface="Lato"/>
                <a:ea typeface="Lato"/>
                <a:cs typeface="Lato"/>
                <a:sym typeface="Lato"/>
              </a:rPr>
              <a:t> Urselli </a:t>
            </a:r>
            <a:r>
              <a:rPr lang="it" sz="1300" b="1">
                <a:solidFill>
                  <a:srgbClr val="FFFFFF"/>
                </a:solidFill>
              </a:rPr>
              <a:t>• </a:t>
            </a:r>
            <a:r>
              <a:rPr lang="it" sz="1300">
                <a:solidFill>
                  <a:srgbClr val="FFFFFF"/>
                </a:solidFill>
                <a:latin typeface="Lato"/>
                <a:ea typeface="Lato"/>
                <a:cs typeface="Lato"/>
                <a:sym typeface="Lato"/>
              </a:rPr>
              <a:t>Gianmarco</a:t>
            </a:r>
            <a:r>
              <a:rPr lang="it" sz="1300" b="1">
                <a:solidFill>
                  <a:srgbClr val="FFFFFF"/>
                </a:solidFill>
                <a:latin typeface="Lato"/>
                <a:ea typeface="Lato"/>
                <a:cs typeface="Lato"/>
                <a:sym typeface="Lato"/>
              </a:rPr>
              <a:t> Pastore </a:t>
            </a:r>
            <a:r>
              <a:rPr lang="it" sz="1300" b="1">
                <a:solidFill>
                  <a:srgbClr val="FFFFFF"/>
                </a:solidFill>
              </a:rPr>
              <a:t>• </a:t>
            </a:r>
            <a:r>
              <a:rPr lang="it" sz="1300">
                <a:solidFill>
                  <a:srgbClr val="FFFFFF"/>
                </a:solidFill>
                <a:latin typeface="Lato"/>
                <a:ea typeface="Lato"/>
                <a:cs typeface="Lato"/>
                <a:sym typeface="Lato"/>
              </a:rPr>
              <a:t>Alessandro</a:t>
            </a:r>
            <a:r>
              <a:rPr lang="it" sz="1300" b="1">
                <a:solidFill>
                  <a:srgbClr val="FFFFFF"/>
                </a:solidFill>
                <a:latin typeface="Lato"/>
                <a:ea typeface="Lato"/>
                <a:cs typeface="Lato"/>
                <a:sym typeface="Lato"/>
              </a:rPr>
              <a:t> Zanatta </a:t>
            </a:r>
            <a:r>
              <a:rPr lang="it" sz="1300" b="1">
                <a:solidFill>
                  <a:srgbClr val="FFFFFF"/>
                </a:solidFill>
              </a:rPr>
              <a:t>• </a:t>
            </a:r>
            <a:r>
              <a:rPr lang="it" sz="1300">
                <a:solidFill>
                  <a:srgbClr val="FFFFFF"/>
                </a:solidFill>
                <a:latin typeface="Lato"/>
                <a:ea typeface="Lato"/>
                <a:cs typeface="Lato"/>
                <a:sym typeface="Lato"/>
              </a:rPr>
              <a:t>Sergio</a:t>
            </a:r>
            <a:r>
              <a:rPr lang="it" sz="1300" b="1">
                <a:solidFill>
                  <a:srgbClr val="FFFFFF"/>
                </a:solidFill>
                <a:latin typeface="Lato"/>
                <a:ea typeface="Lato"/>
                <a:cs typeface="Lato"/>
                <a:sym typeface="Lato"/>
              </a:rPr>
              <a:t> Parigi </a:t>
            </a:r>
            <a:r>
              <a:rPr lang="it" sz="1300" b="1">
                <a:solidFill>
                  <a:srgbClr val="FFFFFF"/>
                </a:solidFill>
              </a:rPr>
              <a:t>• </a:t>
            </a:r>
            <a:r>
              <a:rPr lang="it" sz="1300">
                <a:solidFill>
                  <a:srgbClr val="FFFFFF"/>
                </a:solidFill>
                <a:latin typeface="Lato"/>
                <a:ea typeface="Lato"/>
                <a:cs typeface="Lato"/>
                <a:sym typeface="Lato"/>
              </a:rPr>
              <a:t>Andre</a:t>
            </a:r>
            <a:r>
              <a:rPr lang="it" sz="1300" b="1">
                <a:solidFill>
                  <a:srgbClr val="FFFFFF"/>
                </a:solidFill>
                <a:latin typeface="Lato"/>
                <a:ea typeface="Lato"/>
                <a:cs typeface="Lato"/>
                <a:sym typeface="Lato"/>
              </a:rPr>
              <a:t>a Vergori</a:t>
            </a:r>
            <a:endParaRPr sz="1300" b="1">
              <a:solidFill>
                <a:srgbClr val="FFFFFF"/>
              </a:solidFill>
              <a:latin typeface="Lato"/>
              <a:ea typeface="Lato"/>
              <a:cs typeface="Lato"/>
              <a:sym typeface="Lato"/>
            </a:endParaRPr>
          </a:p>
        </p:txBody>
      </p:sp>
      <p:sp>
        <p:nvSpPr>
          <p:cNvPr id="57" name="Google Shape;57;p13"/>
          <p:cNvSpPr txBox="1">
            <a:spLocks noGrp="1"/>
          </p:cNvSpPr>
          <p:nvPr>
            <p:ph type="ctrTitle"/>
          </p:nvPr>
        </p:nvSpPr>
        <p:spPr>
          <a:xfrm>
            <a:off x="4592825" y="1170000"/>
            <a:ext cx="3991500" cy="2070000"/>
          </a:xfrm>
          <a:prstGeom prst="rect">
            <a:avLst/>
          </a:prstGeom>
          <a:noFill/>
        </p:spPr>
        <p:txBody>
          <a:bodyPr spcFirstLastPara="1" wrap="square" lIns="91425" tIns="91425" rIns="91425" bIns="91425" anchor="t" anchorCtr="0">
            <a:normAutofit fontScale="90000"/>
          </a:bodyPr>
          <a:lstStyle/>
          <a:p>
            <a:pPr marL="0" lvl="0" indent="0" algn="r" rtl="0">
              <a:spcBef>
                <a:spcPts val="0"/>
              </a:spcBef>
              <a:spcAft>
                <a:spcPts val="0"/>
              </a:spcAft>
              <a:buNone/>
            </a:pPr>
            <a:r>
              <a:rPr lang="it" sz="1900" b="1">
                <a:solidFill>
                  <a:schemeClr val="lt1"/>
                </a:solidFill>
              </a:rPr>
              <a:t>RISK MANAGEMENT &amp;</a:t>
            </a:r>
            <a:br>
              <a:rPr lang="it" sz="1900" b="1">
                <a:solidFill>
                  <a:schemeClr val="lt1"/>
                </a:solidFill>
              </a:rPr>
            </a:br>
            <a:r>
              <a:rPr lang="it" sz="1900" b="1">
                <a:solidFill>
                  <a:schemeClr val="lt1"/>
                </a:solidFill>
              </a:rPr>
              <a:t>NETWORK SECURITY</a:t>
            </a:r>
            <a:br>
              <a:rPr lang="it" sz="1900" b="1">
                <a:solidFill>
                  <a:schemeClr val="lt1"/>
                </a:solidFill>
              </a:rPr>
            </a:br>
            <a:r>
              <a:rPr lang="it" sz="1900" b="1">
                <a:solidFill>
                  <a:schemeClr val="lt1"/>
                </a:solidFill>
              </a:rPr>
              <a:t>ANALYSIS</a:t>
            </a:r>
            <a:endParaRPr sz="1900" b="1">
              <a:solidFill>
                <a:schemeClr val="lt1"/>
              </a:solidFill>
            </a:endParaRPr>
          </a:p>
          <a:p>
            <a:pPr marL="0" lvl="0" indent="0" algn="l" rtl="0">
              <a:spcBef>
                <a:spcPts val="0"/>
              </a:spcBef>
              <a:spcAft>
                <a:spcPts val="0"/>
              </a:spcAft>
              <a:buNone/>
            </a:pPr>
            <a:endParaRPr sz="1900" b="1">
              <a:solidFill>
                <a:schemeClr val="lt1"/>
              </a:solidFill>
            </a:endParaRPr>
          </a:p>
          <a:p>
            <a:pPr marL="0" lvl="0" indent="0" algn="r" rtl="0">
              <a:spcBef>
                <a:spcPts val="0"/>
              </a:spcBef>
              <a:spcAft>
                <a:spcPts val="0"/>
              </a:spcAft>
              <a:buNone/>
            </a:pPr>
            <a:endParaRPr sz="1900" b="1">
              <a:solidFill>
                <a:schemeClr val="lt1"/>
              </a:solidFill>
            </a:endParaRPr>
          </a:p>
          <a:p>
            <a:pPr marL="0" lvl="0" indent="0" algn="r" rtl="0">
              <a:spcBef>
                <a:spcPts val="0"/>
              </a:spcBef>
              <a:spcAft>
                <a:spcPts val="0"/>
              </a:spcAft>
              <a:buNone/>
            </a:pPr>
            <a:r>
              <a:rPr lang="it" sz="1900" b="1">
                <a:solidFill>
                  <a:schemeClr val="lt1"/>
                </a:solidFill>
              </a:rPr>
              <a:t>PREPARED FOR</a:t>
            </a:r>
            <a:endParaRPr sz="1900" b="1">
              <a:solidFill>
                <a:schemeClr val="lt1"/>
              </a:solidFill>
            </a:endParaRPr>
          </a:p>
          <a:p>
            <a:pPr marL="0" lvl="0" indent="0" algn="r" rtl="0">
              <a:spcBef>
                <a:spcPts val="0"/>
              </a:spcBef>
              <a:spcAft>
                <a:spcPts val="0"/>
              </a:spcAft>
              <a:buNone/>
            </a:pPr>
            <a:r>
              <a:rPr lang="it" sz="1900" b="1">
                <a:highlight>
                  <a:schemeClr val="lt1"/>
                </a:highlight>
              </a:rPr>
              <a:t>Family-run accountancy firm</a:t>
            </a:r>
            <a:endParaRPr sz="1900" b="1">
              <a:highlight>
                <a:schemeClr val="lt1"/>
              </a:highlight>
            </a:endParaRPr>
          </a:p>
        </p:txBody>
      </p:sp>
      <p:sp>
        <p:nvSpPr>
          <p:cNvPr id="58" name="Google Shape;58;p13"/>
          <p:cNvSpPr txBox="1"/>
          <p:nvPr/>
        </p:nvSpPr>
        <p:spPr>
          <a:xfrm>
            <a:off x="0" y="3997500"/>
            <a:ext cx="9144000" cy="391500"/>
          </a:xfrm>
          <a:prstGeom prst="rect">
            <a:avLst/>
          </a:prstGeom>
          <a:solidFill>
            <a:srgbClr val="000000">
              <a:alpha val="45100"/>
            </a:srgbClr>
          </a:solid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1200"/>
              </a:spcAft>
              <a:buNone/>
            </a:pPr>
            <a:r>
              <a:rPr lang="it" sz="1300">
                <a:solidFill>
                  <a:srgbClr val="FFFFFF"/>
                </a:solidFill>
                <a:latin typeface="Lato"/>
                <a:ea typeface="Lato"/>
                <a:cs typeface="Lato"/>
                <a:sym typeface="Lato"/>
              </a:rPr>
              <a:t>Yair</a:t>
            </a:r>
            <a:r>
              <a:rPr lang="it" sz="1300" b="1">
                <a:solidFill>
                  <a:srgbClr val="FFFFFF"/>
                </a:solidFill>
                <a:latin typeface="Lato"/>
                <a:ea typeface="Lato"/>
                <a:cs typeface="Lato"/>
                <a:sym typeface="Lato"/>
              </a:rPr>
              <a:t> Levy </a:t>
            </a:r>
            <a:r>
              <a:rPr lang="it" sz="1300" b="1">
                <a:solidFill>
                  <a:schemeClr val="lt1"/>
                </a:solidFill>
                <a:latin typeface="Lato"/>
                <a:ea typeface="Lato"/>
                <a:cs typeface="Lato"/>
                <a:sym typeface="Lato"/>
              </a:rPr>
              <a:t> </a:t>
            </a:r>
            <a:r>
              <a:rPr lang="it" sz="1300" b="1">
                <a:solidFill>
                  <a:schemeClr val="lt1"/>
                </a:solidFill>
              </a:rPr>
              <a:t>• </a:t>
            </a:r>
            <a:r>
              <a:rPr lang="it" sz="1300">
                <a:solidFill>
                  <a:srgbClr val="FFFFFF"/>
                </a:solidFill>
                <a:latin typeface="Lato"/>
                <a:ea typeface="Lato"/>
                <a:cs typeface="Lato"/>
                <a:sym typeface="Lato"/>
              </a:rPr>
              <a:t>Federico</a:t>
            </a:r>
            <a:r>
              <a:rPr lang="it" sz="1300" b="1">
                <a:solidFill>
                  <a:srgbClr val="FFFFFF"/>
                </a:solidFill>
                <a:latin typeface="Lato"/>
                <a:ea typeface="Lato"/>
                <a:cs typeface="Lato"/>
                <a:sym typeface="Lato"/>
              </a:rPr>
              <a:t> Niccolini</a:t>
            </a:r>
            <a:endParaRPr sz="1300" b="1">
              <a:solidFill>
                <a:srgbClr val="FFFFF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64" name="Google Shape;64;p14"/>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65" name="Google Shape;65;p14"/>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66" name="Google Shape;66;p14"/>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Introduction</a:t>
            </a:r>
            <a:endParaRPr sz="1600" b="1">
              <a:solidFill>
                <a:schemeClr val="lt1"/>
              </a:solidFill>
            </a:endParaRPr>
          </a:p>
        </p:txBody>
      </p:sp>
      <p:graphicFrame>
        <p:nvGraphicFramePr>
          <p:cNvPr id="67" name="Google Shape;67;p14"/>
          <p:cNvGraphicFramePr/>
          <p:nvPr>
            <p:extLst>
              <p:ext uri="{D42A27DB-BD31-4B8C-83A1-F6EECF244321}">
                <p14:modId xmlns:p14="http://schemas.microsoft.com/office/powerpoint/2010/main" val="3730220173"/>
              </p:ext>
            </p:extLst>
          </p:nvPr>
        </p:nvGraphicFramePr>
        <p:xfrm>
          <a:off x="311700" y="1131583"/>
          <a:ext cx="8520600" cy="819598"/>
        </p:xfrm>
        <a:graphic>
          <a:graphicData uri="http://schemas.openxmlformats.org/drawingml/2006/table">
            <a:tbl>
              <a:tblPr>
                <a:noFill/>
                <a:tableStyleId>{4D11C929-2CF1-41A9-A7A1-38CD1D5D44DC}</a:tableStyleId>
              </a:tblPr>
              <a:tblGrid>
                <a:gridCol w="85206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it" b="1">
                          <a:solidFill>
                            <a:srgbClr val="FFFFFF"/>
                          </a:solidFill>
                        </a:rPr>
                        <a:t>Objectives</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381000">
                <a:tc>
                  <a:txBody>
                    <a:bodyPr/>
                    <a:lstStyle/>
                    <a:p>
                      <a:pPr marL="0" lvl="0" indent="0" algn="just" rtl="0">
                        <a:lnSpc>
                          <a:spcPct val="115000"/>
                        </a:lnSpc>
                        <a:spcBef>
                          <a:spcPts val="0"/>
                        </a:spcBef>
                        <a:spcAft>
                          <a:spcPts val="0"/>
                        </a:spcAft>
                        <a:buClr>
                          <a:schemeClr val="dk1"/>
                        </a:buClr>
                        <a:buSzPts val="1100"/>
                        <a:buFont typeface="Arial"/>
                        <a:buNone/>
                      </a:pPr>
                      <a:r>
                        <a:rPr lang="it" sz="1500"/>
                        <a:t>Mitigate cybersecurity risks and improve the overall security of a tax accountant firm, ezAccount</a:t>
                      </a:r>
                      <a:endParaRPr sz="1100"/>
                    </a:p>
                  </a:txBody>
                  <a:tcPr marL="91425" marR="91425" marT="91425" marB="91425">
                    <a:solidFill>
                      <a:srgbClr val="CCCCCC"/>
                    </a:solidFill>
                  </a:tcPr>
                </a:tc>
                <a:extLst>
                  <a:ext uri="{0D108BD9-81ED-4DB2-BD59-A6C34878D82A}">
                    <a16:rowId xmlns:a16="http://schemas.microsoft.com/office/drawing/2014/main" val="10001"/>
                  </a:ext>
                </a:extLst>
              </a:tr>
            </a:tbl>
          </a:graphicData>
        </a:graphic>
      </p:graphicFrame>
      <p:graphicFrame>
        <p:nvGraphicFramePr>
          <p:cNvPr id="68" name="Google Shape;68;p14"/>
          <p:cNvGraphicFramePr/>
          <p:nvPr>
            <p:extLst>
              <p:ext uri="{D42A27DB-BD31-4B8C-83A1-F6EECF244321}">
                <p14:modId xmlns:p14="http://schemas.microsoft.com/office/powerpoint/2010/main" val="2828766079"/>
              </p:ext>
            </p:extLst>
          </p:nvPr>
        </p:nvGraphicFramePr>
        <p:xfrm>
          <a:off x="305684" y="3772320"/>
          <a:ext cx="8520600" cy="1242986"/>
        </p:xfrm>
        <a:graphic>
          <a:graphicData uri="http://schemas.openxmlformats.org/drawingml/2006/table">
            <a:tbl>
              <a:tblPr>
                <a:noFill/>
                <a:tableStyleId>{4D11C929-2CF1-41A9-A7A1-38CD1D5D44DC}</a:tableStyleId>
              </a:tblPr>
              <a:tblGrid>
                <a:gridCol w="85206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it" b="1">
                          <a:solidFill>
                            <a:srgbClr val="FFFFFF"/>
                          </a:solidFill>
                        </a:rPr>
                        <a:t>Problems</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381000">
                <a:tc>
                  <a:txBody>
                    <a:bodyPr/>
                    <a:lstStyle/>
                    <a:p>
                      <a:pPr marL="0" lvl="0" indent="0" algn="just" rtl="0">
                        <a:lnSpc>
                          <a:spcPct val="115000"/>
                        </a:lnSpc>
                        <a:spcBef>
                          <a:spcPts val="0"/>
                        </a:spcBef>
                        <a:spcAft>
                          <a:spcPts val="0"/>
                        </a:spcAft>
                        <a:buNone/>
                      </a:pPr>
                      <a:r>
                        <a:rPr lang="it" sz="1500"/>
                        <a:t>Lack of business continuity, incident response, and recovery plan</a:t>
                      </a:r>
                      <a:endParaRPr sz="1500"/>
                    </a:p>
                  </a:txBody>
                  <a:tcPr marL="91425" marR="91425" marT="91425" marB="91425">
                    <a:solidFill>
                      <a:srgbClr val="CCCCCC"/>
                    </a:solidFill>
                  </a:tcPr>
                </a:tc>
                <a:extLst>
                  <a:ext uri="{0D108BD9-81ED-4DB2-BD59-A6C34878D82A}">
                    <a16:rowId xmlns:a16="http://schemas.microsoft.com/office/drawing/2014/main" val="10001"/>
                  </a:ext>
                </a:extLst>
              </a:tr>
              <a:tr h="381000">
                <a:tc>
                  <a:txBody>
                    <a:bodyPr/>
                    <a:lstStyle/>
                    <a:p>
                      <a:pPr marL="0" lvl="0" indent="0" algn="just" rtl="0">
                        <a:lnSpc>
                          <a:spcPct val="115000"/>
                        </a:lnSpc>
                        <a:spcBef>
                          <a:spcPts val="0"/>
                        </a:spcBef>
                        <a:spcAft>
                          <a:spcPts val="0"/>
                        </a:spcAft>
                        <a:buNone/>
                      </a:pPr>
                      <a:r>
                        <a:rPr lang="it" sz="1500"/>
                        <a:t>It has some security issues related to the network and staff training</a:t>
                      </a:r>
                      <a:endParaRPr sz="1500"/>
                    </a:p>
                  </a:txBody>
                  <a:tcPr marL="91425" marR="91425" marT="91425" marB="91425">
                    <a:solidFill>
                      <a:srgbClr val="CCCCCC"/>
                    </a:solidFill>
                  </a:tcPr>
                </a:tc>
                <a:extLst>
                  <a:ext uri="{0D108BD9-81ED-4DB2-BD59-A6C34878D82A}">
                    <a16:rowId xmlns:a16="http://schemas.microsoft.com/office/drawing/2014/main" val="10002"/>
                  </a:ext>
                </a:extLst>
              </a:tr>
            </a:tbl>
          </a:graphicData>
        </a:graphic>
      </p:graphicFrame>
      <p:graphicFrame>
        <p:nvGraphicFramePr>
          <p:cNvPr id="69" name="Google Shape;69;p14"/>
          <p:cNvGraphicFramePr/>
          <p:nvPr>
            <p:extLst>
              <p:ext uri="{D42A27DB-BD31-4B8C-83A1-F6EECF244321}">
                <p14:modId xmlns:p14="http://schemas.microsoft.com/office/powerpoint/2010/main" val="783491463"/>
              </p:ext>
            </p:extLst>
          </p:nvPr>
        </p:nvGraphicFramePr>
        <p:xfrm>
          <a:off x="305684" y="2001399"/>
          <a:ext cx="8520600" cy="1666374"/>
        </p:xfrm>
        <a:graphic>
          <a:graphicData uri="http://schemas.openxmlformats.org/drawingml/2006/table">
            <a:tbl>
              <a:tblPr>
                <a:noFill/>
                <a:tableStyleId>{4D11C929-2CF1-41A9-A7A1-38CD1D5D44DC}</a:tableStyleId>
              </a:tblPr>
              <a:tblGrid>
                <a:gridCol w="85206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it" b="1">
                          <a:solidFill>
                            <a:srgbClr val="FFFFFF"/>
                          </a:solidFill>
                        </a:rPr>
                        <a:t>ezAccount current situation</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381000">
                <a:tc>
                  <a:txBody>
                    <a:bodyPr/>
                    <a:lstStyle/>
                    <a:p>
                      <a:pPr marL="0" lvl="0" indent="0" algn="just" rtl="0">
                        <a:lnSpc>
                          <a:spcPct val="115000"/>
                        </a:lnSpc>
                        <a:spcBef>
                          <a:spcPts val="0"/>
                        </a:spcBef>
                        <a:spcAft>
                          <a:spcPts val="0"/>
                        </a:spcAft>
                        <a:buNone/>
                      </a:pPr>
                      <a:r>
                        <a:rPr lang="it" sz="1500"/>
                        <a:t>Tax accountant with 5 employees</a:t>
                      </a:r>
                      <a:endParaRPr sz="1500"/>
                    </a:p>
                  </a:txBody>
                  <a:tcPr marL="91425" marR="91425" marT="91425" marB="91425">
                    <a:solidFill>
                      <a:srgbClr val="CCCCCC"/>
                    </a:solidFill>
                  </a:tcPr>
                </a:tc>
                <a:extLst>
                  <a:ext uri="{0D108BD9-81ED-4DB2-BD59-A6C34878D82A}">
                    <a16:rowId xmlns:a16="http://schemas.microsoft.com/office/drawing/2014/main" val="10001"/>
                  </a:ext>
                </a:extLst>
              </a:tr>
              <a:tr h="381000">
                <a:tc>
                  <a:txBody>
                    <a:bodyPr/>
                    <a:lstStyle/>
                    <a:p>
                      <a:pPr marL="0" lvl="0" indent="0" algn="just" rtl="0">
                        <a:lnSpc>
                          <a:spcPct val="115000"/>
                        </a:lnSpc>
                        <a:spcBef>
                          <a:spcPts val="0"/>
                        </a:spcBef>
                        <a:spcAft>
                          <a:spcPts val="0"/>
                        </a:spcAft>
                        <a:buNone/>
                      </a:pPr>
                      <a:r>
                        <a:rPr lang="it" sz="1500"/>
                        <a:t>2 offices in Tampa and S. Petersburg</a:t>
                      </a:r>
                      <a:endParaRPr sz="1500"/>
                    </a:p>
                  </a:txBody>
                  <a:tcPr marL="91425" marR="91425" marT="91425" marB="91425">
                    <a:solidFill>
                      <a:srgbClr val="CCCCCC"/>
                    </a:solidFill>
                  </a:tcPr>
                </a:tc>
                <a:extLst>
                  <a:ext uri="{0D108BD9-81ED-4DB2-BD59-A6C34878D82A}">
                    <a16:rowId xmlns:a16="http://schemas.microsoft.com/office/drawing/2014/main" val="10002"/>
                  </a:ext>
                </a:extLst>
              </a:tr>
              <a:tr h="381000">
                <a:tc>
                  <a:txBody>
                    <a:bodyPr/>
                    <a:lstStyle/>
                    <a:p>
                      <a:pPr marL="0" lvl="0" indent="0" algn="just" rtl="0">
                        <a:lnSpc>
                          <a:spcPct val="115000"/>
                        </a:lnSpc>
                        <a:spcBef>
                          <a:spcPts val="0"/>
                        </a:spcBef>
                        <a:spcAft>
                          <a:spcPts val="0"/>
                        </a:spcAft>
                        <a:buNone/>
                      </a:pPr>
                      <a:r>
                        <a:rPr lang="it" sz="1500"/>
                        <a:t>Offers financial, accounting and taxation services</a:t>
                      </a:r>
                      <a:endParaRPr sz="1500"/>
                    </a:p>
                  </a:txBody>
                  <a:tcPr marL="91425" marR="91425" marT="91425" marB="91425">
                    <a:solidFill>
                      <a:srgbClr val="CCCCC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75" name="Google Shape;75;p15"/>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76" name="Google Shape;76;p15"/>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77" name="Google Shape;77;p15"/>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Recognize and define the problem</a:t>
            </a:r>
            <a:endParaRPr sz="1600" b="1">
              <a:solidFill>
                <a:schemeClr val="lt1"/>
              </a:solidFill>
            </a:endParaRPr>
          </a:p>
        </p:txBody>
      </p:sp>
      <p:graphicFrame>
        <p:nvGraphicFramePr>
          <p:cNvPr id="78" name="Google Shape;78;p15"/>
          <p:cNvGraphicFramePr/>
          <p:nvPr>
            <p:extLst>
              <p:ext uri="{D42A27DB-BD31-4B8C-83A1-F6EECF244321}">
                <p14:modId xmlns:p14="http://schemas.microsoft.com/office/powerpoint/2010/main" val="131941522"/>
              </p:ext>
            </p:extLst>
          </p:nvPr>
        </p:nvGraphicFramePr>
        <p:xfrm>
          <a:off x="317716" y="1433622"/>
          <a:ext cx="8520600" cy="3199428"/>
        </p:xfrm>
        <a:graphic>
          <a:graphicData uri="http://schemas.openxmlformats.org/drawingml/2006/table">
            <a:tbl>
              <a:tblPr>
                <a:noFill/>
                <a:tableStyleId>{4D11C929-2CF1-41A9-A7A1-38CD1D5D44DC}</a:tableStyleId>
              </a:tblPr>
              <a:tblGrid>
                <a:gridCol w="85206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it" b="1">
                          <a:solidFill>
                            <a:srgbClr val="FFFFFF"/>
                          </a:solidFill>
                        </a:rPr>
                        <a:t>Cybersecurity in tax accounting SMEs</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381000">
                <a:tc>
                  <a:txBody>
                    <a:bodyPr/>
                    <a:lstStyle/>
                    <a:p>
                      <a:pPr marL="0" lvl="0" indent="0" algn="l" rtl="0">
                        <a:lnSpc>
                          <a:spcPct val="115000"/>
                        </a:lnSpc>
                        <a:spcBef>
                          <a:spcPts val="0"/>
                        </a:spcBef>
                        <a:spcAft>
                          <a:spcPts val="0"/>
                        </a:spcAft>
                        <a:buNone/>
                      </a:pPr>
                      <a:r>
                        <a:rPr lang="it" sz="1500"/>
                        <a:t>Management of sensitive data</a:t>
                      </a:r>
                      <a:endParaRPr sz="1500"/>
                    </a:p>
                  </a:txBody>
                  <a:tcPr marL="91425" marR="91425" marT="91425" marB="91425">
                    <a:solidFill>
                      <a:srgbClr val="CCCCCC"/>
                    </a:solidFill>
                  </a:tcPr>
                </a:tc>
                <a:extLst>
                  <a:ext uri="{0D108BD9-81ED-4DB2-BD59-A6C34878D82A}">
                    <a16:rowId xmlns:a16="http://schemas.microsoft.com/office/drawing/2014/main" val="10001"/>
                  </a:ext>
                </a:extLst>
              </a:tr>
              <a:tr h="381000">
                <a:tc>
                  <a:txBody>
                    <a:bodyPr/>
                    <a:lstStyle/>
                    <a:p>
                      <a:pPr marL="0" lvl="0" indent="0" algn="l" rtl="0">
                        <a:lnSpc>
                          <a:spcPct val="115000"/>
                        </a:lnSpc>
                        <a:spcBef>
                          <a:spcPts val="0"/>
                        </a:spcBef>
                        <a:spcAft>
                          <a:spcPts val="0"/>
                        </a:spcAft>
                        <a:buNone/>
                      </a:pPr>
                      <a:r>
                        <a:rPr lang="it" sz="1500"/>
                        <a:t>Shift towards digital and cloud services</a:t>
                      </a:r>
                      <a:endParaRPr sz="1500"/>
                    </a:p>
                  </a:txBody>
                  <a:tcPr marL="91425" marR="91425" marT="91425" marB="91425">
                    <a:solidFill>
                      <a:srgbClr val="CCCCCC"/>
                    </a:solidFill>
                  </a:tcPr>
                </a:tc>
                <a:extLst>
                  <a:ext uri="{0D108BD9-81ED-4DB2-BD59-A6C34878D82A}">
                    <a16:rowId xmlns:a16="http://schemas.microsoft.com/office/drawing/2014/main" val="10002"/>
                  </a:ext>
                </a:extLst>
              </a:tr>
              <a:tr h="381000">
                <a:tc>
                  <a:txBody>
                    <a:bodyPr/>
                    <a:lstStyle/>
                    <a:p>
                      <a:pPr marL="0" lvl="0" indent="0" algn="l" rtl="0">
                        <a:lnSpc>
                          <a:spcPct val="115000"/>
                        </a:lnSpc>
                        <a:spcBef>
                          <a:spcPts val="0"/>
                        </a:spcBef>
                        <a:spcAft>
                          <a:spcPts val="0"/>
                        </a:spcAft>
                        <a:buNone/>
                      </a:pPr>
                      <a:r>
                        <a:rPr lang="it" sz="1500"/>
                        <a:t>Dangers deriving from: collaboration with insecure third parties, network vulnerabilities, phishing, social engineering, compromise of company emails.</a:t>
                      </a:r>
                      <a:endParaRPr sz="1500"/>
                    </a:p>
                  </a:txBody>
                  <a:tcPr marL="91425" marR="91425" marT="91425" marB="91425">
                    <a:solidFill>
                      <a:srgbClr val="CCCCCC"/>
                    </a:solidFill>
                  </a:tcPr>
                </a:tc>
                <a:extLst>
                  <a:ext uri="{0D108BD9-81ED-4DB2-BD59-A6C34878D82A}">
                    <a16:rowId xmlns:a16="http://schemas.microsoft.com/office/drawing/2014/main" val="10003"/>
                  </a:ext>
                </a:extLst>
              </a:tr>
              <a:tr h="381000">
                <a:tc>
                  <a:txBody>
                    <a:bodyPr/>
                    <a:lstStyle/>
                    <a:p>
                      <a:pPr marL="0" lvl="0" indent="0" algn="l" rtl="0">
                        <a:lnSpc>
                          <a:spcPct val="115000"/>
                        </a:lnSpc>
                        <a:spcBef>
                          <a:spcPts val="0"/>
                        </a:spcBef>
                        <a:spcAft>
                          <a:spcPts val="0"/>
                        </a:spcAft>
                        <a:buNone/>
                      </a:pPr>
                      <a:r>
                        <a:rPr lang="it" sz="1500"/>
                        <a:t>Lack of in-house skills (Parkin et al., 2016, 1-2)</a:t>
                      </a:r>
                      <a:endParaRPr sz="1500"/>
                    </a:p>
                  </a:txBody>
                  <a:tcPr marL="91425" marR="91425" marT="91425" marB="91425">
                    <a:solidFill>
                      <a:srgbClr val="CCCCCC"/>
                    </a:solidFill>
                  </a:tcPr>
                </a:tc>
                <a:extLst>
                  <a:ext uri="{0D108BD9-81ED-4DB2-BD59-A6C34878D82A}">
                    <a16:rowId xmlns:a16="http://schemas.microsoft.com/office/drawing/2014/main" val="10004"/>
                  </a:ext>
                </a:extLst>
              </a:tr>
              <a:tr h="381000">
                <a:tc>
                  <a:txBody>
                    <a:bodyPr/>
                    <a:lstStyle/>
                    <a:p>
                      <a:pPr marL="0" lvl="0" indent="0" algn="l" rtl="0">
                        <a:lnSpc>
                          <a:spcPct val="115000"/>
                        </a:lnSpc>
                        <a:spcBef>
                          <a:spcPts val="0"/>
                        </a:spcBef>
                        <a:spcAft>
                          <a:spcPts val="0"/>
                        </a:spcAft>
                        <a:buNone/>
                      </a:pPr>
                      <a:r>
                        <a:rPr lang="it" sz="1500"/>
                        <a:t>Impact of an attack both on owner and clients</a:t>
                      </a:r>
                      <a:endParaRPr sz="1500"/>
                    </a:p>
                  </a:txBody>
                  <a:tcPr marL="91425" marR="91425" marT="91425" marB="91425">
                    <a:solidFill>
                      <a:srgbClr val="CCCCCC"/>
                    </a:solidFill>
                  </a:tcPr>
                </a:tc>
                <a:extLst>
                  <a:ext uri="{0D108BD9-81ED-4DB2-BD59-A6C34878D82A}">
                    <a16:rowId xmlns:a16="http://schemas.microsoft.com/office/drawing/2014/main" val="10005"/>
                  </a:ext>
                </a:extLst>
              </a:tr>
              <a:tr h="381000">
                <a:tc>
                  <a:txBody>
                    <a:bodyPr/>
                    <a:lstStyle/>
                    <a:p>
                      <a:pPr marL="0" lvl="0" indent="0" algn="l" rtl="0">
                        <a:lnSpc>
                          <a:spcPct val="115000"/>
                        </a:lnSpc>
                        <a:spcBef>
                          <a:spcPts val="0"/>
                        </a:spcBef>
                        <a:spcAft>
                          <a:spcPts val="0"/>
                        </a:spcAft>
                        <a:buNone/>
                      </a:pPr>
                      <a:r>
                        <a:rPr lang="it" sz="1500"/>
                        <a:t>Increase in the number of cyber attacks during Covid-19 (Lallie et al., 2021, 3-11)</a:t>
                      </a:r>
                      <a:endParaRPr sz="1500"/>
                    </a:p>
                  </a:txBody>
                  <a:tcPr marL="91425" marR="91425" marT="91425" marB="91425">
                    <a:solidFill>
                      <a:srgbClr val="CCCCC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84" name="Google Shape;84;p16"/>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85" name="Google Shape;85;p16"/>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86" name="Google Shape;86;p16"/>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Gather facts</a:t>
            </a:r>
            <a:endParaRPr sz="1600" b="1">
              <a:solidFill>
                <a:schemeClr val="lt1"/>
              </a:solidFill>
            </a:endParaRPr>
          </a:p>
        </p:txBody>
      </p:sp>
      <p:graphicFrame>
        <p:nvGraphicFramePr>
          <p:cNvPr id="87" name="Google Shape;87;p16"/>
          <p:cNvGraphicFramePr/>
          <p:nvPr>
            <p:extLst>
              <p:ext uri="{D42A27DB-BD31-4B8C-83A1-F6EECF244321}">
                <p14:modId xmlns:p14="http://schemas.microsoft.com/office/powerpoint/2010/main" val="3125933855"/>
              </p:ext>
            </p:extLst>
          </p:nvPr>
        </p:nvGraphicFramePr>
        <p:xfrm>
          <a:off x="305684" y="1357416"/>
          <a:ext cx="8520600" cy="3359926"/>
        </p:xfrm>
        <a:graphic>
          <a:graphicData uri="http://schemas.openxmlformats.org/drawingml/2006/table">
            <a:tbl>
              <a:tblPr>
                <a:noFill/>
                <a:tableStyleId>{4D11C929-2CF1-41A9-A7A1-38CD1D5D44DC}</a:tableStyleId>
              </a:tblPr>
              <a:tblGrid>
                <a:gridCol w="85206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it" b="1">
                          <a:solidFill>
                            <a:srgbClr val="FFFFFF"/>
                          </a:solidFill>
                        </a:rPr>
                        <a:t>Current technical situation of ezAccount firm</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381000">
                <a:tc>
                  <a:txBody>
                    <a:bodyPr/>
                    <a:lstStyle/>
                    <a:p>
                      <a:pPr marL="0" lvl="0" indent="0" algn="just" rtl="0">
                        <a:lnSpc>
                          <a:spcPct val="115000"/>
                        </a:lnSpc>
                        <a:spcBef>
                          <a:spcPts val="0"/>
                        </a:spcBef>
                        <a:spcAft>
                          <a:spcPts val="0"/>
                        </a:spcAft>
                        <a:buNone/>
                      </a:pPr>
                      <a:r>
                        <a:rPr lang="it" sz="1500"/>
                        <a:t>2 offices with a NAS on each</a:t>
                      </a:r>
                      <a:endParaRPr sz="1500"/>
                    </a:p>
                  </a:txBody>
                  <a:tcPr marL="91425" marR="91425" marT="91425" marB="91425">
                    <a:solidFill>
                      <a:srgbClr val="CCCCCC"/>
                    </a:solidFill>
                  </a:tcPr>
                </a:tc>
                <a:extLst>
                  <a:ext uri="{0D108BD9-81ED-4DB2-BD59-A6C34878D82A}">
                    <a16:rowId xmlns:a16="http://schemas.microsoft.com/office/drawing/2014/main" val="10001"/>
                  </a:ext>
                </a:extLst>
              </a:tr>
              <a:tr h="381000">
                <a:tc>
                  <a:txBody>
                    <a:bodyPr/>
                    <a:lstStyle/>
                    <a:p>
                      <a:pPr marL="0" lvl="0" indent="0" algn="just" rtl="0">
                        <a:lnSpc>
                          <a:spcPct val="115000"/>
                        </a:lnSpc>
                        <a:spcBef>
                          <a:spcPts val="0"/>
                        </a:spcBef>
                        <a:spcAft>
                          <a:spcPts val="0"/>
                        </a:spcAft>
                        <a:buNone/>
                      </a:pPr>
                      <a:r>
                        <a:rPr lang="it" sz="1500"/>
                        <a:t>Cloud-based applications for tax accountancy</a:t>
                      </a:r>
                      <a:endParaRPr sz="1500"/>
                    </a:p>
                  </a:txBody>
                  <a:tcPr marL="91425" marR="91425" marT="91425" marB="91425">
                    <a:solidFill>
                      <a:srgbClr val="CCCCCC"/>
                    </a:solidFill>
                  </a:tcPr>
                </a:tc>
                <a:extLst>
                  <a:ext uri="{0D108BD9-81ED-4DB2-BD59-A6C34878D82A}">
                    <a16:rowId xmlns:a16="http://schemas.microsoft.com/office/drawing/2014/main" val="10002"/>
                  </a:ext>
                </a:extLst>
              </a:tr>
              <a:tr h="381000">
                <a:tc>
                  <a:txBody>
                    <a:bodyPr/>
                    <a:lstStyle/>
                    <a:p>
                      <a:pPr marL="0" lvl="0" indent="0" algn="just" rtl="0">
                        <a:lnSpc>
                          <a:spcPct val="115000"/>
                        </a:lnSpc>
                        <a:spcBef>
                          <a:spcPts val="0"/>
                        </a:spcBef>
                        <a:spcAft>
                          <a:spcPts val="0"/>
                        </a:spcAft>
                        <a:buNone/>
                      </a:pPr>
                      <a:r>
                        <a:rPr lang="it" sz="1500"/>
                        <a:t>Shared Wi-Fi and unrestricted usage of personal devices</a:t>
                      </a:r>
                      <a:endParaRPr sz="1500"/>
                    </a:p>
                  </a:txBody>
                  <a:tcPr marL="91425" marR="91425" marT="91425" marB="91425">
                    <a:solidFill>
                      <a:srgbClr val="CCCCCC"/>
                    </a:solidFill>
                  </a:tcPr>
                </a:tc>
                <a:extLst>
                  <a:ext uri="{0D108BD9-81ED-4DB2-BD59-A6C34878D82A}">
                    <a16:rowId xmlns:a16="http://schemas.microsoft.com/office/drawing/2014/main" val="10003"/>
                  </a:ext>
                </a:extLst>
              </a:tr>
              <a:tr h="381000">
                <a:tc>
                  <a:txBody>
                    <a:bodyPr/>
                    <a:lstStyle/>
                    <a:p>
                      <a:pPr marL="0" lvl="0" indent="0" algn="just" rtl="0">
                        <a:lnSpc>
                          <a:spcPct val="115000"/>
                        </a:lnSpc>
                        <a:spcBef>
                          <a:spcPts val="0"/>
                        </a:spcBef>
                        <a:spcAft>
                          <a:spcPts val="0"/>
                        </a:spcAft>
                        <a:buNone/>
                      </a:pPr>
                      <a:r>
                        <a:rPr lang="it" sz="1500"/>
                        <a:t>Pinned passwords</a:t>
                      </a:r>
                      <a:endParaRPr sz="1500"/>
                    </a:p>
                  </a:txBody>
                  <a:tcPr marL="91425" marR="91425" marT="91425" marB="91425">
                    <a:solidFill>
                      <a:srgbClr val="CCCCCC"/>
                    </a:solidFill>
                  </a:tcPr>
                </a:tc>
                <a:extLst>
                  <a:ext uri="{0D108BD9-81ED-4DB2-BD59-A6C34878D82A}">
                    <a16:rowId xmlns:a16="http://schemas.microsoft.com/office/drawing/2014/main" val="10004"/>
                  </a:ext>
                </a:extLst>
              </a:tr>
              <a:tr h="381000">
                <a:tc>
                  <a:txBody>
                    <a:bodyPr/>
                    <a:lstStyle/>
                    <a:p>
                      <a:pPr marL="0" lvl="0" indent="0" algn="just" rtl="0">
                        <a:lnSpc>
                          <a:spcPct val="115000"/>
                        </a:lnSpc>
                        <a:spcBef>
                          <a:spcPts val="0"/>
                        </a:spcBef>
                        <a:spcAft>
                          <a:spcPts val="0"/>
                        </a:spcAft>
                        <a:buNone/>
                      </a:pPr>
                      <a:r>
                        <a:rPr lang="it" sz="1500"/>
                        <a:t>Remote connection via standard OS VPN</a:t>
                      </a:r>
                      <a:endParaRPr sz="1500"/>
                    </a:p>
                  </a:txBody>
                  <a:tcPr marL="91425" marR="91425" marT="91425" marB="91425">
                    <a:solidFill>
                      <a:srgbClr val="CCCCCC"/>
                    </a:solidFill>
                  </a:tcPr>
                </a:tc>
                <a:extLst>
                  <a:ext uri="{0D108BD9-81ED-4DB2-BD59-A6C34878D82A}">
                    <a16:rowId xmlns:a16="http://schemas.microsoft.com/office/drawing/2014/main" val="10005"/>
                  </a:ext>
                </a:extLst>
              </a:tr>
              <a:tr h="381000">
                <a:tc>
                  <a:txBody>
                    <a:bodyPr/>
                    <a:lstStyle/>
                    <a:p>
                      <a:pPr marL="0" lvl="0" indent="0" algn="just" rtl="0">
                        <a:lnSpc>
                          <a:spcPct val="115000"/>
                        </a:lnSpc>
                        <a:spcBef>
                          <a:spcPts val="0"/>
                        </a:spcBef>
                        <a:spcAft>
                          <a:spcPts val="0"/>
                        </a:spcAft>
                        <a:buNone/>
                      </a:pPr>
                      <a:r>
                        <a:rPr lang="it" sz="1500"/>
                        <a:t>Many devices connected to the network (printers, security cameras)</a:t>
                      </a:r>
                      <a:endParaRPr sz="1500"/>
                    </a:p>
                  </a:txBody>
                  <a:tcPr marL="91425" marR="91425" marT="91425" marB="91425">
                    <a:solidFill>
                      <a:srgbClr val="CCCCCC"/>
                    </a:solidFill>
                  </a:tcPr>
                </a:tc>
                <a:extLst>
                  <a:ext uri="{0D108BD9-81ED-4DB2-BD59-A6C34878D82A}">
                    <a16:rowId xmlns:a16="http://schemas.microsoft.com/office/drawing/2014/main" val="10006"/>
                  </a:ext>
                </a:extLst>
              </a:tr>
              <a:tr h="381000">
                <a:tc>
                  <a:txBody>
                    <a:bodyPr/>
                    <a:lstStyle/>
                    <a:p>
                      <a:pPr marL="0" lvl="0" indent="0" algn="just" rtl="0">
                        <a:lnSpc>
                          <a:spcPct val="115000"/>
                        </a:lnSpc>
                        <a:spcBef>
                          <a:spcPts val="0"/>
                        </a:spcBef>
                        <a:spcAft>
                          <a:spcPts val="0"/>
                        </a:spcAft>
                        <a:buNone/>
                      </a:pPr>
                      <a:r>
                        <a:rPr lang="it" sz="1500"/>
                        <a:t>Tier 1 of NIST cybersecurity framework</a:t>
                      </a:r>
                      <a:endParaRPr sz="1500"/>
                    </a:p>
                  </a:txBody>
                  <a:tcPr marL="91425" marR="91425" marT="91425" marB="91425">
                    <a:solidFill>
                      <a:srgbClr val="CCCCC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93" name="Google Shape;93;p17"/>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94" name="Google Shape;94;p17"/>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95" name="Google Shape;95;p17"/>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Project scope, goals, and objectives</a:t>
            </a:r>
            <a:endParaRPr sz="1600" b="1">
              <a:solidFill>
                <a:schemeClr val="lt1"/>
              </a:solidFill>
            </a:endParaRPr>
          </a:p>
        </p:txBody>
      </p:sp>
      <p:pic>
        <p:nvPicPr>
          <p:cNvPr id="96" name="Google Shape;96;p17"/>
          <p:cNvPicPr preferRelativeResize="0"/>
          <p:nvPr/>
        </p:nvPicPr>
        <p:blipFill>
          <a:blip r:embed="rId4">
            <a:alphaModFix/>
          </a:blip>
          <a:stretch>
            <a:fillRect/>
          </a:stretch>
        </p:blipFill>
        <p:spPr>
          <a:xfrm>
            <a:off x="5516099" y="2043528"/>
            <a:ext cx="3316200" cy="2467249"/>
          </a:xfrm>
          <a:prstGeom prst="rect">
            <a:avLst/>
          </a:prstGeom>
          <a:noFill/>
          <a:ln>
            <a:noFill/>
          </a:ln>
        </p:spPr>
      </p:pic>
      <p:graphicFrame>
        <p:nvGraphicFramePr>
          <p:cNvPr id="97" name="Google Shape;97;p17"/>
          <p:cNvGraphicFramePr/>
          <p:nvPr/>
        </p:nvGraphicFramePr>
        <p:xfrm>
          <a:off x="311700" y="1185725"/>
          <a:ext cx="4909200" cy="1281198"/>
        </p:xfrm>
        <a:graphic>
          <a:graphicData uri="http://schemas.openxmlformats.org/drawingml/2006/table">
            <a:tbl>
              <a:tblPr>
                <a:noFill/>
                <a:tableStyleId>{4D11C929-2CF1-41A9-A7A1-38CD1D5D44DC}</a:tableStyleId>
              </a:tblPr>
              <a:tblGrid>
                <a:gridCol w="4909200">
                  <a:extLst>
                    <a:ext uri="{9D8B030D-6E8A-4147-A177-3AD203B41FA5}">
                      <a16:colId xmlns:a16="http://schemas.microsoft.com/office/drawing/2014/main" val="20000"/>
                    </a:ext>
                  </a:extLst>
                </a:gridCol>
              </a:tblGrid>
              <a:tr h="396200">
                <a:tc>
                  <a:txBody>
                    <a:bodyPr/>
                    <a:lstStyle/>
                    <a:p>
                      <a:pPr marL="0" lvl="0" indent="0" algn="l" rtl="0">
                        <a:spcBef>
                          <a:spcPts val="0"/>
                        </a:spcBef>
                        <a:spcAft>
                          <a:spcPts val="0"/>
                        </a:spcAft>
                        <a:buNone/>
                      </a:pPr>
                      <a:r>
                        <a:rPr lang="it" b="1">
                          <a:solidFill>
                            <a:srgbClr val="FFFFFF"/>
                          </a:solidFill>
                        </a:rPr>
                        <a:t>Project scope</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461600">
                <a:tc>
                  <a:txBody>
                    <a:bodyPr/>
                    <a:lstStyle/>
                    <a:p>
                      <a:pPr marL="0" lvl="0" indent="0" algn="l" rtl="0">
                        <a:lnSpc>
                          <a:spcPct val="115000"/>
                        </a:lnSpc>
                        <a:spcBef>
                          <a:spcPts val="0"/>
                        </a:spcBef>
                        <a:spcAft>
                          <a:spcPts val="0"/>
                        </a:spcAft>
                        <a:buNone/>
                      </a:pPr>
                      <a:r>
                        <a:rPr lang="it" sz="1500"/>
                        <a:t>Managerial problems (cyber-hygiene, cyber-awareness)</a:t>
                      </a:r>
                      <a:endParaRPr sz="1100"/>
                    </a:p>
                  </a:txBody>
                  <a:tcPr marL="91425" marR="91425" marT="91425" marB="91425">
                    <a:solidFill>
                      <a:srgbClr val="CCCCCC"/>
                    </a:solidFill>
                  </a:tcPr>
                </a:tc>
                <a:extLst>
                  <a:ext uri="{0D108BD9-81ED-4DB2-BD59-A6C34878D82A}">
                    <a16:rowId xmlns:a16="http://schemas.microsoft.com/office/drawing/2014/main" val="10001"/>
                  </a:ext>
                </a:extLst>
              </a:tr>
              <a:tr h="381000">
                <a:tc>
                  <a:txBody>
                    <a:bodyPr/>
                    <a:lstStyle/>
                    <a:p>
                      <a:pPr marL="0" lvl="0" indent="0" algn="l" rtl="0">
                        <a:lnSpc>
                          <a:spcPct val="115000"/>
                        </a:lnSpc>
                        <a:spcBef>
                          <a:spcPts val="0"/>
                        </a:spcBef>
                        <a:spcAft>
                          <a:spcPts val="0"/>
                        </a:spcAft>
                        <a:buNone/>
                      </a:pPr>
                      <a:r>
                        <a:rPr lang="it" sz="1500"/>
                        <a:t>Technical aspects (network defense)</a:t>
                      </a:r>
                      <a:endParaRPr sz="1500"/>
                    </a:p>
                  </a:txBody>
                  <a:tcPr marL="91425" marR="91425" marT="91425" marB="91425">
                    <a:solidFill>
                      <a:srgbClr val="CCCCCC"/>
                    </a:solidFill>
                  </a:tcPr>
                </a:tc>
                <a:extLst>
                  <a:ext uri="{0D108BD9-81ED-4DB2-BD59-A6C34878D82A}">
                    <a16:rowId xmlns:a16="http://schemas.microsoft.com/office/drawing/2014/main" val="10002"/>
                  </a:ext>
                </a:extLst>
              </a:tr>
            </a:tbl>
          </a:graphicData>
        </a:graphic>
      </p:graphicFrame>
      <p:graphicFrame>
        <p:nvGraphicFramePr>
          <p:cNvPr id="98" name="Google Shape;98;p17"/>
          <p:cNvGraphicFramePr/>
          <p:nvPr/>
        </p:nvGraphicFramePr>
        <p:xfrm>
          <a:off x="311700" y="2536075"/>
          <a:ext cx="4909200" cy="2455044"/>
        </p:xfrm>
        <a:graphic>
          <a:graphicData uri="http://schemas.openxmlformats.org/drawingml/2006/table">
            <a:tbl>
              <a:tblPr>
                <a:noFill/>
                <a:tableStyleId>{4D11C929-2CF1-41A9-A7A1-38CD1D5D44DC}</a:tableStyleId>
              </a:tblPr>
              <a:tblGrid>
                <a:gridCol w="4909200">
                  <a:extLst>
                    <a:ext uri="{9D8B030D-6E8A-4147-A177-3AD203B41FA5}">
                      <a16:colId xmlns:a16="http://schemas.microsoft.com/office/drawing/2014/main" val="20000"/>
                    </a:ext>
                  </a:extLst>
                </a:gridCol>
              </a:tblGrid>
              <a:tr h="396200">
                <a:tc>
                  <a:txBody>
                    <a:bodyPr/>
                    <a:lstStyle/>
                    <a:p>
                      <a:pPr marL="0" lvl="0" indent="0" algn="l" rtl="0">
                        <a:spcBef>
                          <a:spcPts val="0"/>
                        </a:spcBef>
                        <a:spcAft>
                          <a:spcPts val="0"/>
                        </a:spcAft>
                        <a:buNone/>
                      </a:pPr>
                      <a:r>
                        <a:rPr lang="it" b="1">
                          <a:solidFill>
                            <a:srgbClr val="FFFFFF"/>
                          </a:solidFill>
                        </a:rPr>
                        <a:t>Objectives</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674350">
                <a:tc>
                  <a:txBody>
                    <a:bodyPr/>
                    <a:lstStyle/>
                    <a:p>
                      <a:pPr marL="0" lvl="0" indent="0" algn="l" rtl="0">
                        <a:lnSpc>
                          <a:spcPct val="115000"/>
                        </a:lnSpc>
                        <a:spcBef>
                          <a:spcPts val="0"/>
                        </a:spcBef>
                        <a:spcAft>
                          <a:spcPts val="0"/>
                        </a:spcAft>
                        <a:buNone/>
                      </a:pPr>
                      <a:r>
                        <a:rPr lang="it" sz="1500"/>
                        <a:t>Efficient and safe network architecture </a:t>
                      </a:r>
                      <a:br>
                        <a:rPr lang="it" sz="1500"/>
                      </a:br>
                      <a:r>
                        <a:rPr lang="it" sz="1500"/>
                        <a:t>(firewalls, VPN, centralized antivirus, IDs)</a:t>
                      </a:r>
                      <a:endParaRPr sz="1500"/>
                    </a:p>
                  </a:txBody>
                  <a:tcPr marL="91425" marR="91425" marT="91425" marB="91425">
                    <a:solidFill>
                      <a:srgbClr val="CCCCCC"/>
                    </a:solidFill>
                  </a:tcPr>
                </a:tc>
                <a:extLst>
                  <a:ext uri="{0D108BD9-81ED-4DB2-BD59-A6C34878D82A}">
                    <a16:rowId xmlns:a16="http://schemas.microsoft.com/office/drawing/2014/main" val="10001"/>
                  </a:ext>
                </a:extLst>
              </a:tr>
              <a:tr h="674350">
                <a:tc>
                  <a:txBody>
                    <a:bodyPr/>
                    <a:lstStyle/>
                    <a:p>
                      <a:pPr marL="0" lvl="0" indent="0" algn="l" rtl="0">
                        <a:lnSpc>
                          <a:spcPct val="115000"/>
                        </a:lnSpc>
                        <a:spcBef>
                          <a:spcPts val="0"/>
                        </a:spcBef>
                        <a:spcAft>
                          <a:spcPts val="0"/>
                        </a:spcAft>
                        <a:buNone/>
                      </a:pPr>
                      <a:r>
                        <a:rPr lang="it" sz="1500"/>
                        <a:t>Mitigate lack of encryption or unsafe access control policies</a:t>
                      </a:r>
                      <a:endParaRPr sz="1500"/>
                    </a:p>
                  </a:txBody>
                  <a:tcPr marL="91425" marR="91425" marT="91425" marB="91425">
                    <a:solidFill>
                      <a:srgbClr val="CCCCCC"/>
                    </a:solidFill>
                  </a:tcPr>
                </a:tc>
                <a:extLst>
                  <a:ext uri="{0D108BD9-81ED-4DB2-BD59-A6C34878D82A}">
                    <a16:rowId xmlns:a16="http://schemas.microsoft.com/office/drawing/2014/main" val="10002"/>
                  </a:ext>
                </a:extLst>
              </a:tr>
              <a:tr h="674350">
                <a:tc>
                  <a:txBody>
                    <a:bodyPr/>
                    <a:lstStyle/>
                    <a:p>
                      <a:pPr marL="0" lvl="0" indent="0" algn="l" rtl="0">
                        <a:lnSpc>
                          <a:spcPct val="115000"/>
                        </a:lnSpc>
                        <a:spcBef>
                          <a:spcPts val="0"/>
                        </a:spcBef>
                        <a:spcAft>
                          <a:spcPts val="0"/>
                        </a:spcAft>
                        <a:buNone/>
                      </a:pPr>
                      <a:r>
                        <a:rPr lang="it" sz="1500"/>
                        <a:t>Train employees and managers, establishing an IRP and a BCP.</a:t>
                      </a:r>
                      <a:endParaRPr sz="1500"/>
                    </a:p>
                  </a:txBody>
                  <a:tcPr marL="91425" marR="91425" marT="91425" marB="91425">
                    <a:solidFill>
                      <a:srgbClr val="CCCCC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04" name="Google Shape;104;p18"/>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05" name="Google Shape;105;p18"/>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06" name="Google Shape;106;p18"/>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Proposed Solution - Before network improvement</a:t>
            </a:r>
            <a:endParaRPr sz="1600" b="1">
              <a:solidFill>
                <a:schemeClr val="lt1"/>
              </a:solidFill>
            </a:endParaRPr>
          </a:p>
        </p:txBody>
      </p:sp>
      <p:pic>
        <p:nvPicPr>
          <p:cNvPr id="107" name="Google Shape;107;p18"/>
          <p:cNvPicPr preferRelativeResize="0"/>
          <p:nvPr/>
        </p:nvPicPr>
        <p:blipFill>
          <a:blip r:embed="rId4">
            <a:alphaModFix/>
          </a:blip>
          <a:stretch>
            <a:fillRect/>
          </a:stretch>
        </p:blipFill>
        <p:spPr>
          <a:xfrm>
            <a:off x="1683875" y="1092250"/>
            <a:ext cx="5718400" cy="4009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13" name="Google Shape;113;p19"/>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14" name="Google Shape;114;p19"/>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15" name="Google Shape;115;p19"/>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Proposed Solution - After network improvement</a:t>
            </a:r>
            <a:endParaRPr sz="1600" b="1">
              <a:solidFill>
                <a:schemeClr val="lt1"/>
              </a:solidFill>
            </a:endParaRPr>
          </a:p>
        </p:txBody>
      </p:sp>
      <p:pic>
        <p:nvPicPr>
          <p:cNvPr id="116" name="Google Shape;116;p19"/>
          <p:cNvPicPr preferRelativeResize="0"/>
          <p:nvPr/>
        </p:nvPicPr>
        <p:blipFill>
          <a:blip r:embed="rId4">
            <a:alphaModFix/>
          </a:blip>
          <a:stretch>
            <a:fillRect/>
          </a:stretch>
        </p:blipFill>
        <p:spPr>
          <a:xfrm>
            <a:off x="1599100" y="1097700"/>
            <a:ext cx="5769617" cy="40457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22" name="Google Shape;122;p20"/>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23" name="Google Shape;123;p20"/>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24" name="Google Shape;124;p20"/>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Action plan (Part 1)</a:t>
            </a:r>
            <a:endParaRPr sz="1600" b="1">
              <a:solidFill>
                <a:schemeClr val="lt1"/>
              </a:solidFill>
            </a:endParaRPr>
          </a:p>
        </p:txBody>
      </p:sp>
      <p:graphicFrame>
        <p:nvGraphicFramePr>
          <p:cNvPr id="125" name="Google Shape;125;p20"/>
          <p:cNvGraphicFramePr/>
          <p:nvPr>
            <p:extLst>
              <p:ext uri="{D42A27DB-BD31-4B8C-83A1-F6EECF244321}">
                <p14:modId xmlns:p14="http://schemas.microsoft.com/office/powerpoint/2010/main" val="2901176876"/>
              </p:ext>
            </p:extLst>
          </p:nvPr>
        </p:nvGraphicFramePr>
        <p:xfrm>
          <a:off x="299668" y="1389233"/>
          <a:ext cx="8610625" cy="3474570"/>
        </p:xfrm>
        <a:graphic>
          <a:graphicData uri="http://schemas.openxmlformats.org/drawingml/2006/table">
            <a:tbl>
              <a:tblPr>
                <a:noFill/>
                <a:tableStyleId>{4D11C929-2CF1-41A9-A7A1-38CD1D5D44DC}</a:tableStyleId>
              </a:tblPr>
              <a:tblGrid>
                <a:gridCol w="606575">
                  <a:extLst>
                    <a:ext uri="{9D8B030D-6E8A-4147-A177-3AD203B41FA5}">
                      <a16:colId xmlns:a16="http://schemas.microsoft.com/office/drawing/2014/main" val="20000"/>
                    </a:ext>
                  </a:extLst>
                </a:gridCol>
                <a:gridCol w="2091575">
                  <a:extLst>
                    <a:ext uri="{9D8B030D-6E8A-4147-A177-3AD203B41FA5}">
                      <a16:colId xmlns:a16="http://schemas.microsoft.com/office/drawing/2014/main" val="20001"/>
                    </a:ext>
                  </a:extLst>
                </a:gridCol>
                <a:gridCol w="3358400">
                  <a:extLst>
                    <a:ext uri="{9D8B030D-6E8A-4147-A177-3AD203B41FA5}">
                      <a16:colId xmlns:a16="http://schemas.microsoft.com/office/drawing/2014/main" val="20002"/>
                    </a:ext>
                  </a:extLst>
                </a:gridCol>
                <a:gridCol w="860825">
                  <a:extLst>
                    <a:ext uri="{9D8B030D-6E8A-4147-A177-3AD203B41FA5}">
                      <a16:colId xmlns:a16="http://schemas.microsoft.com/office/drawing/2014/main" val="20003"/>
                    </a:ext>
                  </a:extLst>
                </a:gridCol>
                <a:gridCol w="1693250">
                  <a:extLst>
                    <a:ext uri="{9D8B030D-6E8A-4147-A177-3AD203B41FA5}">
                      <a16:colId xmlns:a16="http://schemas.microsoft.com/office/drawing/2014/main" val="20004"/>
                    </a:ext>
                  </a:extLst>
                </a:gridCol>
              </a:tblGrid>
              <a:tr h="0">
                <a:tc>
                  <a:txBody>
                    <a:bodyPr/>
                    <a:lstStyle/>
                    <a:p>
                      <a:pPr marL="0" lvl="0" indent="0" algn="ctr" rtl="0">
                        <a:spcBef>
                          <a:spcPts val="0"/>
                        </a:spcBef>
                        <a:spcAft>
                          <a:spcPts val="0"/>
                        </a:spcAft>
                        <a:buNone/>
                      </a:pPr>
                      <a:r>
                        <a:rPr lang="it" sz="700" b="1">
                          <a:solidFill>
                            <a:srgbClr val="FFFFFF"/>
                          </a:solidFill>
                        </a:rPr>
                        <a:t>ACT_#</a:t>
                      </a:r>
                      <a:endParaRPr sz="700" b="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Item</a:t>
                      </a:r>
                      <a:endParaRPr sz="700" b="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Description</a:t>
                      </a:r>
                      <a:endParaRPr sz="700" b="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Type</a:t>
                      </a:r>
                      <a:endParaRPr sz="700" b="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NIST Category</a:t>
                      </a:r>
                      <a:endParaRPr sz="700" b="1">
                        <a:solidFill>
                          <a:srgbClr val="FFFFFF"/>
                        </a:solidFill>
                      </a:endParaRPr>
                    </a:p>
                  </a:txBody>
                  <a:tcPr marL="91425" marR="91425" marT="91425" marB="91425" anchor="ctr">
                    <a:solidFill>
                      <a:srgbClr val="000000"/>
                    </a:solidFill>
                  </a:tcPr>
                </a:tc>
                <a:extLst>
                  <a:ext uri="{0D108BD9-81ED-4DB2-BD59-A6C34878D82A}">
                    <a16:rowId xmlns:a16="http://schemas.microsoft.com/office/drawing/2014/main" val="10000"/>
                  </a:ext>
                </a:extLst>
              </a:tr>
              <a:tr h="1316175">
                <a:tc rowSpan="3">
                  <a:txBody>
                    <a:bodyPr/>
                    <a:lstStyle/>
                    <a:p>
                      <a:pPr marL="0" lvl="0" indent="0" algn="ctr" rtl="0">
                        <a:spcBef>
                          <a:spcPts val="0"/>
                        </a:spcBef>
                        <a:spcAft>
                          <a:spcPts val="0"/>
                        </a:spcAft>
                        <a:buNone/>
                      </a:pPr>
                      <a:r>
                        <a:rPr lang="it" sz="700"/>
                        <a:t>ACT-1</a:t>
                      </a:r>
                      <a:endParaRPr sz="700"/>
                    </a:p>
                    <a:p>
                      <a:pPr marL="0" lvl="0" indent="0" algn="ctr" rtl="0">
                        <a:spcBef>
                          <a:spcPts val="0"/>
                        </a:spcBef>
                        <a:spcAft>
                          <a:spcPts val="0"/>
                        </a:spcAft>
                        <a:buNone/>
                      </a:pP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rowSpan="3">
                  <a:txBody>
                    <a:bodyPr/>
                    <a:lstStyle/>
                    <a:p>
                      <a:pPr marL="0" lvl="0" indent="0" algn="ctr" rtl="0">
                        <a:spcBef>
                          <a:spcPts val="0"/>
                        </a:spcBef>
                        <a:spcAft>
                          <a:spcPts val="0"/>
                        </a:spcAft>
                        <a:buNone/>
                      </a:pPr>
                      <a:r>
                        <a:rPr lang="it" sz="700">
                          <a:solidFill>
                            <a:schemeClr val="dk1"/>
                          </a:solidFill>
                        </a:rPr>
                        <a:t>Firewall Installation for both offices, proxy configuration for web site access segmentation, Adoption of VPN with strong encryption. Intrusion detection system (IDS) activation</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457200" lvl="0" indent="-273050" algn="l" rtl="0">
                        <a:spcBef>
                          <a:spcPts val="0"/>
                        </a:spcBef>
                        <a:spcAft>
                          <a:spcPts val="0"/>
                        </a:spcAft>
                        <a:buSzPts val="700"/>
                        <a:buChar char="●"/>
                      </a:pPr>
                      <a:r>
                        <a:rPr lang="it" sz="700"/>
                        <a:t>Buy two (Sophos Firewall). Implement the follow features:</a:t>
                      </a:r>
                      <a:endParaRPr sz="700"/>
                    </a:p>
                    <a:p>
                      <a:pPr marL="914400" lvl="0" indent="-273050" algn="l" rtl="0">
                        <a:spcBef>
                          <a:spcPts val="0"/>
                        </a:spcBef>
                        <a:spcAft>
                          <a:spcPts val="0"/>
                        </a:spcAft>
                        <a:buSzPts val="700"/>
                        <a:buChar char="●"/>
                      </a:pPr>
                      <a:r>
                        <a:rPr lang="it" sz="700"/>
                        <a:t>Configure Firewall Policies </a:t>
                      </a:r>
                      <a:endParaRPr sz="700"/>
                    </a:p>
                    <a:p>
                      <a:pPr marL="914400" lvl="0" indent="-273050" algn="l" rtl="0">
                        <a:spcBef>
                          <a:spcPts val="0"/>
                        </a:spcBef>
                        <a:spcAft>
                          <a:spcPts val="0"/>
                        </a:spcAft>
                        <a:buSzPts val="700"/>
                        <a:buChar char="●"/>
                      </a:pPr>
                      <a:r>
                        <a:rPr lang="it" sz="700"/>
                        <a:t>Configure Web Proxy used by company users</a:t>
                      </a:r>
                      <a:endParaRPr sz="700"/>
                    </a:p>
                    <a:p>
                      <a:pPr marL="914400" lvl="0" indent="-273050" algn="l" rtl="0">
                        <a:spcBef>
                          <a:spcPts val="0"/>
                        </a:spcBef>
                        <a:spcAft>
                          <a:spcPts val="0"/>
                        </a:spcAft>
                        <a:buSzPts val="700"/>
                        <a:buChar char="●"/>
                      </a:pPr>
                      <a:r>
                        <a:rPr lang="it" sz="700"/>
                        <a:t>Configure site-to-site VPN and install VPN software client on the CEO Laptop</a:t>
                      </a:r>
                      <a:endParaRPr sz="700"/>
                    </a:p>
                    <a:p>
                      <a:pPr marL="457200" lvl="0" indent="-273050" algn="l" rtl="0">
                        <a:spcBef>
                          <a:spcPts val="0"/>
                        </a:spcBef>
                        <a:spcAft>
                          <a:spcPts val="0"/>
                        </a:spcAft>
                        <a:buSzPts val="700"/>
                        <a:buChar char="●"/>
                      </a:pPr>
                      <a:r>
                        <a:rPr lang="it" sz="700"/>
                        <a:t>Buy one (Sophos RED) for home security connected to Office Firewalls using a fixed VPN connection</a:t>
                      </a:r>
                      <a:endParaRPr sz="700"/>
                    </a:p>
                    <a:p>
                      <a:pPr marL="457200" lvl="0" indent="-273050" algn="l" rtl="0">
                        <a:spcBef>
                          <a:spcPts val="0"/>
                        </a:spcBef>
                        <a:spcAft>
                          <a:spcPts val="0"/>
                        </a:spcAft>
                        <a:buSzPts val="700"/>
                        <a:buChar char="●"/>
                      </a:pPr>
                      <a:r>
                        <a:rPr lang="it" sz="700"/>
                        <a:t>Buy one Bitdefender Box Firewall (@ CEO Home)</a:t>
                      </a:r>
                      <a:endParaRPr sz="700"/>
                    </a:p>
                    <a:p>
                      <a:pPr marL="457200" lvl="0" indent="-273050" algn="l" rtl="0">
                        <a:spcBef>
                          <a:spcPts val="0"/>
                        </a:spcBef>
                        <a:spcAft>
                          <a:spcPts val="0"/>
                        </a:spcAft>
                        <a:buSzPts val="700"/>
                        <a:buChar char="●"/>
                      </a:pPr>
                      <a:r>
                        <a:rPr lang="it" sz="700"/>
                        <a:t>Buy two HPE Managed Switch (24 ports)</a:t>
                      </a:r>
                      <a:endParaRPr sz="700"/>
                    </a:p>
                    <a:p>
                      <a:pPr marL="457200" lvl="0" indent="-273050" algn="l" rtl="0">
                        <a:spcBef>
                          <a:spcPts val="0"/>
                        </a:spcBef>
                        <a:spcAft>
                          <a:spcPts val="0"/>
                        </a:spcAft>
                        <a:buSzPts val="700"/>
                        <a:buChar char="●"/>
                      </a:pPr>
                      <a:r>
                        <a:rPr lang="it" sz="700"/>
                        <a:t>Configure different VLAN for every type of device (wireless, printers, PC and NAS, captive portal)</a:t>
                      </a:r>
                      <a:endParaRPr sz="700"/>
                    </a:p>
                    <a:p>
                      <a:pPr marL="457200" lvl="0" indent="-273050" algn="l" rtl="0">
                        <a:spcBef>
                          <a:spcPts val="0"/>
                        </a:spcBef>
                        <a:spcAft>
                          <a:spcPts val="0"/>
                        </a:spcAft>
                        <a:buSzPts val="700"/>
                        <a:buChar char="●"/>
                      </a:pPr>
                      <a:r>
                        <a:rPr lang="it" sz="700"/>
                        <a:t>Install Servers/Network Secure Cabinet</a:t>
                      </a:r>
                      <a:endParaRPr sz="700"/>
                    </a:p>
                    <a:p>
                      <a:pPr marL="457200" lvl="0" indent="-273050" algn="l" rtl="0">
                        <a:spcBef>
                          <a:spcPts val="0"/>
                        </a:spcBef>
                        <a:spcAft>
                          <a:spcPts val="0"/>
                        </a:spcAft>
                        <a:buSzPts val="700"/>
                        <a:buChar char="●"/>
                      </a:pPr>
                      <a:r>
                        <a:rPr lang="it" sz="700"/>
                        <a:t>Buy two enterprise level NAS (Synology RS Series) synchronized by a Synology service. Home can reach the main nas using VPN connection</a:t>
                      </a:r>
                      <a:endParaRPr sz="700"/>
                    </a:p>
                    <a:p>
                      <a:pPr marL="457200" lvl="0" indent="-273050" algn="l" rtl="0">
                        <a:spcBef>
                          <a:spcPts val="0"/>
                        </a:spcBef>
                        <a:spcAft>
                          <a:spcPts val="0"/>
                        </a:spcAft>
                        <a:buSzPts val="700"/>
                        <a:buChar char="●"/>
                      </a:pPr>
                      <a:r>
                        <a:rPr lang="it" sz="700"/>
                        <a:t>All NAS data will be saved on cloud using Synology C2 Backup service</a:t>
                      </a:r>
                      <a:endParaRPr sz="700"/>
                    </a:p>
                    <a:p>
                      <a:pPr marL="457200" lvl="0" indent="-273050" algn="l" rtl="0">
                        <a:spcBef>
                          <a:spcPts val="0"/>
                        </a:spcBef>
                        <a:spcAft>
                          <a:spcPts val="0"/>
                        </a:spcAft>
                        <a:buSzPts val="700"/>
                        <a:buChar char="●"/>
                      </a:pPr>
                      <a:r>
                        <a:rPr lang="it" sz="700"/>
                        <a:t>Buy a BYOD cloud system (Cisco Meraki) </a:t>
                      </a:r>
                      <a:endParaRPr sz="700"/>
                    </a:p>
                    <a:p>
                      <a:pPr marL="457200" lvl="0" indent="-273050" algn="l" rtl="0">
                        <a:spcBef>
                          <a:spcPts val="0"/>
                        </a:spcBef>
                        <a:spcAft>
                          <a:spcPts val="0"/>
                        </a:spcAft>
                        <a:buSzPts val="700"/>
                        <a:buChar char="●"/>
                      </a:pPr>
                      <a:r>
                        <a:rPr lang="it" sz="700"/>
                        <a:t>Install PFSense Captive Portal Appliance</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Technical</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solidFill>
                            <a:srgbClr val="FFFFFF"/>
                          </a:solidFill>
                        </a:rPr>
                        <a:t>PR-AC</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solidFill>
                      <a:srgbClr val="8E7CC3"/>
                    </a:solidFill>
                  </a:tcPr>
                </a:tc>
                <a:extLst>
                  <a:ext uri="{0D108BD9-81ED-4DB2-BD59-A6C34878D82A}">
                    <a16:rowId xmlns:a16="http://schemas.microsoft.com/office/drawing/2014/main" val="10001"/>
                  </a:ext>
                </a:extLst>
              </a:tr>
              <a:tr h="0">
                <a:tc vMerge="1">
                  <a:txBody>
                    <a:bodyPr/>
                    <a:lstStyle/>
                    <a:p>
                      <a:endParaRPr lang="en-US"/>
                    </a:p>
                  </a:txBody>
                  <a:tcPr/>
                </a:tc>
                <a:tc vMerge="1">
                  <a:txBody>
                    <a:bodyPr/>
                    <a:lstStyle/>
                    <a:p>
                      <a:endParaRPr lang="en-US"/>
                    </a:p>
                  </a:txBody>
                  <a:tcPr/>
                </a:tc>
                <a:tc>
                  <a:txBody>
                    <a:bodyPr/>
                    <a:lstStyle/>
                    <a:p>
                      <a:pPr marL="457200" lvl="0" indent="-273050" algn="l" rtl="0">
                        <a:spcBef>
                          <a:spcPts val="0"/>
                        </a:spcBef>
                        <a:spcAft>
                          <a:spcPts val="0"/>
                        </a:spcAft>
                        <a:buClr>
                          <a:schemeClr val="dk1"/>
                        </a:buClr>
                        <a:buSzPts val="700"/>
                        <a:buChar char="●"/>
                      </a:pPr>
                      <a:r>
                        <a:rPr lang="it" sz="700">
                          <a:solidFill>
                            <a:schemeClr val="dk1"/>
                          </a:solidFill>
                        </a:rPr>
                        <a:t>Configure the IDS (Intrusion Detection System)</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Technical</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t>DE.AE</a:t>
                      </a:r>
                      <a:endParaRPr sz="700" b="1"/>
                    </a:p>
                  </a:txBody>
                  <a:tcPr marL="91425" marR="91425" marT="91425" marB="91425" anchor="ctr">
                    <a:lnL w="9525" cap="flat" cmpd="sng">
                      <a:solidFill>
                        <a:srgbClr val="FFFFFF"/>
                      </a:solidFill>
                      <a:prstDash val="solid"/>
                      <a:round/>
                      <a:headEnd type="none" w="sm" len="sm"/>
                      <a:tailEnd type="none" w="sm" len="sm"/>
                    </a:lnL>
                    <a:solidFill>
                      <a:srgbClr val="FFFF00"/>
                    </a:solidFill>
                  </a:tcPr>
                </a:tc>
                <a:extLst>
                  <a:ext uri="{0D108BD9-81ED-4DB2-BD59-A6C34878D82A}">
                    <a16:rowId xmlns:a16="http://schemas.microsoft.com/office/drawing/2014/main" val="10002"/>
                  </a:ext>
                </a:extLst>
              </a:tr>
              <a:tr h="0">
                <a:tc vMerge="1">
                  <a:txBody>
                    <a:bodyPr/>
                    <a:lstStyle/>
                    <a:p>
                      <a:endParaRPr lang="en-US"/>
                    </a:p>
                  </a:txBody>
                  <a:tcPr/>
                </a:tc>
                <a:tc vMerge="1">
                  <a:txBody>
                    <a:bodyPr/>
                    <a:lstStyle/>
                    <a:p>
                      <a:endParaRPr lang="en-US"/>
                    </a:p>
                  </a:txBody>
                  <a:tcPr/>
                </a:tc>
                <a:tc>
                  <a:txBody>
                    <a:bodyPr/>
                    <a:lstStyle/>
                    <a:p>
                      <a:pPr marL="457200" lvl="0" indent="-273050" algn="l" rtl="0">
                        <a:spcBef>
                          <a:spcPts val="0"/>
                        </a:spcBef>
                        <a:spcAft>
                          <a:spcPts val="0"/>
                        </a:spcAft>
                        <a:buClr>
                          <a:schemeClr val="dk1"/>
                        </a:buClr>
                        <a:buSzPts val="700"/>
                        <a:buChar char="●"/>
                      </a:pPr>
                      <a:r>
                        <a:rPr lang="it" sz="700">
                          <a:solidFill>
                            <a:schemeClr val="dk1"/>
                          </a:solidFill>
                        </a:rPr>
                        <a:t>Buy a (Sophos) Central Antivirus for every device of the organization</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Clr>
                          <a:schemeClr val="dk1"/>
                        </a:buClr>
                        <a:buSzPts val="1100"/>
                        <a:buFont typeface="Arial"/>
                        <a:buNone/>
                      </a:pPr>
                      <a:r>
                        <a:rPr lang="it" sz="700">
                          <a:solidFill>
                            <a:schemeClr val="dk1"/>
                          </a:solidFill>
                        </a:rPr>
                        <a:t>Technical</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t>DE.CM</a:t>
                      </a:r>
                      <a:endParaRPr sz="700" b="1"/>
                    </a:p>
                  </a:txBody>
                  <a:tcPr marL="91425" marR="91425" marT="91425" marB="91425" anchor="ctr">
                    <a:lnL w="9525" cap="flat" cmpd="sng">
                      <a:solidFill>
                        <a:srgbClr val="FFFFFF"/>
                      </a:solidFill>
                      <a:prstDash val="solid"/>
                      <a:round/>
                      <a:headEnd type="none" w="sm" len="sm"/>
                      <a:tailEnd type="none" w="sm" len="sm"/>
                    </a:lnL>
                    <a:solidFill>
                      <a:srgbClr val="FFFF00"/>
                    </a:solidFill>
                  </a:tcPr>
                </a:tc>
                <a:extLst>
                  <a:ext uri="{0D108BD9-81ED-4DB2-BD59-A6C34878D82A}">
                    <a16:rowId xmlns:a16="http://schemas.microsoft.com/office/drawing/2014/main" val="10003"/>
                  </a:ext>
                </a:extLst>
              </a:tr>
              <a:tr h="261200">
                <a:tc>
                  <a:txBody>
                    <a:bodyPr/>
                    <a:lstStyle/>
                    <a:p>
                      <a:pPr marL="0" lvl="0" indent="0" algn="ctr" rtl="0">
                        <a:spcBef>
                          <a:spcPts val="0"/>
                        </a:spcBef>
                        <a:spcAft>
                          <a:spcPts val="0"/>
                        </a:spcAft>
                        <a:buNone/>
                      </a:pPr>
                      <a:r>
                        <a:rPr lang="it" sz="700"/>
                        <a:t>ACT-2</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Clr>
                          <a:schemeClr val="dk1"/>
                        </a:buClr>
                        <a:buSzPts val="1100"/>
                        <a:buFont typeface="Arial"/>
                        <a:buNone/>
                      </a:pPr>
                      <a:r>
                        <a:rPr lang="it" sz="700">
                          <a:solidFill>
                            <a:schemeClr val="dk1"/>
                          </a:solidFill>
                        </a:rPr>
                        <a:t>Employee training about cyber-hygiene and cyber-awareness</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457200" lvl="0" indent="-273050" algn="l" rtl="0">
                        <a:spcBef>
                          <a:spcPts val="0"/>
                        </a:spcBef>
                        <a:spcAft>
                          <a:spcPts val="0"/>
                        </a:spcAft>
                        <a:buSzPts val="700"/>
                        <a:buChar char="●"/>
                      </a:pPr>
                      <a:r>
                        <a:rPr lang="it" sz="700"/>
                        <a:t>Manager training</a:t>
                      </a:r>
                      <a:endParaRPr sz="700"/>
                    </a:p>
                    <a:p>
                      <a:pPr marL="457200" lvl="0" indent="-273050" algn="l" rtl="0">
                        <a:spcBef>
                          <a:spcPts val="0"/>
                        </a:spcBef>
                        <a:spcAft>
                          <a:spcPts val="0"/>
                        </a:spcAft>
                        <a:buSzPts val="700"/>
                        <a:buChar char="●"/>
                      </a:pPr>
                      <a:r>
                        <a:rPr lang="it" sz="700"/>
                        <a:t>Employee training</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Managerial</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solidFill>
                            <a:srgbClr val="FFFFFF"/>
                          </a:solidFill>
                        </a:rPr>
                        <a:t>PR.AT</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solidFill>
                      <a:srgbClr val="8E7CC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31" name="Google Shape;131;p21"/>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32" name="Google Shape;132;p21"/>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33" name="Google Shape;133;p21"/>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Action plan (Part 2)</a:t>
            </a:r>
            <a:endParaRPr sz="1600" b="1">
              <a:solidFill>
                <a:schemeClr val="lt1"/>
              </a:solidFill>
            </a:endParaRPr>
          </a:p>
        </p:txBody>
      </p:sp>
      <p:graphicFrame>
        <p:nvGraphicFramePr>
          <p:cNvPr id="134" name="Google Shape;134;p21"/>
          <p:cNvGraphicFramePr/>
          <p:nvPr>
            <p:extLst>
              <p:ext uri="{D42A27DB-BD31-4B8C-83A1-F6EECF244321}">
                <p14:modId xmlns:p14="http://schemas.microsoft.com/office/powerpoint/2010/main" val="2727293595"/>
              </p:ext>
            </p:extLst>
          </p:nvPr>
        </p:nvGraphicFramePr>
        <p:xfrm>
          <a:off x="266688" y="1226475"/>
          <a:ext cx="8610625" cy="2590620"/>
        </p:xfrm>
        <a:graphic>
          <a:graphicData uri="http://schemas.openxmlformats.org/drawingml/2006/table">
            <a:tbl>
              <a:tblPr>
                <a:noFill/>
                <a:tableStyleId>{4D11C929-2CF1-41A9-A7A1-38CD1D5D44DC}</a:tableStyleId>
              </a:tblPr>
              <a:tblGrid>
                <a:gridCol w="606575">
                  <a:extLst>
                    <a:ext uri="{9D8B030D-6E8A-4147-A177-3AD203B41FA5}">
                      <a16:colId xmlns:a16="http://schemas.microsoft.com/office/drawing/2014/main" val="20000"/>
                    </a:ext>
                  </a:extLst>
                </a:gridCol>
                <a:gridCol w="2091575">
                  <a:extLst>
                    <a:ext uri="{9D8B030D-6E8A-4147-A177-3AD203B41FA5}">
                      <a16:colId xmlns:a16="http://schemas.microsoft.com/office/drawing/2014/main" val="20001"/>
                    </a:ext>
                  </a:extLst>
                </a:gridCol>
                <a:gridCol w="3358400">
                  <a:extLst>
                    <a:ext uri="{9D8B030D-6E8A-4147-A177-3AD203B41FA5}">
                      <a16:colId xmlns:a16="http://schemas.microsoft.com/office/drawing/2014/main" val="20002"/>
                    </a:ext>
                  </a:extLst>
                </a:gridCol>
                <a:gridCol w="860825">
                  <a:extLst>
                    <a:ext uri="{9D8B030D-6E8A-4147-A177-3AD203B41FA5}">
                      <a16:colId xmlns:a16="http://schemas.microsoft.com/office/drawing/2014/main" val="20003"/>
                    </a:ext>
                  </a:extLst>
                </a:gridCol>
                <a:gridCol w="1693250">
                  <a:extLst>
                    <a:ext uri="{9D8B030D-6E8A-4147-A177-3AD203B41FA5}">
                      <a16:colId xmlns:a16="http://schemas.microsoft.com/office/drawing/2014/main" val="20004"/>
                    </a:ext>
                  </a:extLst>
                </a:gridCol>
              </a:tblGrid>
              <a:tr h="0">
                <a:tc>
                  <a:txBody>
                    <a:bodyPr/>
                    <a:lstStyle/>
                    <a:p>
                      <a:pPr marL="0" lvl="0" indent="0" algn="ctr" rtl="0">
                        <a:spcBef>
                          <a:spcPts val="0"/>
                        </a:spcBef>
                        <a:spcAft>
                          <a:spcPts val="0"/>
                        </a:spcAft>
                        <a:buNone/>
                      </a:pPr>
                      <a:r>
                        <a:rPr lang="it" sz="700" b="1">
                          <a:solidFill>
                            <a:srgbClr val="FFFFFF"/>
                          </a:solidFill>
                        </a:rPr>
                        <a:t>ACT_#</a:t>
                      </a:r>
                      <a:endParaRPr sz="700" b="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Item</a:t>
                      </a:r>
                      <a:endParaRPr sz="700" b="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err="1">
                          <a:solidFill>
                            <a:srgbClr val="FFFFFF"/>
                          </a:solidFill>
                        </a:rPr>
                        <a:t>Description</a:t>
                      </a:r>
                      <a:endParaRPr sz="700" b="1" err="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err="1">
                          <a:solidFill>
                            <a:srgbClr val="FFFFFF"/>
                          </a:solidFill>
                        </a:rPr>
                        <a:t>Type</a:t>
                      </a:r>
                      <a:endParaRPr sz="700" b="1" err="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NIST </a:t>
                      </a:r>
                      <a:r>
                        <a:rPr lang="it" sz="700" b="1" err="1">
                          <a:solidFill>
                            <a:srgbClr val="FFFFFF"/>
                          </a:solidFill>
                        </a:rPr>
                        <a:t>Category</a:t>
                      </a:r>
                      <a:endParaRPr sz="700" b="1" err="1">
                        <a:solidFill>
                          <a:srgbClr val="FFFFFF"/>
                        </a:solidFill>
                      </a:endParaRPr>
                    </a:p>
                  </a:txBody>
                  <a:tcPr marL="91425" marR="91425" marT="91425" marB="91425" anchor="ctr">
                    <a:lnB w="9525" cap="flat" cmpd="sng">
                      <a:solidFill>
                        <a:srgbClr val="FFFFFF"/>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401875">
                <a:tc rowSpan="4">
                  <a:txBody>
                    <a:bodyPr/>
                    <a:lstStyle/>
                    <a:p>
                      <a:pPr marL="0" lvl="0" indent="0" algn="ctr" rtl="0">
                        <a:spcBef>
                          <a:spcPts val="0"/>
                        </a:spcBef>
                        <a:spcAft>
                          <a:spcPts val="0"/>
                        </a:spcAft>
                        <a:buNone/>
                      </a:pPr>
                      <a:r>
                        <a:rPr lang="it" sz="700"/>
                        <a:t>ACT-3</a:t>
                      </a:r>
                      <a:endParaRPr sz="700"/>
                    </a:p>
                    <a:p>
                      <a:pPr marL="0" lvl="0" indent="0" algn="ctr" rtl="0">
                        <a:spcBef>
                          <a:spcPts val="0"/>
                        </a:spcBef>
                        <a:spcAft>
                          <a:spcPts val="0"/>
                        </a:spcAft>
                        <a:buNone/>
                      </a:pP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rowSpan="4">
                  <a:txBody>
                    <a:bodyPr/>
                    <a:lstStyle/>
                    <a:p>
                      <a:pPr marL="0" lvl="0" indent="0" algn="ctr" rtl="0">
                        <a:spcBef>
                          <a:spcPts val="0"/>
                        </a:spcBef>
                        <a:spcAft>
                          <a:spcPts val="0"/>
                        </a:spcAft>
                        <a:buNone/>
                      </a:pPr>
                      <a:r>
                        <a:rPr lang="it" sz="700">
                          <a:solidFill>
                            <a:schemeClr val="dk1"/>
                          </a:solidFill>
                        </a:rPr>
                        <a:t>Create Business </a:t>
                      </a:r>
                      <a:r>
                        <a:rPr lang="it" sz="700" err="1">
                          <a:solidFill>
                            <a:schemeClr val="dk1"/>
                          </a:solidFill>
                        </a:rPr>
                        <a:t>Continuity</a:t>
                      </a:r>
                      <a:r>
                        <a:rPr lang="it" sz="700">
                          <a:solidFill>
                            <a:schemeClr val="dk1"/>
                          </a:solidFill>
                        </a:rPr>
                        <a:t> (BC) and </a:t>
                      </a:r>
                      <a:r>
                        <a:rPr lang="it" sz="700" err="1">
                          <a:solidFill>
                            <a:schemeClr val="dk1"/>
                          </a:solidFill>
                        </a:rPr>
                        <a:t>Incident</a:t>
                      </a:r>
                      <a:r>
                        <a:rPr lang="it" sz="700">
                          <a:solidFill>
                            <a:schemeClr val="dk1"/>
                          </a:solidFill>
                        </a:rPr>
                        <a:t> </a:t>
                      </a:r>
                      <a:r>
                        <a:rPr lang="it" sz="700" err="1">
                          <a:solidFill>
                            <a:schemeClr val="dk1"/>
                          </a:solidFill>
                        </a:rPr>
                        <a:t>Response</a:t>
                      </a:r>
                      <a:r>
                        <a:rPr lang="it" sz="700">
                          <a:solidFill>
                            <a:schemeClr val="dk1"/>
                          </a:solidFill>
                        </a:rPr>
                        <a:t> (IR) Plan</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457200" lvl="0" indent="-273050" algn="l" rtl="0">
                        <a:spcBef>
                          <a:spcPts val="0"/>
                        </a:spcBef>
                        <a:spcAft>
                          <a:spcPts val="0"/>
                        </a:spcAft>
                        <a:buClr>
                          <a:schemeClr val="dk1"/>
                        </a:buClr>
                        <a:buSzPts val="700"/>
                        <a:buChar char="●"/>
                      </a:pPr>
                      <a:r>
                        <a:rPr lang="it" sz="700" err="1">
                          <a:solidFill>
                            <a:schemeClr val="dk1"/>
                          </a:solidFill>
                        </a:rPr>
                        <a:t>Define</a:t>
                      </a:r>
                      <a:r>
                        <a:rPr lang="it" sz="700">
                          <a:solidFill>
                            <a:schemeClr val="dk1"/>
                          </a:solidFill>
                        </a:rPr>
                        <a:t> </a:t>
                      </a:r>
                      <a:r>
                        <a:rPr lang="it" sz="700" err="1">
                          <a:solidFill>
                            <a:schemeClr val="dk1"/>
                          </a:solidFill>
                        </a:rPr>
                        <a:t>disaster</a:t>
                      </a:r>
                      <a:r>
                        <a:rPr lang="it" sz="700">
                          <a:solidFill>
                            <a:schemeClr val="dk1"/>
                          </a:solidFill>
                        </a:rPr>
                        <a:t> recovery procedure</a:t>
                      </a:r>
                      <a:endParaRPr sz="700">
                        <a:solidFill>
                          <a:schemeClr val="dk1"/>
                        </a:solidFill>
                      </a:endParaRPr>
                    </a:p>
                    <a:p>
                      <a:pPr marL="457200" lvl="0" indent="-273050" algn="l" rtl="0">
                        <a:spcBef>
                          <a:spcPts val="0"/>
                        </a:spcBef>
                        <a:spcAft>
                          <a:spcPts val="0"/>
                        </a:spcAft>
                        <a:buClr>
                          <a:schemeClr val="dk1"/>
                        </a:buClr>
                        <a:buSzPts val="700"/>
                        <a:buChar char="●"/>
                      </a:pPr>
                      <a:r>
                        <a:rPr lang="it" sz="700">
                          <a:solidFill>
                            <a:schemeClr val="dk1"/>
                          </a:solidFill>
                        </a:rPr>
                        <a:t>Setup Emergency Contact list</a:t>
                      </a:r>
                      <a:endParaRPr sz="700">
                        <a:solidFill>
                          <a:schemeClr val="dk1"/>
                        </a:solidFill>
                      </a:endParaRPr>
                    </a:p>
                    <a:p>
                      <a:pPr marL="457200" lvl="0" indent="-273050" algn="l" rtl="0">
                        <a:spcBef>
                          <a:spcPts val="0"/>
                        </a:spcBef>
                        <a:spcAft>
                          <a:spcPts val="0"/>
                        </a:spcAft>
                        <a:buClr>
                          <a:schemeClr val="dk1"/>
                        </a:buClr>
                        <a:buSzPts val="700"/>
                        <a:buChar char="●"/>
                      </a:pPr>
                      <a:r>
                        <a:rPr lang="it" sz="700" err="1">
                          <a:solidFill>
                            <a:schemeClr val="dk1"/>
                          </a:solidFill>
                        </a:rPr>
                        <a:t>Employee</a:t>
                      </a:r>
                      <a:r>
                        <a:rPr lang="it" sz="700">
                          <a:solidFill>
                            <a:schemeClr val="dk1"/>
                          </a:solidFill>
                        </a:rPr>
                        <a:t> Training</a:t>
                      </a:r>
                      <a:endParaRPr sz="700">
                        <a:solidFill>
                          <a:schemeClr val="dk1"/>
                        </a:solidFill>
                      </a:endParaRPr>
                    </a:p>
                    <a:p>
                      <a:pPr marL="457200" lvl="0" indent="-273050" algn="l" rtl="0">
                        <a:spcBef>
                          <a:spcPts val="0"/>
                        </a:spcBef>
                        <a:spcAft>
                          <a:spcPts val="0"/>
                        </a:spcAft>
                        <a:buClr>
                          <a:schemeClr val="dk1"/>
                        </a:buClr>
                        <a:buSzPts val="700"/>
                        <a:buChar char="●"/>
                      </a:pPr>
                      <a:r>
                        <a:rPr lang="it" sz="700" err="1">
                          <a:solidFill>
                            <a:schemeClr val="dk1"/>
                          </a:solidFill>
                        </a:rPr>
                        <a:t>Configure</a:t>
                      </a:r>
                      <a:r>
                        <a:rPr lang="it" sz="700">
                          <a:solidFill>
                            <a:schemeClr val="dk1"/>
                          </a:solidFill>
                        </a:rPr>
                        <a:t> </a:t>
                      </a:r>
                      <a:r>
                        <a:rPr lang="it" sz="700" err="1">
                          <a:solidFill>
                            <a:schemeClr val="dk1"/>
                          </a:solidFill>
                        </a:rPr>
                        <a:t>automatic</a:t>
                      </a:r>
                      <a:r>
                        <a:rPr lang="it" sz="700">
                          <a:solidFill>
                            <a:schemeClr val="dk1"/>
                          </a:solidFill>
                        </a:rPr>
                        <a:t> security updates </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Clr>
                          <a:schemeClr val="dk1"/>
                        </a:buClr>
                        <a:buSzPts val="1100"/>
                        <a:buFont typeface="Arial"/>
                        <a:buNone/>
                      </a:pPr>
                      <a:r>
                        <a:rPr lang="it" sz="700" err="1">
                          <a:solidFill>
                            <a:schemeClr val="dk1"/>
                          </a:solidFill>
                        </a:rPr>
                        <a:t>Managerial</a:t>
                      </a:r>
                      <a:endParaRPr sz="700">
                        <a:solidFill>
                          <a:schemeClr val="dk1"/>
                        </a:solidFill>
                      </a:endParaRPr>
                    </a:p>
                    <a:p>
                      <a:pPr marL="0" lvl="0" indent="0" algn="ctr" rtl="0">
                        <a:spcBef>
                          <a:spcPts val="0"/>
                        </a:spcBef>
                        <a:spcAft>
                          <a:spcPts val="0"/>
                        </a:spcAft>
                        <a:buClr>
                          <a:schemeClr val="dk1"/>
                        </a:buClr>
                        <a:buSzPts val="1100"/>
                        <a:buFont typeface="Arial"/>
                        <a:buNone/>
                      </a:pPr>
                      <a:r>
                        <a:rPr lang="it" sz="700">
                          <a:solidFill>
                            <a:schemeClr val="dk1"/>
                          </a:solidFill>
                        </a:rPr>
                        <a:t>Technical</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Clr>
                          <a:schemeClr val="dk1"/>
                        </a:buClr>
                        <a:buSzPts val="1100"/>
                        <a:buFont typeface="Arial"/>
                        <a:buNone/>
                      </a:pPr>
                      <a:r>
                        <a:rPr lang="it" sz="700" b="1">
                          <a:solidFill>
                            <a:srgbClr val="FFFFFF"/>
                          </a:solidFill>
                        </a:rPr>
                        <a:t>RC.RP</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38761D"/>
                    </a:solidFill>
                  </a:tcPr>
                </a:tc>
                <a:extLst>
                  <a:ext uri="{0D108BD9-81ED-4DB2-BD59-A6C34878D82A}">
                    <a16:rowId xmlns:a16="http://schemas.microsoft.com/office/drawing/2014/main" val="10001"/>
                  </a:ext>
                </a:extLst>
              </a:tr>
              <a:tr h="0">
                <a:tc vMerge="1">
                  <a:txBody>
                    <a:bodyPr/>
                    <a:lstStyle/>
                    <a:p>
                      <a:endParaRPr lang="en-US"/>
                    </a:p>
                  </a:txBody>
                  <a:tcPr/>
                </a:tc>
                <a:tc vMerge="1">
                  <a:txBody>
                    <a:bodyPr/>
                    <a:lstStyle/>
                    <a:p>
                      <a:endParaRPr lang="en-US"/>
                    </a:p>
                  </a:txBody>
                  <a:tcPr/>
                </a:tc>
                <a:tc>
                  <a:txBody>
                    <a:bodyPr/>
                    <a:lstStyle/>
                    <a:p>
                      <a:pPr marL="457200" lvl="0" indent="-273050" algn="l" rtl="0">
                        <a:spcBef>
                          <a:spcPts val="0"/>
                        </a:spcBef>
                        <a:spcAft>
                          <a:spcPts val="0"/>
                        </a:spcAft>
                        <a:buSzPts val="700"/>
                        <a:buChar char="●"/>
                      </a:pPr>
                      <a:r>
                        <a:rPr lang="it" sz="700" err="1"/>
                        <a:t>Implements</a:t>
                      </a:r>
                      <a:r>
                        <a:rPr lang="it" sz="700"/>
                        <a:t> a </a:t>
                      </a:r>
                      <a:r>
                        <a:rPr lang="it" sz="700" err="1"/>
                        <a:t>Maintenance</a:t>
                      </a:r>
                      <a:r>
                        <a:rPr lang="it" sz="700"/>
                        <a:t> Program (update/security fix)</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Technical</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solidFill>
                            <a:srgbClr val="FFFFFF"/>
                          </a:solidFill>
                        </a:rPr>
                        <a:t>PR.MA</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8E7CC3"/>
                    </a:solidFill>
                  </a:tcPr>
                </a:tc>
                <a:extLst>
                  <a:ext uri="{0D108BD9-81ED-4DB2-BD59-A6C34878D82A}">
                    <a16:rowId xmlns:a16="http://schemas.microsoft.com/office/drawing/2014/main" val="10002"/>
                  </a:ext>
                </a:extLst>
              </a:tr>
              <a:tr h="0">
                <a:tc vMerge="1">
                  <a:txBody>
                    <a:bodyPr/>
                    <a:lstStyle/>
                    <a:p>
                      <a:endParaRPr lang="en-US"/>
                    </a:p>
                  </a:txBody>
                  <a:tcPr/>
                </a:tc>
                <a:tc vMerge="1">
                  <a:txBody>
                    <a:bodyPr/>
                    <a:lstStyle/>
                    <a:p>
                      <a:endParaRPr lang="en-US"/>
                    </a:p>
                  </a:txBody>
                  <a:tcPr/>
                </a:tc>
                <a:tc>
                  <a:txBody>
                    <a:bodyPr/>
                    <a:lstStyle/>
                    <a:p>
                      <a:pPr marL="457200" lvl="0" indent="-273050" algn="l" rtl="0">
                        <a:spcBef>
                          <a:spcPts val="0"/>
                        </a:spcBef>
                        <a:spcAft>
                          <a:spcPts val="0"/>
                        </a:spcAft>
                        <a:buSzPts val="700"/>
                        <a:buChar char="●"/>
                      </a:pPr>
                      <a:r>
                        <a:rPr lang="it" sz="700" err="1"/>
                        <a:t>Define</a:t>
                      </a:r>
                      <a:r>
                        <a:rPr lang="it" sz="700"/>
                        <a:t> </a:t>
                      </a:r>
                      <a:r>
                        <a:rPr lang="it" sz="700" err="1"/>
                        <a:t>Response</a:t>
                      </a:r>
                      <a:r>
                        <a:rPr lang="it" sz="700"/>
                        <a:t> procedure</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err="1"/>
                        <a:t>Managerial</a:t>
                      </a:r>
                      <a:endParaRPr sz="700" err="1"/>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t>RS.CO</a:t>
                      </a:r>
                      <a:endParaRPr sz="700" b="1"/>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0000"/>
                    </a:solidFill>
                  </a:tcPr>
                </a:tc>
                <a:extLst>
                  <a:ext uri="{0D108BD9-81ED-4DB2-BD59-A6C34878D82A}">
                    <a16:rowId xmlns:a16="http://schemas.microsoft.com/office/drawing/2014/main" val="10003"/>
                  </a:ext>
                </a:extLst>
              </a:tr>
              <a:tr h="0">
                <a:tc vMerge="1">
                  <a:txBody>
                    <a:bodyPr/>
                    <a:lstStyle/>
                    <a:p>
                      <a:endParaRPr lang="en-US"/>
                    </a:p>
                  </a:txBody>
                  <a:tcPr/>
                </a:tc>
                <a:tc vMerge="1">
                  <a:txBody>
                    <a:bodyPr/>
                    <a:lstStyle/>
                    <a:p>
                      <a:endParaRPr lang="en-US"/>
                    </a:p>
                  </a:txBody>
                  <a:tcPr/>
                </a:tc>
                <a:tc>
                  <a:txBody>
                    <a:bodyPr/>
                    <a:lstStyle/>
                    <a:p>
                      <a:pPr marL="457200" lvl="0" indent="-273050" algn="l" rtl="0">
                        <a:spcBef>
                          <a:spcPts val="0"/>
                        </a:spcBef>
                        <a:spcAft>
                          <a:spcPts val="0"/>
                        </a:spcAft>
                        <a:buSzPts val="700"/>
                        <a:buChar char="●"/>
                      </a:pPr>
                      <a:r>
                        <a:rPr lang="it" sz="700" err="1"/>
                        <a:t>Detailed</a:t>
                      </a:r>
                      <a:r>
                        <a:rPr lang="it" sz="700"/>
                        <a:t> assets of hardware &amp; software and business data flow</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err="1"/>
                        <a:t>Managerial</a:t>
                      </a:r>
                      <a:endParaRPr sz="700" err="1"/>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solidFill>
                            <a:srgbClr val="FFFFFF"/>
                          </a:solidFill>
                        </a:rPr>
                        <a:t>ID.AM</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4A86E8"/>
                    </a:solidFill>
                  </a:tcPr>
                </a:tc>
                <a:extLst>
                  <a:ext uri="{0D108BD9-81ED-4DB2-BD59-A6C34878D82A}">
                    <a16:rowId xmlns:a16="http://schemas.microsoft.com/office/drawing/2014/main" val="10004"/>
                  </a:ext>
                </a:extLst>
              </a:tr>
              <a:tr h="542525">
                <a:tc>
                  <a:txBody>
                    <a:bodyPr/>
                    <a:lstStyle/>
                    <a:p>
                      <a:pPr marL="0" lvl="0" indent="0" algn="l" rtl="0">
                        <a:spcBef>
                          <a:spcPts val="0"/>
                        </a:spcBef>
                        <a:spcAft>
                          <a:spcPts val="0"/>
                        </a:spcAft>
                        <a:buNone/>
                      </a:pPr>
                      <a:r>
                        <a:rPr lang="it" sz="700"/>
                        <a:t>ACT-4</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solidFill>
                            <a:schemeClr val="dk1"/>
                          </a:solidFill>
                        </a:rPr>
                        <a:t>Use of data </a:t>
                      </a:r>
                      <a:r>
                        <a:rPr lang="it" sz="700" err="1">
                          <a:solidFill>
                            <a:schemeClr val="dk1"/>
                          </a:solidFill>
                        </a:rPr>
                        <a:t>encryption</a:t>
                      </a:r>
                      <a:r>
                        <a:rPr lang="it" sz="700">
                          <a:solidFill>
                            <a:schemeClr val="dk1"/>
                          </a:solidFill>
                        </a:rPr>
                        <a:t> on </a:t>
                      </a:r>
                      <a:r>
                        <a:rPr lang="it" sz="700" err="1">
                          <a:solidFill>
                            <a:schemeClr val="dk1"/>
                          </a:solidFill>
                        </a:rPr>
                        <a:t>every</a:t>
                      </a:r>
                      <a:r>
                        <a:rPr lang="it" sz="700">
                          <a:solidFill>
                            <a:schemeClr val="dk1"/>
                          </a:solidFill>
                        </a:rPr>
                        <a:t> asset, data </a:t>
                      </a:r>
                      <a:r>
                        <a:rPr lang="it" sz="700" err="1">
                          <a:solidFill>
                            <a:schemeClr val="dk1"/>
                          </a:solidFill>
                        </a:rPr>
                        <a:t>synchronization</a:t>
                      </a:r>
                      <a:r>
                        <a:rPr lang="it" sz="700">
                          <a:solidFill>
                            <a:schemeClr val="dk1"/>
                          </a:solidFill>
                        </a:rPr>
                        <a:t> on the cloud. </a:t>
                      </a:r>
                      <a:r>
                        <a:rPr lang="it" sz="700" err="1">
                          <a:solidFill>
                            <a:schemeClr val="dk1"/>
                          </a:solidFill>
                        </a:rPr>
                        <a:t>Enroll</a:t>
                      </a:r>
                      <a:r>
                        <a:rPr lang="it" sz="700">
                          <a:solidFill>
                            <a:schemeClr val="dk1"/>
                          </a:solidFill>
                        </a:rPr>
                        <a:t> </a:t>
                      </a:r>
                      <a:r>
                        <a:rPr lang="it" sz="700" err="1">
                          <a:solidFill>
                            <a:schemeClr val="dk1"/>
                          </a:solidFill>
                        </a:rPr>
                        <a:t>all</a:t>
                      </a:r>
                      <a:r>
                        <a:rPr lang="it" sz="700">
                          <a:solidFill>
                            <a:schemeClr val="dk1"/>
                          </a:solidFill>
                        </a:rPr>
                        <a:t> mobile devices to BYOD manager.</a:t>
                      </a:r>
                      <a:endParaRPr sz="700">
                        <a:solidFill>
                          <a:schemeClr val="dk1"/>
                        </a:solidFill>
                      </a:endParaRPr>
                    </a:p>
                    <a:p>
                      <a:pPr marL="0" lvl="0" indent="0" algn="ctr" rtl="0">
                        <a:spcBef>
                          <a:spcPts val="0"/>
                        </a:spcBef>
                        <a:spcAft>
                          <a:spcPts val="0"/>
                        </a:spcAft>
                        <a:buNone/>
                      </a:pPr>
                      <a:r>
                        <a:rPr lang="it" sz="700" err="1">
                          <a:solidFill>
                            <a:schemeClr val="dk1"/>
                          </a:solidFill>
                        </a:rPr>
                        <a:t>Least</a:t>
                      </a:r>
                      <a:r>
                        <a:rPr lang="it" sz="700">
                          <a:solidFill>
                            <a:schemeClr val="dk1"/>
                          </a:solidFill>
                        </a:rPr>
                        <a:t> </a:t>
                      </a:r>
                      <a:r>
                        <a:rPr lang="it" sz="700" err="1">
                          <a:solidFill>
                            <a:schemeClr val="dk1"/>
                          </a:solidFill>
                        </a:rPr>
                        <a:t>privilege</a:t>
                      </a:r>
                      <a:r>
                        <a:rPr lang="it" sz="700">
                          <a:solidFill>
                            <a:schemeClr val="dk1"/>
                          </a:solidFill>
                        </a:rPr>
                        <a:t> </a:t>
                      </a:r>
                      <a:r>
                        <a:rPr lang="it" sz="700" err="1">
                          <a:solidFill>
                            <a:schemeClr val="dk1"/>
                          </a:solidFill>
                        </a:rPr>
                        <a:t>configuration</a:t>
                      </a:r>
                      <a:r>
                        <a:rPr lang="it" sz="700">
                          <a:solidFill>
                            <a:schemeClr val="dk1"/>
                          </a:solidFill>
                        </a:rPr>
                        <a:t>, </a:t>
                      </a:r>
                      <a:r>
                        <a:rPr lang="it" sz="700" err="1">
                          <a:solidFill>
                            <a:schemeClr val="dk1"/>
                          </a:solidFill>
                        </a:rPr>
                        <a:t>implementation</a:t>
                      </a:r>
                      <a:r>
                        <a:rPr lang="it" sz="700">
                          <a:solidFill>
                            <a:schemeClr val="dk1"/>
                          </a:solidFill>
                        </a:rPr>
                        <a:t> of </a:t>
                      </a:r>
                      <a:r>
                        <a:rPr lang="it" sz="700" err="1">
                          <a:solidFill>
                            <a:schemeClr val="dk1"/>
                          </a:solidFill>
                        </a:rPr>
                        <a:t>role-based</a:t>
                      </a:r>
                      <a:r>
                        <a:rPr lang="it" sz="700">
                          <a:solidFill>
                            <a:schemeClr val="dk1"/>
                          </a:solidFill>
                        </a:rPr>
                        <a:t> access control (RBAC), zero-trust authentication and/or 2FA</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457200" lvl="0" indent="-273050" algn="l" rtl="0">
                        <a:spcBef>
                          <a:spcPts val="0"/>
                        </a:spcBef>
                        <a:spcAft>
                          <a:spcPts val="0"/>
                        </a:spcAft>
                        <a:buSzPts val="700"/>
                        <a:buChar char="●"/>
                      </a:pPr>
                      <a:r>
                        <a:rPr lang="it" sz="700" err="1"/>
                        <a:t>Configure</a:t>
                      </a:r>
                      <a:r>
                        <a:rPr lang="it" sz="700"/>
                        <a:t> data </a:t>
                      </a:r>
                      <a:r>
                        <a:rPr lang="it" sz="700" err="1"/>
                        <a:t>encryption</a:t>
                      </a:r>
                      <a:r>
                        <a:rPr lang="it" sz="700"/>
                        <a:t> on </a:t>
                      </a:r>
                      <a:r>
                        <a:rPr lang="it" sz="700" err="1"/>
                        <a:t>each</a:t>
                      </a:r>
                      <a:r>
                        <a:rPr lang="it" sz="700"/>
                        <a:t> device</a:t>
                      </a:r>
                      <a:endParaRPr sz="700"/>
                    </a:p>
                    <a:p>
                      <a:pPr marL="457200" lvl="0" indent="-273050" algn="l" rtl="0">
                        <a:spcBef>
                          <a:spcPts val="0"/>
                        </a:spcBef>
                        <a:spcAft>
                          <a:spcPts val="0"/>
                        </a:spcAft>
                        <a:buSzPts val="700"/>
                        <a:buChar char="●"/>
                      </a:pPr>
                      <a:r>
                        <a:rPr lang="it" sz="700" err="1"/>
                        <a:t>Implement</a:t>
                      </a:r>
                      <a:r>
                        <a:rPr lang="it" sz="700"/>
                        <a:t> backup strategies on BYOD</a:t>
                      </a:r>
                      <a:endParaRPr sz="700"/>
                    </a:p>
                    <a:p>
                      <a:pPr marL="457200" lvl="0" indent="-273050" algn="l" rtl="0">
                        <a:spcBef>
                          <a:spcPts val="0"/>
                        </a:spcBef>
                        <a:spcAft>
                          <a:spcPts val="0"/>
                        </a:spcAft>
                        <a:buSzPts val="700"/>
                        <a:buChar char="●"/>
                      </a:pPr>
                      <a:r>
                        <a:rPr lang="it" sz="700" err="1"/>
                        <a:t>Configure</a:t>
                      </a:r>
                      <a:r>
                        <a:rPr lang="it" sz="700"/>
                        <a:t> Two-</a:t>
                      </a:r>
                      <a:r>
                        <a:rPr lang="it" sz="700" err="1"/>
                        <a:t>Factor</a:t>
                      </a:r>
                      <a:r>
                        <a:rPr lang="it" sz="700"/>
                        <a:t> authentication</a:t>
                      </a:r>
                      <a:endParaRPr sz="700"/>
                    </a:p>
                    <a:p>
                      <a:pPr marL="457200" lvl="0" indent="-273050" algn="l" rtl="0">
                        <a:spcBef>
                          <a:spcPts val="0"/>
                        </a:spcBef>
                        <a:spcAft>
                          <a:spcPts val="0"/>
                        </a:spcAft>
                        <a:buSzPts val="700"/>
                        <a:buChar char="●"/>
                      </a:pPr>
                      <a:r>
                        <a:rPr lang="it" sz="700" err="1"/>
                        <a:t>Configure</a:t>
                      </a:r>
                      <a:r>
                        <a:rPr lang="it" sz="700"/>
                        <a:t> </a:t>
                      </a:r>
                      <a:r>
                        <a:rPr lang="it" sz="700" err="1"/>
                        <a:t>Role</a:t>
                      </a:r>
                      <a:r>
                        <a:rPr lang="it" sz="700"/>
                        <a:t> </a:t>
                      </a:r>
                      <a:r>
                        <a:rPr lang="it" sz="700" err="1"/>
                        <a:t>Based</a:t>
                      </a:r>
                      <a:r>
                        <a:rPr lang="it" sz="700"/>
                        <a:t> Access Control on NAS</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Technical</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b="1">
                          <a:solidFill>
                            <a:srgbClr val="FFFFFF"/>
                          </a:solidFill>
                        </a:rPr>
                        <a:t>PR-DS</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8E7CC3"/>
                    </a:solidFill>
                  </a:tcPr>
                </a:tc>
                <a:extLst>
                  <a:ext uri="{0D108BD9-81ED-4DB2-BD59-A6C34878D82A}">
                    <a16:rowId xmlns:a16="http://schemas.microsoft.com/office/drawing/2014/main" val="10005"/>
                  </a:ext>
                </a:extLst>
              </a:tr>
            </a:tbl>
          </a:graphicData>
        </a:graphic>
      </p:graphicFrame>
      <p:pic>
        <p:nvPicPr>
          <p:cNvPr id="135" name="Google Shape;135;p21"/>
          <p:cNvPicPr preferRelativeResize="0"/>
          <p:nvPr/>
        </p:nvPicPr>
        <p:blipFill rotWithShape="1">
          <a:blip r:embed="rId4">
            <a:alphaModFix/>
          </a:blip>
          <a:srcRect b="59140"/>
          <a:stretch/>
        </p:blipFill>
        <p:spPr>
          <a:xfrm>
            <a:off x="266700" y="3978147"/>
            <a:ext cx="3819126" cy="981200"/>
          </a:xfrm>
          <a:prstGeom prst="rect">
            <a:avLst/>
          </a:prstGeom>
          <a:noFill/>
          <a:ln>
            <a:noFill/>
          </a:ln>
        </p:spPr>
      </p:pic>
      <p:pic>
        <p:nvPicPr>
          <p:cNvPr id="136" name="Google Shape;136;p21"/>
          <p:cNvPicPr preferRelativeResize="0"/>
          <p:nvPr/>
        </p:nvPicPr>
        <p:blipFill rotWithShape="1">
          <a:blip r:embed="rId5">
            <a:alphaModFix/>
          </a:blip>
          <a:srcRect l="-6340" r="6340" b="76135"/>
          <a:stretch/>
        </p:blipFill>
        <p:spPr>
          <a:xfrm>
            <a:off x="3957600" y="4090675"/>
            <a:ext cx="4919724" cy="7561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graphicFrame>
        <p:nvGraphicFramePr>
          <p:cNvPr id="141" name="Google Shape;141;p22"/>
          <p:cNvGraphicFramePr/>
          <p:nvPr/>
        </p:nvGraphicFramePr>
        <p:xfrm>
          <a:off x="84113" y="1164225"/>
          <a:ext cx="8975775" cy="3897885"/>
        </p:xfrm>
        <a:graphic>
          <a:graphicData uri="http://schemas.openxmlformats.org/drawingml/2006/table">
            <a:tbl>
              <a:tblPr>
                <a:noFill/>
                <a:tableStyleId>{4D11C929-2CF1-41A9-A7A1-38CD1D5D44DC}</a:tableStyleId>
              </a:tblPr>
              <a:tblGrid>
                <a:gridCol w="626700">
                  <a:extLst>
                    <a:ext uri="{9D8B030D-6E8A-4147-A177-3AD203B41FA5}">
                      <a16:colId xmlns:a16="http://schemas.microsoft.com/office/drawing/2014/main" val="20000"/>
                    </a:ext>
                  </a:extLst>
                </a:gridCol>
                <a:gridCol w="1100600">
                  <a:extLst>
                    <a:ext uri="{9D8B030D-6E8A-4147-A177-3AD203B41FA5}">
                      <a16:colId xmlns:a16="http://schemas.microsoft.com/office/drawing/2014/main" val="20001"/>
                    </a:ext>
                  </a:extLst>
                </a:gridCol>
                <a:gridCol w="2395925">
                  <a:extLst>
                    <a:ext uri="{9D8B030D-6E8A-4147-A177-3AD203B41FA5}">
                      <a16:colId xmlns:a16="http://schemas.microsoft.com/office/drawing/2014/main" val="20002"/>
                    </a:ext>
                  </a:extLst>
                </a:gridCol>
                <a:gridCol w="796125">
                  <a:extLst>
                    <a:ext uri="{9D8B030D-6E8A-4147-A177-3AD203B41FA5}">
                      <a16:colId xmlns:a16="http://schemas.microsoft.com/office/drawing/2014/main" val="20003"/>
                    </a:ext>
                  </a:extLst>
                </a:gridCol>
                <a:gridCol w="811950">
                  <a:extLst>
                    <a:ext uri="{9D8B030D-6E8A-4147-A177-3AD203B41FA5}">
                      <a16:colId xmlns:a16="http://schemas.microsoft.com/office/drawing/2014/main" val="20004"/>
                    </a:ext>
                  </a:extLst>
                </a:gridCol>
                <a:gridCol w="2608975">
                  <a:extLst>
                    <a:ext uri="{9D8B030D-6E8A-4147-A177-3AD203B41FA5}">
                      <a16:colId xmlns:a16="http://schemas.microsoft.com/office/drawing/2014/main" val="20005"/>
                    </a:ext>
                  </a:extLst>
                </a:gridCol>
                <a:gridCol w="635500">
                  <a:extLst>
                    <a:ext uri="{9D8B030D-6E8A-4147-A177-3AD203B41FA5}">
                      <a16:colId xmlns:a16="http://schemas.microsoft.com/office/drawing/2014/main" val="20006"/>
                    </a:ext>
                  </a:extLst>
                </a:gridCol>
              </a:tblGrid>
              <a:tr h="321225">
                <a:tc>
                  <a:txBody>
                    <a:bodyPr/>
                    <a:lstStyle/>
                    <a:p>
                      <a:pPr marL="0" lvl="0" indent="0" algn="ctr" rtl="0">
                        <a:spcBef>
                          <a:spcPts val="0"/>
                        </a:spcBef>
                        <a:spcAft>
                          <a:spcPts val="0"/>
                        </a:spcAft>
                        <a:buNone/>
                      </a:pPr>
                      <a:r>
                        <a:rPr lang="it" sz="700" b="1">
                          <a:solidFill>
                            <a:srgbClr val="FFFFFF"/>
                          </a:solidFill>
                        </a:rPr>
                        <a:t>Risk rank</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Threat type</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Risk description</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Likelihood of occurrence</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Impact on organization</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Mitigation strategy</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None/>
                      </a:pPr>
                      <a:r>
                        <a:rPr lang="it" sz="700" b="1">
                          <a:solidFill>
                            <a:srgbClr val="FFFFFF"/>
                          </a:solidFill>
                        </a:rPr>
                        <a:t>ACT_#</a:t>
                      </a:r>
                      <a:endParaRPr sz="7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90825">
                <a:tc>
                  <a:txBody>
                    <a:bodyPr/>
                    <a:lstStyle/>
                    <a:p>
                      <a:pPr marL="0" lvl="0" indent="0" algn="ctr" rtl="0">
                        <a:spcBef>
                          <a:spcPts val="0"/>
                        </a:spcBef>
                        <a:spcAft>
                          <a:spcPts val="0"/>
                        </a:spcAft>
                        <a:buNone/>
                      </a:pPr>
                      <a:r>
                        <a:rPr lang="it" sz="1100"/>
                        <a:t>1</a:t>
                      </a:r>
                      <a:endParaRPr sz="11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solidFill>
                            <a:schemeClr val="dk1"/>
                          </a:solidFill>
                        </a:rPr>
                        <a:t>Data breach</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Unauthorized disclosure of sensitive customer data, due to data breach</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marR="7313"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marR="22310"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700"/>
                        <a:t>Firewall Installation for both offices, proxy configuration for web site access segmentation, Adoption of VPN with strong encryption. Intrusion detection system (IDS) activation</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ACT-1</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1"/>
                  </a:ext>
                </a:extLst>
              </a:tr>
              <a:tr h="487425">
                <a:tc>
                  <a:txBody>
                    <a:bodyPr/>
                    <a:lstStyle/>
                    <a:p>
                      <a:pPr marL="0" lvl="0" indent="0" algn="ctr" rtl="0">
                        <a:spcBef>
                          <a:spcPts val="0"/>
                        </a:spcBef>
                        <a:spcAft>
                          <a:spcPts val="0"/>
                        </a:spcAft>
                        <a:buNone/>
                      </a:pPr>
                      <a:r>
                        <a:rPr lang="it" sz="1100"/>
                        <a:t>2</a:t>
                      </a:r>
                      <a:endParaRPr sz="11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Ransomware</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Network modification, loss of productivity, files and financial loss as a result of revenue generating operations being shut down or/and paying ransom</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700"/>
                        <a:t>Employee training about cyber-hygiene and cyber-awareness, use of RAID 5, antivirus, disable macro scripts, use of server proxy for internet access</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ACT-2</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379875">
                <a:tc>
                  <a:txBody>
                    <a:bodyPr/>
                    <a:lstStyle/>
                    <a:p>
                      <a:pPr marL="0" lvl="0" indent="0" algn="ctr" rtl="0">
                        <a:spcBef>
                          <a:spcPts val="0"/>
                        </a:spcBef>
                        <a:spcAft>
                          <a:spcPts val="0"/>
                        </a:spcAft>
                        <a:buNone/>
                      </a:pPr>
                      <a:r>
                        <a:rPr lang="it" sz="1100"/>
                        <a:t>3</a:t>
                      </a:r>
                      <a:endParaRPr sz="11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1200"/>
                        </a:spcAft>
                        <a:buNone/>
                      </a:pPr>
                      <a:r>
                        <a:rPr lang="it" sz="700">
                          <a:solidFill>
                            <a:schemeClr val="dk1"/>
                          </a:solidFill>
                        </a:rPr>
                        <a:t>Data leakage</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solidFill>
                            <a:schemeClr val="dk1"/>
                          </a:solidFill>
                        </a:rPr>
                        <a:t>Loss of data confidentiality, communication confidentiality due to data leakage</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1000" b="1">
                          <a:solidFill>
                            <a:schemeClr val="lt1"/>
                          </a:solidFill>
                        </a:rPr>
                        <a:t>MEDIUM</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69138"/>
                    </a:solidFill>
                  </a:tcPr>
                </a:tc>
                <a:tc>
                  <a:txBody>
                    <a:bodyPr/>
                    <a:lstStyle/>
                    <a:p>
                      <a:pPr marL="0" lvl="0" indent="0" algn="ctr" rtl="0">
                        <a:spcBef>
                          <a:spcPts val="0"/>
                        </a:spcBef>
                        <a:spcAft>
                          <a:spcPts val="0"/>
                        </a:spcAft>
                        <a:buNone/>
                      </a:pPr>
                      <a:r>
                        <a:rPr lang="it" sz="1000" b="1">
                          <a:solidFill>
                            <a:srgbClr val="FFFFFF"/>
                          </a:solidFill>
                        </a:rPr>
                        <a:t>HIGH</a:t>
                      </a:r>
                      <a:endParaRPr sz="1000" b="1">
                        <a:solidFill>
                          <a:srgbClr val="FFFFFF"/>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700"/>
                        <a:t>Adoption of VPN with strong encryption</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ACT-1</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3"/>
                  </a:ext>
                </a:extLst>
              </a:tr>
              <a:tr h="487425">
                <a:tc>
                  <a:txBody>
                    <a:bodyPr/>
                    <a:lstStyle/>
                    <a:p>
                      <a:pPr marL="0" lvl="0" indent="0" algn="ctr" rtl="0">
                        <a:spcBef>
                          <a:spcPts val="0"/>
                        </a:spcBef>
                        <a:spcAft>
                          <a:spcPts val="0"/>
                        </a:spcAft>
                        <a:buNone/>
                      </a:pPr>
                      <a:r>
                        <a:rPr lang="it" sz="1100"/>
                        <a:t>4</a:t>
                      </a:r>
                      <a:endParaRPr sz="11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Unauthorized Remote Access</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Loss of confidentiality, integrity and availability. due to unauthorized remote access</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1000" b="1">
                          <a:solidFill>
                            <a:schemeClr val="lt1"/>
                          </a:solidFill>
                        </a:rPr>
                        <a:t>MEDIUM</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69138"/>
                    </a:solidFill>
                  </a:tcPr>
                </a:tc>
                <a:tc>
                  <a:txBody>
                    <a:bodyPr/>
                    <a:lstStyle/>
                    <a:p>
                      <a:pPr marL="0" marR="22310"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700"/>
                        <a:t>Least privilege configuration, implementation of role-based access control (RBAC), zero-trust authentication and/or 2FA</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ACT-4</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4"/>
                  </a:ext>
                </a:extLst>
              </a:tr>
              <a:tr h="518450">
                <a:tc>
                  <a:txBody>
                    <a:bodyPr/>
                    <a:lstStyle/>
                    <a:p>
                      <a:pPr marL="0" lvl="0" indent="0" algn="ctr" rtl="0">
                        <a:spcBef>
                          <a:spcPts val="0"/>
                        </a:spcBef>
                        <a:spcAft>
                          <a:spcPts val="0"/>
                        </a:spcAft>
                        <a:buNone/>
                      </a:pPr>
                      <a:r>
                        <a:rPr lang="it" sz="1100"/>
                        <a:t>5</a:t>
                      </a:r>
                      <a:endParaRPr sz="11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1200"/>
                        </a:spcAft>
                        <a:buClr>
                          <a:schemeClr val="dk1"/>
                        </a:buClr>
                        <a:buSzPts val="1100"/>
                        <a:buFont typeface="Arial"/>
                        <a:buNone/>
                      </a:pPr>
                      <a:r>
                        <a:rPr lang="it" sz="700">
                          <a:solidFill>
                            <a:schemeClr val="dk1"/>
                          </a:solidFill>
                        </a:rPr>
                        <a:t>Network breach</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solidFill>
                            <a:schemeClr val="dk1"/>
                          </a:solidFill>
                        </a:rPr>
                        <a:t>Loss of confidentiality due to network breach</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1000" b="1">
                          <a:solidFill>
                            <a:schemeClr val="lt1"/>
                          </a:solidFill>
                        </a:rPr>
                        <a:t>MEDIUM</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69138"/>
                    </a:solidFill>
                  </a:tcPr>
                </a:tc>
                <a:tc>
                  <a:txBody>
                    <a:bodyPr/>
                    <a:lstStyle/>
                    <a:p>
                      <a:pPr marL="0"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700"/>
                        <a:t>VLAN adoption, installation of a captive portal on a dedicated VLAN</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ACT-1</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5"/>
                  </a:ext>
                </a:extLst>
              </a:tr>
              <a:tr h="518450">
                <a:tc>
                  <a:txBody>
                    <a:bodyPr/>
                    <a:lstStyle/>
                    <a:p>
                      <a:pPr marL="0" lvl="0" indent="0" algn="ctr" rtl="0">
                        <a:spcBef>
                          <a:spcPts val="0"/>
                        </a:spcBef>
                        <a:spcAft>
                          <a:spcPts val="0"/>
                        </a:spcAft>
                        <a:buNone/>
                      </a:pPr>
                      <a:r>
                        <a:rPr lang="it" sz="1100"/>
                        <a:t>6</a:t>
                      </a:r>
                      <a:endParaRPr sz="11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1200"/>
                        </a:spcAft>
                        <a:buClr>
                          <a:schemeClr val="dk1"/>
                        </a:buClr>
                        <a:buSzPts val="1100"/>
                        <a:buFont typeface="Arial"/>
                        <a:buNone/>
                      </a:pPr>
                      <a:r>
                        <a:rPr lang="it" sz="700">
                          <a:solidFill>
                            <a:schemeClr val="dk1"/>
                          </a:solidFill>
                        </a:rPr>
                        <a:t>Business Operation continuity/recovery risk</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solidFill>
                            <a:schemeClr val="dk1"/>
                          </a:solidFill>
                        </a:rPr>
                        <a:t>Business operation disruption and potentially bankruptcy due to the lack of business continuity plan / Incident Response Plan </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1000" b="1">
                          <a:solidFill>
                            <a:schemeClr val="lt1"/>
                          </a:solidFill>
                        </a:rPr>
                        <a:t>LOW</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6AA84F"/>
                    </a:solidFill>
                  </a:tcPr>
                </a:tc>
                <a:tc>
                  <a:txBody>
                    <a:bodyPr/>
                    <a:lstStyle/>
                    <a:p>
                      <a:pPr marL="0"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700"/>
                        <a:t>Create Business Continuity (BC) and Incident Response (IR) Plan</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ACT-3</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6"/>
                  </a:ext>
                </a:extLst>
              </a:tr>
              <a:tr h="487425">
                <a:tc>
                  <a:txBody>
                    <a:bodyPr/>
                    <a:lstStyle/>
                    <a:p>
                      <a:pPr marL="0" lvl="0" indent="0" algn="ctr" rtl="0">
                        <a:spcBef>
                          <a:spcPts val="0"/>
                        </a:spcBef>
                        <a:spcAft>
                          <a:spcPts val="0"/>
                        </a:spcAft>
                        <a:buNone/>
                      </a:pPr>
                      <a:r>
                        <a:rPr lang="it" sz="1100"/>
                        <a:t>7</a:t>
                      </a:r>
                      <a:endParaRPr sz="11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1200"/>
                        </a:spcAft>
                        <a:buClr>
                          <a:schemeClr val="dk1"/>
                        </a:buClr>
                        <a:buSzPts val="1100"/>
                        <a:buFont typeface="Arial"/>
                        <a:buNone/>
                      </a:pPr>
                      <a:r>
                        <a:rPr lang="it" sz="700">
                          <a:solidFill>
                            <a:schemeClr val="dk1"/>
                          </a:solidFill>
                        </a:rPr>
                        <a:t>Physical access</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Clr>
                          <a:schemeClr val="dk1"/>
                        </a:buClr>
                        <a:buSzPts val="1100"/>
                        <a:buFont typeface="Arial"/>
                        <a:buNone/>
                      </a:pPr>
                      <a:r>
                        <a:rPr lang="it" sz="700">
                          <a:solidFill>
                            <a:schemeClr val="dk1"/>
                          </a:solidFill>
                        </a:rPr>
                        <a:t>Loss of backup data files due to theft of hardware or sabotage </a:t>
                      </a:r>
                      <a:endParaRPr sz="700">
                        <a:solidFill>
                          <a:schemeClr val="dk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1000" b="1">
                          <a:solidFill>
                            <a:schemeClr val="lt1"/>
                          </a:solidFill>
                        </a:rPr>
                        <a:t>LOW</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6AA84F"/>
                    </a:solidFill>
                  </a:tcPr>
                </a:tc>
                <a:tc>
                  <a:txBody>
                    <a:bodyPr/>
                    <a:lstStyle/>
                    <a:p>
                      <a:pPr marL="0" lvl="0" indent="0" algn="ctr" rtl="0">
                        <a:spcBef>
                          <a:spcPts val="0"/>
                        </a:spcBef>
                        <a:spcAft>
                          <a:spcPts val="0"/>
                        </a:spcAft>
                        <a:buNone/>
                      </a:pPr>
                      <a:r>
                        <a:rPr lang="it" sz="1000" b="1">
                          <a:solidFill>
                            <a:schemeClr val="lt1"/>
                          </a:solidFill>
                        </a:rPr>
                        <a:t>HIGH</a:t>
                      </a:r>
                      <a:endParaRPr sz="1000" b="1">
                        <a:solidFill>
                          <a:schemeClr val="lt1"/>
                        </a:solidFill>
                      </a:endParaRPr>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0000"/>
                    </a:solidFill>
                  </a:tcPr>
                </a:tc>
                <a:tc>
                  <a:txBody>
                    <a:bodyPr/>
                    <a:lstStyle/>
                    <a:p>
                      <a:pPr marL="0" lvl="0" indent="0" algn="ctr" rtl="0">
                        <a:spcBef>
                          <a:spcPts val="0"/>
                        </a:spcBef>
                        <a:spcAft>
                          <a:spcPts val="0"/>
                        </a:spcAft>
                        <a:buNone/>
                      </a:pPr>
                      <a:r>
                        <a:rPr lang="it" sz="700"/>
                        <a:t>Use of data encryption on every asset, data synchronization on the cloud. Enroll all mobile devices to BYOD manager</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700"/>
                        <a:t>ACT-4</a:t>
                      </a:r>
                      <a:endParaRPr sz="700"/>
                    </a:p>
                  </a:txBody>
                  <a:tcPr marL="91425" marR="91425" marT="91425" marB="91425"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7"/>
                  </a:ext>
                </a:extLst>
              </a:tr>
            </a:tbl>
          </a:graphicData>
        </a:graphic>
      </p:graphicFrame>
      <p:sp>
        <p:nvSpPr>
          <p:cNvPr id="142" name="Google Shape;142;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43" name="Google Shape;143;p22"/>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44" name="Google Shape;144;p22"/>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45" name="Google Shape;145;p22"/>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a:solidFill>
                  <a:srgbClr val="9FC5E8"/>
                </a:solidFill>
              </a:rPr>
              <a:t>ezAccount - Improving network security in a tax accountant office</a:t>
            </a:r>
            <a:endParaRPr sz="1600" b="1">
              <a:solidFill>
                <a:schemeClr val="lt1"/>
              </a:solidFill>
            </a:endParaRPr>
          </a:p>
          <a:p>
            <a:pPr marL="0" lvl="0" indent="0" algn="l" rtl="0">
              <a:spcBef>
                <a:spcPts val="0"/>
              </a:spcBef>
              <a:spcAft>
                <a:spcPts val="0"/>
              </a:spcAft>
              <a:buNone/>
            </a:pPr>
            <a:r>
              <a:rPr lang="it" sz="1600" b="1">
                <a:solidFill>
                  <a:schemeClr val="lt1"/>
                </a:solidFill>
              </a:rPr>
              <a:t>Risk Management Analysis (RMA) outline</a:t>
            </a:r>
            <a:endParaRPr sz="1600" b="1">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51" name="Google Shape;151;p23"/>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52" name="Google Shape;152;p23"/>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53" name="Google Shape;153;p23"/>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err="1">
                <a:solidFill>
                  <a:srgbClr val="9FC5E8"/>
                </a:solidFill>
              </a:rPr>
              <a:t>ezAccount</a:t>
            </a:r>
            <a:r>
              <a:rPr lang="it" sz="1600" b="1">
                <a:solidFill>
                  <a:srgbClr val="9FC5E8"/>
                </a:solidFill>
              </a:rPr>
              <a:t> - </a:t>
            </a:r>
            <a:r>
              <a:rPr lang="it" sz="1600" b="1" err="1">
                <a:solidFill>
                  <a:srgbClr val="9FC5E8"/>
                </a:solidFill>
              </a:rPr>
              <a:t>Improving</a:t>
            </a:r>
            <a:r>
              <a:rPr lang="it" sz="1600" b="1">
                <a:solidFill>
                  <a:srgbClr val="9FC5E8"/>
                </a:solidFill>
              </a:rPr>
              <a:t> network security in a tax </a:t>
            </a:r>
            <a:r>
              <a:rPr lang="it" sz="1600" b="1" err="1">
                <a:solidFill>
                  <a:srgbClr val="9FC5E8"/>
                </a:solidFill>
              </a:rPr>
              <a:t>accountant</a:t>
            </a:r>
            <a:r>
              <a:rPr lang="it" sz="1600" b="1">
                <a:solidFill>
                  <a:srgbClr val="9FC5E8"/>
                </a:solidFill>
              </a:rPr>
              <a:t> office</a:t>
            </a:r>
            <a:endParaRPr sz="1600" b="1">
              <a:solidFill>
                <a:schemeClr val="lt1"/>
              </a:solidFill>
            </a:endParaRPr>
          </a:p>
          <a:p>
            <a:pPr marL="0" lvl="0" indent="0" algn="l" rtl="0">
              <a:spcBef>
                <a:spcPts val="0"/>
              </a:spcBef>
              <a:spcAft>
                <a:spcPts val="0"/>
              </a:spcAft>
              <a:buClr>
                <a:schemeClr val="dk1"/>
              </a:buClr>
              <a:buSzPts val="1100"/>
              <a:buFont typeface="Arial"/>
              <a:buNone/>
            </a:pPr>
            <a:r>
              <a:rPr lang="it" sz="1600" b="1" err="1">
                <a:solidFill>
                  <a:schemeClr val="lt1"/>
                </a:solidFill>
              </a:rPr>
              <a:t>Anticipated</a:t>
            </a:r>
            <a:r>
              <a:rPr lang="it" sz="1600" b="1">
                <a:solidFill>
                  <a:schemeClr val="lt1"/>
                </a:solidFill>
              </a:rPr>
              <a:t> project </a:t>
            </a:r>
            <a:r>
              <a:rPr lang="it" sz="1600" b="1" err="1">
                <a:solidFill>
                  <a:schemeClr val="lt1"/>
                </a:solidFill>
              </a:rPr>
              <a:t>results</a:t>
            </a:r>
            <a:endParaRPr sz="1600" b="1" err="1">
              <a:solidFill>
                <a:schemeClr val="lt1"/>
              </a:solidFill>
            </a:endParaRPr>
          </a:p>
        </p:txBody>
      </p:sp>
      <p:pic>
        <p:nvPicPr>
          <p:cNvPr id="154" name="Google Shape;154;p23"/>
          <p:cNvPicPr preferRelativeResize="0"/>
          <p:nvPr/>
        </p:nvPicPr>
        <p:blipFill>
          <a:blip r:embed="rId4">
            <a:alphaModFix/>
          </a:blip>
          <a:stretch>
            <a:fillRect/>
          </a:stretch>
        </p:blipFill>
        <p:spPr>
          <a:xfrm>
            <a:off x="971589" y="1589625"/>
            <a:ext cx="7200824" cy="2985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60" name="Google Shape;160;p24"/>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61" name="Google Shape;161;p24"/>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62" name="Google Shape;162;p24"/>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err="1">
                <a:solidFill>
                  <a:srgbClr val="9FC5E8"/>
                </a:solidFill>
              </a:rPr>
              <a:t>ezAccount</a:t>
            </a:r>
            <a:r>
              <a:rPr lang="it" sz="1600" b="1">
                <a:solidFill>
                  <a:srgbClr val="9FC5E8"/>
                </a:solidFill>
              </a:rPr>
              <a:t> - </a:t>
            </a:r>
            <a:r>
              <a:rPr lang="it" sz="1600" b="1" err="1">
                <a:solidFill>
                  <a:srgbClr val="9FC5E8"/>
                </a:solidFill>
              </a:rPr>
              <a:t>Improving</a:t>
            </a:r>
            <a:r>
              <a:rPr lang="it" sz="1600" b="1">
                <a:solidFill>
                  <a:srgbClr val="9FC5E8"/>
                </a:solidFill>
              </a:rPr>
              <a:t> network security in a tax </a:t>
            </a:r>
            <a:r>
              <a:rPr lang="it" sz="1600" b="1" err="1">
                <a:solidFill>
                  <a:srgbClr val="9FC5E8"/>
                </a:solidFill>
              </a:rPr>
              <a:t>accountant</a:t>
            </a:r>
            <a:r>
              <a:rPr lang="it" sz="1600" b="1">
                <a:solidFill>
                  <a:srgbClr val="9FC5E8"/>
                </a:solidFill>
              </a:rPr>
              <a:t> office</a:t>
            </a:r>
            <a:endParaRPr sz="1600" b="1">
              <a:solidFill>
                <a:schemeClr val="lt1"/>
              </a:solidFill>
            </a:endParaRPr>
          </a:p>
          <a:p>
            <a:pPr marL="0" lvl="0" indent="0" algn="l" rtl="0">
              <a:spcBef>
                <a:spcPts val="0"/>
              </a:spcBef>
              <a:spcAft>
                <a:spcPts val="0"/>
              </a:spcAft>
              <a:buNone/>
            </a:pPr>
            <a:r>
              <a:rPr lang="it" sz="1600" b="1" err="1">
                <a:solidFill>
                  <a:schemeClr val="lt1"/>
                </a:solidFill>
              </a:rPr>
              <a:t>Proposed</a:t>
            </a:r>
            <a:r>
              <a:rPr lang="it" sz="1600" b="1">
                <a:solidFill>
                  <a:schemeClr val="lt1"/>
                </a:solidFill>
              </a:rPr>
              <a:t> Costs - Non </a:t>
            </a:r>
            <a:r>
              <a:rPr lang="it" sz="1600" b="1" err="1">
                <a:solidFill>
                  <a:schemeClr val="lt1"/>
                </a:solidFill>
              </a:rPr>
              <a:t>Recurring</a:t>
            </a:r>
            <a:r>
              <a:rPr lang="it" sz="1600" b="1">
                <a:solidFill>
                  <a:schemeClr val="lt1"/>
                </a:solidFill>
              </a:rPr>
              <a:t> Cost</a:t>
            </a:r>
            <a:endParaRPr sz="1600" b="1">
              <a:solidFill>
                <a:schemeClr val="lt1"/>
              </a:solidFill>
            </a:endParaRPr>
          </a:p>
        </p:txBody>
      </p:sp>
      <p:sp>
        <p:nvSpPr>
          <p:cNvPr id="163" name="Google Shape;163;p24"/>
          <p:cNvSpPr txBox="1"/>
          <p:nvPr/>
        </p:nvSpPr>
        <p:spPr>
          <a:xfrm>
            <a:off x="124625" y="1065425"/>
            <a:ext cx="4891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it" sz="800" b="1">
                <a:solidFill>
                  <a:schemeClr val="dk1"/>
                </a:solidFill>
              </a:rPr>
              <a:t>Activity list</a:t>
            </a:r>
            <a:endParaRPr sz="800" b="1"/>
          </a:p>
        </p:txBody>
      </p:sp>
      <p:sp>
        <p:nvSpPr>
          <p:cNvPr id="164" name="Google Shape;164;p24"/>
          <p:cNvSpPr txBox="1"/>
          <p:nvPr/>
        </p:nvSpPr>
        <p:spPr>
          <a:xfrm>
            <a:off x="5287425" y="1063150"/>
            <a:ext cx="3732000" cy="2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it" sz="800" b="1">
                <a:solidFill>
                  <a:schemeClr val="dk1"/>
                </a:solidFill>
              </a:rPr>
              <a:t>Start-up material list</a:t>
            </a:r>
            <a:endParaRPr sz="800" b="1"/>
          </a:p>
        </p:txBody>
      </p:sp>
      <p:graphicFrame>
        <p:nvGraphicFramePr>
          <p:cNvPr id="165" name="Google Shape;165;p24"/>
          <p:cNvGraphicFramePr/>
          <p:nvPr/>
        </p:nvGraphicFramePr>
        <p:xfrm>
          <a:off x="5287475" y="1335025"/>
          <a:ext cx="3731900" cy="2078403"/>
        </p:xfrm>
        <a:graphic>
          <a:graphicData uri="http://schemas.openxmlformats.org/drawingml/2006/table">
            <a:tbl>
              <a:tblPr>
                <a:noFill/>
                <a:tableStyleId>{7BE6A4FD-F2DC-4053-9529-1B390CDC873A}</a:tableStyleId>
              </a:tblPr>
              <a:tblGrid>
                <a:gridCol w="1514600">
                  <a:extLst>
                    <a:ext uri="{9D8B030D-6E8A-4147-A177-3AD203B41FA5}">
                      <a16:colId xmlns:a16="http://schemas.microsoft.com/office/drawing/2014/main" val="20000"/>
                    </a:ext>
                  </a:extLst>
                </a:gridCol>
                <a:gridCol w="530350">
                  <a:extLst>
                    <a:ext uri="{9D8B030D-6E8A-4147-A177-3AD203B41FA5}">
                      <a16:colId xmlns:a16="http://schemas.microsoft.com/office/drawing/2014/main" val="20001"/>
                    </a:ext>
                  </a:extLst>
                </a:gridCol>
                <a:gridCol w="427950">
                  <a:extLst>
                    <a:ext uri="{9D8B030D-6E8A-4147-A177-3AD203B41FA5}">
                      <a16:colId xmlns:a16="http://schemas.microsoft.com/office/drawing/2014/main" val="20002"/>
                    </a:ext>
                  </a:extLst>
                </a:gridCol>
                <a:gridCol w="632350">
                  <a:extLst>
                    <a:ext uri="{9D8B030D-6E8A-4147-A177-3AD203B41FA5}">
                      <a16:colId xmlns:a16="http://schemas.microsoft.com/office/drawing/2014/main" val="20003"/>
                    </a:ext>
                  </a:extLst>
                </a:gridCol>
                <a:gridCol w="626650">
                  <a:extLst>
                    <a:ext uri="{9D8B030D-6E8A-4147-A177-3AD203B41FA5}">
                      <a16:colId xmlns:a16="http://schemas.microsoft.com/office/drawing/2014/main" val="20004"/>
                    </a:ext>
                  </a:extLst>
                </a:gridCol>
              </a:tblGrid>
              <a:tr h="176200">
                <a:tc>
                  <a:txBody>
                    <a:bodyPr/>
                    <a:lstStyle/>
                    <a:p>
                      <a:pPr marL="0" lvl="0" indent="0" algn="ctr" rtl="0">
                        <a:lnSpc>
                          <a:spcPct val="115000"/>
                        </a:lnSpc>
                        <a:spcBef>
                          <a:spcPts val="0"/>
                        </a:spcBef>
                        <a:spcAft>
                          <a:spcPts val="0"/>
                        </a:spcAft>
                        <a:buNone/>
                      </a:pPr>
                      <a:r>
                        <a:rPr lang="it" sz="800" b="1">
                          <a:solidFill>
                            <a:srgbClr val="FFFFFF"/>
                          </a:solidFill>
                        </a:rPr>
                        <a:t>Item</a:t>
                      </a:r>
                      <a:endParaRPr sz="800" b="1">
                        <a:solidFill>
                          <a:srgbClr val="FFFFFF"/>
                        </a:solidFill>
                      </a:endParaRPr>
                    </a:p>
                  </a:txBody>
                  <a:tcPr marL="28575" marR="28575" marT="19050" marB="1905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ACT-REF</a:t>
                      </a:r>
                      <a:endParaRPr sz="800" b="1">
                        <a:solidFill>
                          <a:srgbClr val="FFFFFF"/>
                        </a:solidFill>
                      </a:endParaRPr>
                    </a:p>
                  </a:txBody>
                  <a:tcPr marL="28575" marR="28575" marT="19050" marB="1905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Qty</a:t>
                      </a:r>
                      <a:endParaRPr sz="800" b="1">
                        <a:solidFill>
                          <a:srgbClr val="FFFFFF"/>
                        </a:solidFill>
                      </a:endParaRPr>
                    </a:p>
                  </a:txBody>
                  <a:tcPr marL="28575" marR="28575" marT="19050" marB="1905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Unit Price</a:t>
                      </a:r>
                      <a:endParaRPr sz="800" b="1">
                        <a:solidFill>
                          <a:srgbClr val="FFFFFF"/>
                        </a:solidFill>
                      </a:endParaRPr>
                    </a:p>
                  </a:txBody>
                  <a:tcPr marL="28575" marR="28575" marT="19050" marB="1905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Price</a:t>
                      </a:r>
                      <a:endParaRPr sz="800" b="1">
                        <a:solidFill>
                          <a:srgbClr val="FFFFFF"/>
                        </a:solidFill>
                      </a:endParaRPr>
                    </a:p>
                  </a:txBody>
                  <a:tcPr marL="28575" marR="28575" marT="19050" marB="1905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163125">
                <a:tc>
                  <a:txBody>
                    <a:bodyPr/>
                    <a:lstStyle/>
                    <a:p>
                      <a:pPr marL="0" lvl="0" indent="0" algn="ctr" rtl="0">
                        <a:lnSpc>
                          <a:spcPct val="115000"/>
                        </a:lnSpc>
                        <a:spcBef>
                          <a:spcPts val="0"/>
                        </a:spcBef>
                        <a:spcAft>
                          <a:spcPts val="0"/>
                        </a:spcAft>
                        <a:buNone/>
                      </a:pPr>
                      <a:r>
                        <a:rPr lang="it" sz="800"/>
                        <a:t>Sophos XGS Firewall</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€ 300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€ 600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1"/>
                  </a:ext>
                </a:extLst>
              </a:tr>
              <a:tr h="163125">
                <a:tc>
                  <a:txBody>
                    <a:bodyPr/>
                    <a:lstStyle/>
                    <a:p>
                      <a:pPr marL="0" lvl="0" indent="0" algn="ctr" rtl="0">
                        <a:spcBef>
                          <a:spcPts val="0"/>
                        </a:spcBef>
                        <a:spcAft>
                          <a:spcPts val="0"/>
                        </a:spcAft>
                        <a:buNone/>
                      </a:pPr>
                      <a:r>
                        <a:rPr lang="it" sz="800"/>
                        <a:t>Bitdefender box firewall</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800"/>
                        <a:t>€ 250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it" sz="800"/>
                        <a:t>€ 250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163125">
                <a:tc>
                  <a:txBody>
                    <a:bodyPr/>
                    <a:lstStyle/>
                    <a:p>
                      <a:pPr marL="0" lvl="0" indent="0" algn="ctr" rtl="0">
                        <a:lnSpc>
                          <a:spcPct val="115000"/>
                        </a:lnSpc>
                        <a:spcBef>
                          <a:spcPts val="0"/>
                        </a:spcBef>
                        <a:spcAft>
                          <a:spcPts val="0"/>
                        </a:spcAft>
                        <a:buNone/>
                      </a:pPr>
                      <a:r>
                        <a:rPr lang="it" sz="800"/>
                        <a:t>Sophos RED</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€ 350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€ 350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3"/>
                  </a:ext>
                </a:extLst>
              </a:tr>
              <a:tr h="163125">
                <a:tc>
                  <a:txBody>
                    <a:bodyPr/>
                    <a:lstStyle/>
                    <a:p>
                      <a:pPr marL="0" lvl="0" indent="0" algn="ctr" rtl="0">
                        <a:lnSpc>
                          <a:spcPct val="115000"/>
                        </a:lnSpc>
                        <a:spcBef>
                          <a:spcPts val="0"/>
                        </a:spcBef>
                        <a:spcAft>
                          <a:spcPts val="0"/>
                        </a:spcAft>
                        <a:buNone/>
                      </a:pPr>
                      <a:r>
                        <a:rPr lang="it" sz="800"/>
                        <a:t>HPE Aruba 2930F</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€ 2.250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€ 4.500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4"/>
                  </a:ext>
                </a:extLst>
              </a:tr>
              <a:tr h="168250">
                <a:tc>
                  <a:txBody>
                    <a:bodyPr/>
                    <a:lstStyle/>
                    <a:p>
                      <a:pPr marL="0" lvl="0" indent="0" algn="ctr" rtl="0">
                        <a:lnSpc>
                          <a:spcPct val="115000"/>
                        </a:lnSpc>
                        <a:spcBef>
                          <a:spcPts val="0"/>
                        </a:spcBef>
                        <a:spcAft>
                          <a:spcPts val="0"/>
                        </a:spcAft>
                        <a:buNone/>
                      </a:pPr>
                      <a:r>
                        <a:rPr lang="it" sz="800"/>
                        <a:t>Servers/Network Secure Cabinet</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€ 200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5"/>
                  </a:ext>
                </a:extLst>
              </a:tr>
              <a:tr h="271875">
                <a:tc>
                  <a:txBody>
                    <a:bodyPr/>
                    <a:lstStyle/>
                    <a:p>
                      <a:pPr marL="0" lvl="0" indent="0" algn="ctr" rtl="0">
                        <a:lnSpc>
                          <a:spcPct val="115000"/>
                        </a:lnSpc>
                        <a:spcBef>
                          <a:spcPts val="0"/>
                        </a:spcBef>
                        <a:spcAft>
                          <a:spcPts val="0"/>
                        </a:spcAft>
                        <a:buNone/>
                      </a:pPr>
                      <a:r>
                        <a:rPr lang="it" sz="800"/>
                        <a:t>(Sophos) Central Antivirus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6"/>
                  </a:ext>
                </a:extLst>
              </a:tr>
              <a:tr h="207850">
                <a:tc>
                  <a:txBody>
                    <a:bodyPr/>
                    <a:lstStyle/>
                    <a:p>
                      <a:pPr marL="0" lvl="0" indent="0" algn="ctr" rtl="0">
                        <a:lnSpc>
                          <a:spcPct val="115000"/>
                        </a:lnSpc>
                        <a:spcBef>
                          <a:spcPts val="0"/>
                        </a:spcBef>
                        <a:spcAft>
                          <a:spcPts val="0"/>
                        </a:spcAft>
                        <a:buNone/>
                      </a:pPr>
                      <a:r>
                        <a:rPr lang="it" sz="800"/>
                        <a:t>Synology RS 819 + DISKS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€ 1.650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€ 3.300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7"/>
                  </a:ext>
                </a:extLst>
              </a:tr>
              <a:tr h="207850">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8"/>
                  </a:ext>
                </a:extLst>
              </a:tr>
              <a:tr h="168250">
                <a:tc gridSpan="2">
                  <a:txBody>
                    <a:bodyPr/>
                    <a:lstStyle/>
                    <a:p>
                      <a:pPr marL="0" lvl="0" indent="0" algn="ctr" rtl="0">
                        <a:lnSpc>
                          <a:spcPct val="115000"/>
                        </a:lnSpc>
                        <a:spcBef>
                          <a:spcPts val="0"/>
                        </a:spcBef>
                        <a:spcAft>
                          <a:spcPts val="0"/>
                        </a:spcAft>
                        <a:buNone/>
                      </a:pPr>
                      <a:r>
                        <a:rPr lang="it" sz="800" b="1"/>
                        <a:t>TOTAL MATERIAL</a:t>
                      </a:r>
                      <a:endParaRPr sz="800">
                        <a:solidFill>
                          <a:schemeClr val="dk1"/>
                        </a:solidFill>
                      </a:endParaRPr>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gridSpan="3">
                  <a:txBody>
                    <a:bodyPr/>
                    <a:lstStyle/>
                    <a:p>
                      <a:pPr marL="0" lvl="0" indent="0" algn="ctr" rtl="0">
                        <a:lnSpc>
                          <a:spcPct val="115000"/>
                        </a:lnSpc>
                        <a:spcBef>
                          <a:spcPts val="0"/>
                        </a:spcBef>
                        <a:spcAft>
                          <a:spcPts val="0"/>
                        </a:spcAft>
                        <a:buNone/>
                      </a:pPr>
                      <a:r>
                        <a:rPr lang="it" sz="800" b="1"/>
                        <a:t>€ 9.500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bl>
          </a:graphicData>
        </a:graphic>
      </p:graphicFrame>
      <p:graphicFrame>
        <p:nvGraphicFramePr>
          <p:cNvPr id="166" name="Google Shape;166;p24"/>
          <p:cNvGraphicFramePr/>
          <p:nvPr/>
        </p:nvGraphicFramePr>
        <p:xfrm>
          <a:off x="86725" y="1317550"/>
          <a:ext cx="4891200" cy="3376950"/>
        </p:xfrm>
        <a:graphic>
          <a:graphicData uri="http://schemas.openxmlformats.org/drawingml/2006/table">
            <a:tbl>
              <a:tblPr>
                <a:noFill/>
                <a:tableStyleId>{7BE6A4FD-F2DC-4053-9529-1B390CDC873A}</a:tableStyleId>
              </a:tblPr>
              <a:tblGrid>
                <a:gridCol w="2483250">
                  <a:extLst>
                    <a:ext uri="{9D8B030D-6E8A-4147-A177-3AD203B41FA5}">
                      <a16:colId xmlns:a16="http://schemas.microsoft.com/office/drawing/2014/main" val="20000"/>
                    </a:ext>
                  </a:extLst>
                </a:gridCol>
                <a:gridCol w="547975">
                  <a:extLst>
                    <a:ext uri="{9D8B030D-6E8A-4147-A177-3AD203B41FA5}">
                      <a16:colId xmlns:a16="http://schemas.microsoft.com/office/drawing/2014/main" val="20001"/>
                    </a:ext>
                  </a:extLst>
                </a:gridCol>
                <a:gridCol w="561075">
                  <a:extLst>
                    <a:ext uri="{9D8B030D-6E8A-4147-A177-3AD203B41FA5}">
                      <a16:colId xmlns:a16="http://schemas.microsoft.com/office/drawing/2014/main" val="20002"/>
                    </a:ext>
                  </a:extLst>
                </a:gridCol>
                <a:gridCol w="686000">
                  <a:extLst>
                    <a:ext uri="{9D8B030D-6E8A-4147-A177-3AD203B41FA5}">
                      <a16:colId xmlns:a16="http://schemas.microsoft.com/office/drawing/2014/main" val="20003"/>
                    </a:ext>
                  </a:extLst>
                </a:gridCol>
                <a:gridCol w="612900">
                  <a:extLst>
                    <a:ext uri="{9D8B030D-6E8A-4147-A177-3AD203B41FA5}">
                      <a16:colId xmlns:a16="http://schemas.microsoft.com/office/drawing/2014/main" val="20004"/>
                    </a:ext>
                  </a:extLst>
                </a:gridCol>
              </a:tblGrid>
              <a:tr h="100000">
                <a:tc>
                  <a:txBody>
                    <a:bodyPr/>
                    <a:lstStyle/>
                    <a:p>
                      <a:pPr marL="0" lvl="0" indent="0" algn="ctr" rtl="0">
                        <a:lnSpc>
                          <a:spcPct val="115000"/>
                        </a:lnSpc>
                        <a:spcBef>
                          <a:spcPts val="0"/>
                        </a:spcBef>
                        <a:spcAft>
                          <a:spcPts val="0"/>
                        </a:spcAft>
                        <a:buNone/>
                      </a:pPr>
                      <a:r>
                        <a:rPr lang="it" sz="800" b="1">
                          <a:solidFill>
                            <a:srgbClr val="FFFFFF"/>
                          </a:solidFill>
                        </a:rPr>
                        <a:t>Action</a:t>
                      </a:r>
                      <a:endParaRPr sz="800" b="1">
                        <a:solidFill>
                          <a:srgbClr val="FFFFFF"/>
                        </a:solidFill>
                      </a:endParaRPr>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ACT-REF</a:t>
                      </a:r>
                      <a:endParaRPr sz="800" b="1">
                        <a:solidFill>
                          <a:srgbClr val="FFFFFF"/>
                        </a:solidFill>
                      </a:endParaRPr>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Hours</a:t>
                      </a:r>
                      <a:endParaRPr sz="800" b="1">
                        <a:solidFill>
                          <a:srgbClr val="FFFFFF"/>
                        </a:solidFill>
                      </a:endParaRPr>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Cost/Hour</a:t>
                      </a:r>
                      <a:endParaRPr sz="800" b="1">
                        <a:solidFill>
                          <a:srgbClr val="FFFFFF"/>
                        </a:solidFill>
                      </a:endParaRPr>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800" b="1">
                          <a:solidFill>
                            <a:srgbClr val="FFFFFF"/>
                          </a:solidFill>
                        </a:rPr>
                        <a:t>Price</a:t>
                      </a:r>
                      <a:endParaRPr sz="800" b="1">
                        <a:solidFill>
                          <a:srgbClr val="FFFFFF"/>
                        </a:solidFill>
                      </a:endParaRPr>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163125">
                <a:tc>
                  <a:txBody>
                    <a:bodyPr/>
                    <a:lstStyle/>
                    <a:p>
                      <a:pPr marL="0" lvl="0" indent="0" algn="ctr" rtl="0">
                        <a:lnSpc>
                          <a:spcPct val="115000"/>
                        </a:lnSpc>
                        <a:spcBef>
                          <a:spcPts val="0"/>
                        </a:spcBef>
                        <a:spcAft>
                          <a:spcPts val="0"/>
                        </a:spcAft>
                        <a:buNone/>
                      </a:pPr>
                      <a:r>
                        <a:rPr lang="it" sz="800"/>
                        <a:t>Configure Firewall Policies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1"/>
                  </a:ext>
                </a:extLst>
              </a:tr>
              <a:tr h="163125">
                <a:tc>
                  <a:txBody>
                    <a:bodyPr/>
                    <a:lstStyle/>
                    <a:p>
                      <a:pPr marL="0" lvl="0" indent="0" algn="ctr" rtl="0">
                        <a:lnSpc>
                          <a:spcPct val="115000"/>
                        </a:lnSpc>
                        <a:spcBef>
                          <a:spcPts val="0"/>
                        </a:spcBef>
                        <a:spcAft>
                          <a:spcPts val="0"/>
                        </a:spcAft>
                        <a:buNone/>
                      </a:pPr>
                      <a:r>
                        <a:rPr lang="it" sz="800"/>
                        <a:t>Configure Navigation Proxy used by company users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163125">
                <a:tc>
                  <a:txBody>
                    <a:bodyPr/>
                    <a:lstStyle/>
                    <a:p>
                      <a:pPr marL="0" lvl="0" indent="0" algn="ctr" rtl="0">
                        <a:lnSpc>
                          <a:spcPct val="115000"/>
                        </a:lnSpc>
                        <a:spcBef>
                          <a:spcPts val="0"/>
                        </a:spcBef>
                        <a:spcAft>
                          <a:spcPts val="0"/>
                        </a:spcAft>
                        <a:buNone/>
                      </a:pPr>
                      <a:r>
                        <a:rPr lang="it" sz="800"/>
                        <a:t>Configure the Intrusion Detection System (IDS)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3"/>
                  </a:ext>
                </a:extLst>
              </a:tr>
              <a:tr h="168250">
                <a:tc>
                  <a:txBody>
                    <a:bodyPr/>
                    <a:lstStyle/>
                    <a:p>
                      <a:pPr marL="0" lvl="0" indent="0" algn="ctr" rtl="0">
                        <a:lnSpc>
                          <a:spcPct val="115000"/>
                        </a:lnSpc>
                        <a:spcBef>
                          <a:spcPts val="0"/>
                        </a:spcBef>
                        <a:spcAft>
                          <a:spcPts val="0"/>
                        </a:spcAft>
                        <a:buNone/>
                      </a:pPr>
                      <a:r>
                        <a:rPr lang="it" sz="800"/>
                        <a:t>Install and configure VPN client to all devices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6</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€ 600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4"/>
                  </a:ext>
                </a:extLst>
              </a:tr>
              <a:tr h="271875">
                <a:tc>
                  <a:txBody>
                    <a:bodyPr/>
                    <a:lstStyle/>
                    <a:p>
                      <a:pPr marL="0" lvl="0" indent="0" algn="ctr" rtl="0">
                        <a:lnSpc>
                          <a:spcPct val="115000"/>
                        </a:lnSpc>
                        <a:spcBef>
                          <a:spcPts val="0"/>
                        </a:spcBef>
                        <a:spcAft>
                          <a:spcPts val="0"/>
                        </a:spcAft>
                        <a:buNone/>
                      </a:pPr>
                      <a:r>
                        <a:rPr lang="it" sz="800"/>
                        <a:t>Configure different VLAN for every device</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€ 200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5"/>
                  </a:ext>
                </a:extLst>
              </a:tr>
              <a:tr h="163125">
                <a:tc>
                  <a:txBody>
                    <a:bodyPr/>
                    <a:lstStyle/>
                    <a:p>
                      <a:pPr marL="0" lvl="0" indent="0" algn="ctr" rtl="0">
                        <a:lnSpc>
                          <a:spcPct val="115000"/>
                        </a:lnSpc>
                        <a:spcBef>
                          <a:spcPts val="0"/>
                        </a:spcBef>
                        <a:spcAft>
                          <a:spcPts val="0"/>
                        </a:spcAft>
                        <a:buNone/>
                      </a:pPr>
                      <a:r>
                        <a:rPr lang="it" sz="800"/>
                        <a:t>Configure NAS on cluster mode</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6"/>
                  </a:ext>
                </a:extLst>
              </a:tr>
              <a:tr h="168250">
                <a:tc>
                  <a:txBody>
                    <a:bodyPr/>
                    <a:lstStyle/>
                    <a:p>
                      <a:pPr marL="0" lvl="0" indent="0" algn="ctr" rtl="0">
                        <a:lnSpc>
                          <a:spcPct val="115000"/>
                        </a:lnSpc>
                        <a:spcBef>
                          <a:spcPts val="0"/>
                        </a:spcBef>
                        <a:spcAft>
                          <a:spcPts val="0"/>
                        </a:spcAft>
                        <a:buNone/>
                      </a:pPr>
                      <a:r>
                        <a:rPr lang="it" sz="800"/>
                        <a:t>Manager and employee training</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7"/>
                  </a:ext>
                </a:extLst>
              </a:tr>
              <a:tr h="208200">
                <a:tc>
                  <a:txBody>
                    <a:bodyPr/>
                    <a:lstStyle/>
                    <a:p>
                      <a:pPr marL="0" lvl="0" indent="0" algn="ctr" rtl="0">
                        <a:lnSpc>
                          <a:spcPct val="115000"/>
                        </a:lnSpc>
                        <a:spcBef>
                          <a:spcPts val="0"/>
                        </a:spcBef>
                        <a:spcAft>
                          <a:spcPts val="0"/>
                        </a:spcAft>
                        <a:buNone/>
                      </a:pPr>
                      <a:r>
                        <a:rPr lang="it" sz="800"/>
                        <a:t>Define recovery procedure</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ATC-3</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8"/>
                  </a:ext>
                </a:extLst>
              </a:tr>
              <a:tr h="163125">
                <a:tc>
                  <a:txBody>
                    <a:bodyPr/>
                    <a:lstStyle/>
                    <a:p>
                      <a:pPr marL="0" lvl="0" indent="0" algn="ctr" rtl="0">
                        <a:lnSpc>
                          <a:spcPct val="115000"/>
                        </a:lnSpc>
                        <a:spcBef>
                          <a:spcPts val="0"/>
                        </a:spcBef>
                        <a:spcAft>
                          <a:spcPts val="0"/>
                        </a:spcAft>
                        <a:buNone/>
                      </a:pPr>
                      <a:r>
                        <a:rPr lang="it" sz="800"/>
                        <a:t>Setup Emergency Contact list</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ATC-3</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€ 200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9"/>
                  </a:ext>
                </a:extLst>
              </a:tr>
              <a:tr h="163125">
                <a:tc>
                  <a:txBody>
                    <a:bodyPr/>
                    <a:lstStyle/>
                    <a:p>
                      <a:pPr marL="0" lvl="0" indent="0" algn="ctr" rtl="0">
                        <a:lnSpc>
                          <a:spcPct val="115000"/>
                        </a:lnSpc>
                        <a:spcBef>
                          <a:spcPts val="0"/>
                        </a:spcBef>
                        <a:spcAft>
                          <a:spcPts val="0"/>
                        </a:spcAft>
                        <a:buNone/>
                      </a:pPr>
                      <a:r>
                        <a:rPr lang="it" sz="800"/>
                        <a:t>Configure automatic security updates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ATC-3</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2</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€ 200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10"/>
                  </a:ext>
                </a:extLst>
              </a:tr>
              <a:tr h="163125">
                <a:tc>
                  <a:txBody>
                    <a:bodyPr/>
                    <a:lstStyle/>
                    <a:p>
                      <a:pPr marL="0" lvl="0" indent="0" algn="ctr" rtl="0">
                        <a:lnSpc>
                          <a:spcPct val="115000"/>
                        </a:lnSpc>
                        <a:spcBef>
                          <a:spcPts val="0"/>
                        </a:spcBef>
                        <a:spcAft>
                          <a:spcPts val="0"/>
                        </a:spcAft>
                        <a:buNone/>
                      </a:pPr>
                      <a:r>
                        <a:rPr lang="it" sz="800"/>
                        <a:t>Implements a Maintenance Program</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ATC-3</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11"/>
                  </a:ext>
                </a:extLst>
              </a:tr>
              <a:tr h="163125">
                <a:tc>
                  <a:txBody>
                    <a:bodyPr/>
                    <a:lstStyle/>
                    <a:p>
                      <a:pPr marL="0" lvl="0" indent="0" algn="ctr" rtl="0">
                        <a:lnSpc>
                          <a:spcPct val="115000"/>
                        </a:lnSpc>
                        <a:spcBef>
                          <a:spcPts val="0"/>
                        </a:spcBef>
                        <a:spcAft>
                          <a:spcPts val="0"/>
                        </a:spcAft>
                        <a:buNone/>
                      </a:pPr>
                      <a:r>
                        <a:rPr lang="it" sz="800"/>
                        <a:t>Configure data encryption on each device</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8</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€ 800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12"/>
                  </a:ext>
                </a:extLst>
              </a:tr>
              <a:tr h="163125">
                <a:tc>
                  <a:txBody>
                    <a:bodyPr/>
                    <a:lstStyle/>
                    <a:p>
                      <a:pPr marL="0" lvl="0" indent="0" algn="ctr" rtl="0">
                        <a:lnSpc>
                          <a:spcPct val="115000"/>
                        </a:lnSpc>
                        <a:spcBef>
                          <a:spcPts val="0"/>
                        </a:spcBef>
                        <a:spcAft>
                          <a:spcPts val="0"/>
                        </a:spcAft>
                        <a:buNone/>
                      </a:pPr>
                      <a:r>
                        <a:rPr lang="it" sz="800"/>
                        <a:t>Implement backup strategies on BYOD</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13"/>
                  </a:ext>
                </a:extLst>
              </a:tr>
              <a:tr h="163125">
                <a:tc>
                  <a:txBody>
                    <a:bodyPr/>
                    <a:lstStyle/>
                    <a:p>
                      <a:pPr marL="0" lvl="0" indent="0" algn="ctr" rtl="0">
                        <a:lnSpc>
                          <a:spcPct val="115000"/>
                        </a:lnSpc>
                        <a:spcBef>
                          <a:spcPts val="0"/>
                        </a:spcBef>
                        <a:spcAft>
                          <a:spcPts val="0"/>
                        </a:spcAft>
                        <a:buNone/>
                      </a:pPr>
                      <a:r>
                        <a:rPr lang="it" sz="800"/>
                        <a:t>Configure 2 factor authentication</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€ 800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14"/>
                  </a:ext>
                </a:extLst>
              </a:tr>
              <a:tr h="178675">
                <a:tc>
                  <a:txBody>
                    <a:bodyPr/>
                    <a:lstStyle/>
                    <a:p>
                      <a:pPr marL="0" lvl="0" indent="0" algn="ctr" rtl="0">
                        <a:lnSpc>
                          <a:spcPct val="115000"/>
                        </a:lnSpc>
                        <a:spcBef>
                          <a:spcPts val="0"/>
                        </a:spcBef>
                        <a:spcAft>
                          <a:spcPts val="0"/>
                        </a:spcAft>
                        <a:buNone/>
                      </a:pPr>
                      <a:r>
                        <a:rPr lang="it" sz="800"/>
                        <a:t>Configure Role Based Access Control on NAS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6</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€ 600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15"/>
                  </a:ext>
                </a:extLst>
              </a:tr>
              <a:tr h="163125">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16"/>
                  </a:ext>
                </a:extLst>
              </a:tr>
              <a:tr h="217175">
                <a:tc gridSpan="2">
                  <a:txBody>
                    <a:bodyPr/>
                    <a:lstStyle/>
                    <a:p>
                      <a:pPr marL="0" lvl="0" indent="0" algn="ctr" rtl="0">
                        <a:lnSpc>
                          <a:spcPct val="115000"/>
                        </a:lnSpc>
                        <a:spcBef>
                          <a:spcPts val="0"/>
                        </a:spcBef>
                        <a:spcAft>
                          <a:spcPts val="0"/>
                        </a:spcAft>
                        <a:buNone/>
                      </a:pPr>
                      <a:r>
                        <a:rPr lang="it" sz="800" b="1"/>
                        <a:t>TOTAL ACTIVITIES</a:t>
                      </a:r>
                      <a:endParaRPr sz="800" b="1"/>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gridSpan="3">
                  <a:txBody>
                    <a:bodyPr/>
                    <a:lstStyle/>
                    <a:p>
                      <a:pPr marL="0" lvl="0" indent="0" algn="ctr" rtl="0">
                        <a:lnSpc>
                          <a:spcPct val="115000"/>
                        </a:lnSpc>
                        <a:spcBef>
                          <a:spcPts val="0"/>
                        </a:spcBef>
                        <a:spcAft>
                          <a:spcPts val="0"/>
                        </a:spcAft>
                        <a:buNone/>
                      </a:pPr>
                      <a:r>
                        <a:rPr lang="it" sz="800" b="1"/>
                        <a:t>€ 6.600</a:t>
                      </a:r>
                      <a:endParaRPr sz="800" b="1"/>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7"/>
                  </a:ext>
                </a:extLst>
              </a:tr>
            </a:tbl>
          </a:graphicData>
        </a:graphic>
      </p:graphicFrame>
      <p:graphicFrame>
        <p:nvGraphicFramePr>
          <p:cNvPr id="167" name="Google Shape;167;p24"/>
          <p:cNvGraphicFramePr/>
          <p:nvPr/>
        </p:nvGraphicFramePr>
        <p:xfrm>
          <a:off x="5287475" y="4627100"/>
          <a:ext cx="3731900" cy="271875"/>
        </p:xfrm>
        <a:graphic>
          <a:graphicData uri="http://schemas.openxmlformats.org/drawingml/2006/table">
            <a:tbl>
              <a:tblPr>
                <a:noFill/>
                <a:tableStyleId>{7BE6A4FD-F2DC-4053-9529-1B390CDC873A}</a:tableStyleId>
              </a:tblPr>
              <a:tblGrid>
                <a:gridCol w="1514600">
                  <a:extLst>
                    <a:ext uri="{9D8B030D-6E8A-4147-A177-3AD203B41FA5}">
                      <a16:colId xmlns:a16="http://schemas.microsoft.com/office/drawing/2014/main" val="20000"/>
                    </a:ext>
                  </a:extLst>
                </a:gridCol>
                <a:gridCol w="365075">
                  <a:extLst>
                    <a:ext uri="{9D8B030D-6E8A-4147-A177-3AD203B41FA5}">
                      <a16:colId xmlns:a16="http://schemas.microsoft.com/office/drawing/2014/main" val="20001"/>
                    </a:ext>
                  </a:extLst>
                </a:gridCol>
                <a:gridCol w="262650">
                  <a:extLst>
                    <a:ext uri="{9D8B030D-6E8A-4147-A177-3AD203B41FA5}">
                      <a16:colId xmlns:a16="http://schemas.microsoft.com/office/drawing/2014/main" val="20002"/>
                    </a:ext>
                  </a:extLst>
                </a:gridCol>
                <a:gridCol w="962925">
                  <a:extLst>
                    <a:ext uri="{9D8B030D-6E8A-4147-A177-3AD203B41FA5}">
                      <a16:colId xmlns:a16="http://schemas.microsoft.com/office/drawing/2014/main" val="20003"/>
                    </a:ext>
                  </a:extLst>
                </a:gridCol>
                <a:gridCol w="626650">
                  <a:extLst>
                    <a:ext uri="{9D8B030D-6E8A-4147-A177-3AD203B41FA5}">
                      <a16:colId xmlns:a16="http://schemas.microsoft.com/office/drawing/2014/main" val="20004"/>
                    </a:ext>
                  </a:extLst>
                </a:gridCol>
              </a:tblGrid>
              <a:tr h="271875">
                <a:tc gridSpan="2">
                  <a:txBody>
                    <a:bodyPr/>
                    <a:lstStyle/>
                    <a:p>
                      <a:pPr marL="0" lvl="0" indent="0" algn="ctr" rtl="0">
                        <a:lnSpc>
                          <a:spcPct val="115000"/>
                        </a:lnSpc>
                        <a:spcBef>
                          <a:spcPts val="0"/>
                        </a:spcBef>
                        <a:spcAft>
                          <a:spcPts val="0"/>
                        </a:spcAft>
                        <a:buNone/>
                      </a:pPr>
                      <a:r>
                        <a:rPr lang="it" sz="1200" b="1">
                          <a:solidFill>
                            <a:srgbClr val="FFFFFF"/>
                          </a:solidFill>
                        </a:rPr>
                        <a:t>TOTAL COST</a:t>
                      </a:r>
                      <a:endParaRPr sz="1200" b="1">
                        <a:solidFill>
                          <a:srgbClr val="FFFFFF"/>
                        </a:solidFill>
                      </a:endParaRPr>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hMerge="1">
                  <a:txBody>
                    <a:bodyPr/>
                    <a:lstStyle/>
                    <a:p>
                      <a:endParaRPr lang="en-US"/>
                    </a:p>
                  </a:txBody>
                  <a:tcPr/>
                </a:tc>
                <a:tc gridSpan="3">
                  <a:txBody>
                    <a:bodyPr/>
                    <a:lstStyle/>
                    <a:p>
                      <a:pPr marL="0" lvl="0" indent="0" algn="ctr" rtl="0">
                        <a:spcBef>
                          <a:spcPts val="0"/>
                        </a:spcBef>
                        <a:spcAft>
                          <a:spcPts val="0"/>
                        </a:spcAft>
                        <a:buNone/>
                      </a:pPr>
                      <a:r>
                        <a:rPr lang="it" sz="1200" b="1">
                          <a:solidFill>
                            <a:srgbClr val="FFFFFF"/>
                          </a:solidFill>
                        </a:rPr>
                        <a:t>€ 16.100</a:t>
                      </a:r>
                      <a:endParaRPr sz="1200" b="1">
                        <a:solidFill>
                          <a:srgbClr val="FFFFFF"/>
                        </a:solidFill>
                      </a:endParaRPr>
                    </a:p>
                  </a:txBody>
                  <a:tcPr marL="25400" marR="25400" marT="25400" marB="25400" anchor="ctr">
                    <a:lnL w="12700"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73" name="Google Shape;173;p25"/>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74" name="Google Shape;174;p25"/>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75" name="Google Shape;175;p25"/>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err="1">
                <a:solidFill>
                  <a:srgbClr val="9FC5E8"/>
                </a:solidFill>
              </a:rPr>
              <a:t>ezAccount</a:t>
            </a:r>
            <a:r>
              <a:rPr lang="it" sz="1600" b="1">
                <a:solidFill>
                  <a:srgbClr val="9FC5E8"/>
                </a:solidFill>
              </a:rPr>
              <a:t> - </a:t>
            </a:r>
            <a:r>
              <a:rPr lang="it" sz="1600" b="1" err="1">
                <a:solidFill>
                  <a:srgbClr val="9FC5E8"/>
                </a:solidFill>
              </a:rPr>
              <a:t>Improving</a:t>
            </a:r>
            <a:r>
              <a:rPr lang="it" sz="1600" b="1">
                <a:solidFill>
                  <a:srgbClr val="9FC5E8"/>
                </a:solidFill>
              </a:rPr>
              <a:t> network security in a tax </a:t>
            </a:r>
            <a:r>
              <a:rPr lang="it" sz="1600" b="1" err="1">
                <a:solidFill>
                  <a:srgbClr val="9FC5E8"/>
                </a:solidFill>
              </a:rPr>
              <a:t>accountant</a:t>
            </a:r>
            <a:r>
              <a:rPr lang="it" sz="1600" b="1">
                <a:solidFill>
                  <a:srgbClr val="9FC5E8"/>
                </a:solidFill>
              </a:rPr>
              <a:t> office</a:t>
            </a:r>
            <a:endParaRPr sz="1600" b="1">
              <a:solidFill>
                <a:schemeClr val="lt1"/>
              </a:solidFill>
            </a:endParaRPr>
          </a:p>
          <a:p>
            <a:pPr marL="0" lvl="0" indent="0" algn="l" rtl="0">
              <a:spcBef>
                <a:spcPts val="0"/>
              </a:spcBef>
              <a:spcAft>
                <a:spcPts val="0"/>
              </a:spcAft>
              <a:buNone/>
            </a:pPr>
            <a:r>
              <a:rPr lang="it" sz="1600" b="1" err="1">
                <a:solidFill>
                  <a:schemeClr val="lt1"/>
                </a:solidFill>
              </a:rPr>
              <a:t>Proposed</a:t>
            </a:r>
            <a:r>
              <a:rPr lang="it" sz="1600" b="1">
                <a:solidFill>
                  <a:schemeClr val="lt1"/>
                </a:solidFill>
              </a:rPr>
              <a:t> Costs - </a:t>
            </a:r>
            <a:r>
              <a:rPr lang="it" sz="1600" b="1" err="1">
                <a:solidFill>
                  <a:schemeClr val="lt1"/>
                </a:solidFill>
              </a:rPr>
              <a:t>Recurring</a:t>
            </a:r>
            <a:r>
              <a:rPr lang="it" sz="1600" b="1">
                <a:solidFill>
                  <a:schemeClr val="lt1"/>
                </a:solidFill>
              </a:rPr>
              <a:t> </a:t>
            </a:r>
            <a:r>
              <a:rPr lang="it" sz="1600" b="1" err="1">
                <a:solidFill>
                  <a:schemeClr val="lt1"/>
                </a:solidFill>
              </a:rPr>
              <a:t>Yearly</a:t>
            </a:r>
            <a:endParaRPr sz="1600" b="1" err="1">
              <a:solidFill>
                <a:schemeClr val="lt1"/>
              </a:solidFill>
            </a:endParaRPr>
          </a:p>
        </p:txBody>
      </p:sp>
      <p:sp>
        <p:nvSpPr>
          <p:cNvPr id="176" name="Google Shape;176;p25"/>
          <p:cNvSpPr txBox="1"/>
          <p:nvPr/>
        </p:nvSpPr>
        <p:spPr>
          <a:xfrm>
            <a:off x="4971050" y="1501600"/>
            <a:ext cx="4023300" cy="338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it" sz="1000" b="1">
                <a:solidFill>
                  <a:schemeClr val="dk1"/>
                </a:solidFill>
              </a:rPr>
              <a:t>Recurring Cost (yearly) Material List</a:t>
            </a:r>
            <a:endParaRPr/>
          </a:p>
        </p:txBody>
      </p:sp>
      <p:sp>
        <p:nvSpPr>
          <p:cNvPr id="177" name="Google Shape;177;p25"/>
          <p:cNvSpPr txBox="1"/>
          <p:nvPr/>
        </p:nvSpPr>
        <p:spPr>
          <a:xfrm>
            <a:off x="172150" y="1501600"/>
            <a:ext cx="4528500" cy="338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it" sz="1000" b="1">
                <a:solidFill>
                  <a:schemeClr val="dk1"/>
                </a:solidFill>
              </a:rPr>
              <a:t>Activity Maintenance List</a:t>
            </a:r>
            <a:endParaRPr/>
          </a:p>
        </p:txBody>
      </p:sp>
      <p:graphicFrame>
        <p:nvGraphicFramePr>
          <p:cNvPr id="178" name="Google Shape;178;p25"/>
          <p:cNvGraphicFramePr/>
          <p:nvPr/>
        </p:nvGraphicFramePr>
        <p:xfrm>
          <a:off x="2706050" y="4263600"/>
          <a:ext cx="3731900" cy="271875"/>
        </p:xfrm>
        <a:graphic>
          <a:graphicData uri="http://schemas.openxmlformats.org/drawingml/2006/table">
            <a:tbl>
              <a:tblPr>
                <a:noFill/>
                <a:tableStyleId>{7BE6A4FD-F2DC-4053-9529-1B390CDC873A}</a:tableStyleId>
              </a:tblPr>
              <a:tblGrid>
                <a:gridCol w="1514600">
                  <a:extLst>
                    <a:ext uri="{9D8B030D-6E8A-4147-A177-3AD203B41FA5}">
                      <a16:colId xmlns:a16="http://schemas.microsoft.com/office/drawing/2014/main" val="20000"/>
                    </a:ext>
                  </a:extLst>
                </a:gridCol>
                <a:gridCol w="365075">
                  <a:extLst>
                    <a:ext uri="{9D8B030D-6E8A-4147-A177-3AD203B41FA5}">
                      <a16:colId xmlns:a16="http://schemas.microsoft.com/office/drawing/2014/main" val="20001"/>
                    </a:ext>
                  </a:extLst>
                </a:gridCol>
                <a:gridCol w="262650">
                  <a:extLst>
                    <a:ext uri="{9D8B030D-6E8A-4147-A177-3AD203B41FA5}">
                      <a16:colId xmlns:a16="http://schemas.microsoft.com/office/drawing/2014/main" val="20002"/>
                    </a:ext>
                  </a:extLst>
                </a:gridCol>
                <a:gridCol w="962925">
                  <a:extLst>
                    <a:ext uri="{9D8B030D-6E8A-4147-A177-3AD203B41FA5}">
                      <a16:colId xmlns:a16="http://schemas.microsoft.com/office/drawing/2014/main" val="20003"/>
                    </a:ext>
                  </a:extLst>
                </a:gridCol>
                <a:gridCol w="626650">
                  <a:extLst>
                    <a:ext uri="{9D8B030D-6E8A-4147-A177-3AD203B41FA5}">
                      <a16:colId xmlns:a16="http://schemas.microsoft.com/office/drawing/2014/main" val="20004"/>
                    </a:ext>
                  </a:extLst>
                </a:gridCol>
              </a:tblGrid>
              <a:tr h="271875">
                <a:tc gridSpan="2">
                  <a:txBody>
                    <a:bodyPr/>
                    <a:lstStyle/>
                    <a:p>
                      <a:pPr marL="0" lvl="0" indent="0" algn="ctr" rtl="0">
                        <a:lnSpc>
                          <a:spcPct val="115000"/>
                        </a:lnSpc>
                        <a:spcBef>
                          <a:spcPts val="0"/>
                        </a:spcBef>
                        <a:spcAft>
                          <a:spcPts val="0"/>
                        </a:spcAft>
                        <a:buNone/>
                      </a:pPr>
                      <a:r>
                        <a:rPr lang="it" sz="1200" b="1">
                          <a:solidFill>
                            <a:schemeClr val="lt1"/>
                          </a:solidFill>
                        </a:rPr>
                        <a:t>TOTAL COST</a:t>
                      </a:r>
                      <a:endParaRPr sz="1200" b="1">
                        <a:solidFill>
                          <a:schemeClr val="lt1"/>
                        </a:solidFill>
                      </a:endParaRPr>
                    </a:p>
                  </a:txBody>
                  <a:tcPr marL="28575" marR="28575" marT="19050" marB="1905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dk1"/>
                    </a:solidFill>
                  </a:tcPr>
                </a:tc>
                <a:tc hMerge="1">
                  <a:txBody>
                    <a:bodyPr/>
                    <a:lstStyle/>
                    <a:p>
                      <a:endParaRPr lang="en-US"/>
                    </a:p>
                  </a:txBody>
                  <a:tcPr/>
                </a:tc>
                <a:tc gridSpan="3">
                  <a:txBody>
                    <a:bodyPr/>
                    <a:lstStyle/>
                    <a:p>
                      <a:pPr marL="0" lvl="0" indent="0" algn="ctr" rtl="0">
                        <a:spcBef>
                          <a:spcPts val="0"/>
                        </a:spcBef>
                        <a:spcAft>
                          <a:spcPts val="0"/>
                        </a:spcAft>
                        <a:buNone/>
                      </a:pPr>
                      <a:r>
                        <a:rPr lang="it" sz="1200" b="1">
                          <a:solidFill>
                            <a:schemeClr val="lt1"/>
                          </a:solidFill>
                        </a:rPr>
                        <a:t>€ 2738</a:t>
                      </a:r>
                      <a:endParaRPr sz="1200" b="1">
                        <a:solidFill>
                          <a:schemeClr val="lt1"/>
                        </a:solidFill>
                      </a:endParaRPr>
                    </a:p>
                  </a:txBody>
                  <a:tcPr marL="28575" marR="28575" marT="19050" marB="19050" anchor="ctr">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bl>
          </a:graphicData>
        </a:graphic>
      </p:graphicFrame>
      <p:graphicFrame>
        <p:nvGraphicFramePr>
          <p:cNvPr id="179" name="Google Shape;179;p25"/>
          <p:cNvGraphicFramePr/>
          <p:nvPr/>
        </p:nvGraphicFramePr>
        <p:xfrm>
          <a:off x="172150" y="1869788"/>
          <a:ext cx="4528450" cy="1955653"/>
        </p:xfrm>
        <a:graphic>
          <a:graphicData uri="http://schemas.openxmlformats.org/drawingml/2006/table">
            <a:tbl>
              <a:tblPr>
                <a:noFill/>
                <a:tableStyleId>{7BE6A4FD-F2DC-4053-9529-1B390CDC873A}</a:tableStyleId>
              </a:tblPr>
              <a:tblGrid>
                <a:gridCol w="2338450">
                  <a:extLst>
                    <a:ext uri="{9D8B030D-6E8A-4147-A177-3AD203B41FA5}">
                      <a16:colId xmlns:a16="http://schemas.microsoft.com/office/drawing/2014/main" val="20000"/>
                    </a:ext>
                  </a:extLst>
                </a:gridCol>
                <a:gridCol w="723800">
                  <a:extLst>
                    <a:ext uri="{9D8B030D-6E8A-4147-A177-3AD203B41FA5}">
                      <a16:colId xmlns:a16="http://schemas.microsoft.com/office/drawing/2014/main" val="20001"/>
                    </a:ext>
                  </a:extLst>
                </a:gridCol>
                <a:gridCol w="408300">
                  <a:extLst>
                    <a:ext uri="{9D8B030D-6E8A-4147-A177-3AD203B41FA5}">
                      <a16:colId xmlns:a16="http://schemas.microsoft.com/office/drawing/2014/main" val="20002"/>
                    </a:ext>
                  </a:extLst>
                </a:gridCol>
                <a:gridCol w="538225">
                  <a:extLst>
                    <a:ext uri="{9D8B030D-6E8A-4147-A177-3AD203B41FA5}">
                      <a16:colId xmlns:a16="http://schemas.microsoft.com/office/drawing/2014/main" val="20003"/>
                    </a:ext>
                  </a:extLst>
                </a:gridCol>
                <a:gridCol w="519675">
                  <a:extLst>
                    <a:ext uri="{9D8B030D-6E8A-4147-A177-3AD203B41FA5}">
                      <a16:colId xmlns:a16="http://schemas.microsoft.com/office/drawing/2014/main" val="20004"/>
                    </a:ext>
                  </a:extLst>
                </a:gridCol>
              </a:tblGrid>
              <a:tr h="200025">
                <a:tc>
                  <a:txBody>
                    <a:bodyPr/>
                    <a:lstStyle/>
                    <a:p>
                      <a:pPr marL="0" lvl="0" indent="0" algn="ctr" rtl="0">
                        <a:lnSpc>
                          <a:spcPct val="115000"/>
                        </a:lnSpc>
                        <a:spcBef>
                          <a:spcPts val="0"/>
                        </a:spcBef>
                        <a:spcAft>
                          <a:spcPts val="0"/>
                        </a:spcAft>
                        <a:buNone/>
                      </a:pPr>
                      <a:r>
                        <a:rPr lang="it" sz="700" b="1">
                          <a:solidFill>
                            <a:srgbClr val="FFFFFF"/>
                          </a:solidFill>
                        </a:rPr>
                        <a:t>Action</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ACT-REF</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Hours</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Cost/Hour</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Price</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333375">
                <a:tc>
                  <a:txBody>
                    <a:bodyPr/>
                    <a:lstStyle/>
                    <a:p>
                      <a:pPr marL="0" lvl="0" indent="0" algn="ctr" rtl="0">
                        <a:lnSpc>
                          <a:spcPct val="115000"/>
                        </a:lnSpc>
                        <a:spcBef>
                          <a:spcPts val="0"/>
                        </a:spcBef>
                        <a:spcAft>
                          <a:spcPts val="0"/>
                        </a:spcAft>
                        <a:buNone/>
                      </a:pPr>
                      <a:r>
                        <a:rPr lang="it" sz="800"/>
                        <a:t>Configure Firewall Policies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it" sz="800"/>
                        <a:t>Configure Navigation Proxy used by company users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it" sz="800"/>
                        <a:t>Configure the IDS (Intrusion Detection System)</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it" sz="800"/>
                        <a:t>Maintenance of the recovery procedure</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ATC-3</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4</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€ 400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it" sz="800"/>
                        <a:t>Setup Emergency Contact list</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ATC-3</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5"/>
                  </a:ext>
                </a:extLst>
              </a:tr>
              <a:tr h="251450">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sz="1100"/>
                    </a:p>
                  </a:txBody>
                  <a:tcPr marL="25400" marR="25400" marT="25400" marB="2540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251450">
                <a:tc gridSpan="2">
                  <a:txBody>
                    <a:bodyPr/>
                    <a:lstStyle/>
                    <a:p>
                      <a:pPr marL="0" lvl="0" indent="0" algn="ctr" rtl="0">
                        <a:lnSpc>
                          <a:spcPct val="115000"/>
                        </a:lnSpc>
                        <a:spcBef>
                          <a:spcPts val="0"/>
                        </a:spcBef>
                        <a:spcAft>
                          <a:spcPts val="0"/>
                        </a:spcAft>
                        <a:buNone/>
                      </a:pPr>
                      <a:r>
                        <a:rPr lang="it" sz="800" b="1"/>
                        <a:t>RECURRING ACTIVITIES (YEARLY)</a:t>
                      </a:r>
                      <a:endParaRPr sz="800" b="1"/>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gridSpan="3">
                  <a:txBody>
                    <a:bodyPr/>
                    <a:lstStyle/>
                    <a:p>
                      <a:pPr marL="0" lvl="0" indent="0" algn="ctr" rtl="0">
                        <a:lnSpc>
                          <a:spcPct val="115000"/>
                        </a:lnSpc>
                        <a:spcBef>
                          <a:spcPts val="0"/>
                        </a:spcBef>
                        <a:spcAft>
                          <a:spcPts val="0"/>
                        </a:spcAft>
                        <a:buNone/>
                      </a:pPr>
                      <a:r>
                        <a:rPr lang="it" sz="800" b="1"/>
                        <a:t>€ 800</a:t>
                      </a:r>
                      <a:endParaRPr sz="800" b="1"/>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graphicFrame>
        <p:nvGraphicFramePr>
          <p:cNvPr id="180" name="Google Shape;180;p25"/>
          <p:cNvGraphicFramePr/>
          <p:nvPr/>
        </p:nvGraphicFramePr>
        <p:xfrm>
          <a:off x="4971050" y="1869800"/>
          <a:ext cx="4045900" cy="1955653"/>
        </p:xfrm>
        <a:graphic>
          <a:graphicData uri="http://schemas.openxmlformats.org/drawingml/2006/table">
            <a:tbl>
              <a:tblPr>
                <a:noFill/>
                <a:tableStyleId>{7BE6A4FD-F2DC-4053-9529-1B390CDC873A}</a:tableStyleId>
              </a:tblPr>
              <a:tblGrid>
                <a:gridCol w="1429075">
                  <a:extLst>
                    <a:ext uri="{9D8B030D-6E8A-4147-A177-3AD203B41FA5}">
                      <a16:colId xmlns:a16="http://schemas.microsoft.com/office/drawing/2014/main" val="20000"/>
                    </a:ext>
                  </a:extLst>
                </a:gridCol>
                <a:gridCol w="686675">
                  <a:extLst>
                    <a:ext uri="{9D8B030D-6E8A-4147-A177-3AD203B41FA5}">
                      <a16:colId xmlns:a16="http://schemas.microsoft.com/office/drawing/2014/main" val="20001"/>
                    </a:ext>
                  </a:extLst>
                </a:gridCol>
                <a:gridCol w="482550">
                  <a:extLst>
                    <a:ext uri="{9D8B030D-6E8A-4147-A177-3AD203B41FA5}">
                      <a16:colId xmlns:a16="http://schemas.microsoft.com/office/drawing/2014/main" val="20002"/>
                    </a:ext>
                  </a:extLst>
                </a:gridCol>
                <a:gridCol w="723800">
                  <a:extLst>
                    <a:ext uri="{9D8B030D-6E8A-4147-A177-3AD203B41FA5}">
                      <a16:colId xmlns:a16="http://schemas.microsoft.com/office/drawing/2014/main" val="20003"/>
                    </a:ext>
                  </a:extLst>
                </a:gridCol>
                <a:gridCol w="723800">
                  <a:extLst>
                    <a:ext uri="{9D8B030D-6E8A-4147-A177-3AD203B41FA5}">
                      <a16:colId xmlns:a16="http://schemas.microsoft.com/office/drawing/2014/main" val="20004"/>
                    </a:ext>
                  </a:extLst>
                </a:gridCol>
              </a:tblGrid>
              <a:tr h="200025">
                <a:tc>
                  <a:txBody>
                    <a:bodyPr/>
                    <a:lstStyle/>
                    <a:p>
                      <a:pPr marL="0" lvl="0" indent="0" algn="ctr" rtl="0">
                        <a:lnSpc>
                          <a:spcPct val="115000"/>
                        </a:lnSpc>
                        <a:spcBef>
                          <a:spcPts val="0"/>
                        </a:spcBef>
                        <a:spcAft>
                          <a:spcPts val="0"/>
                        </a:spcAft>
                        <a:buNone/>
                      </a:pPr>
                      <a:r>
                        <a:rPr lang="it" sz="700" b="1">
                          <a:solidFill>
                            <a:srgbClr val="FFFFFF"/>
                          </a:solidFill>
                        </a:rPr>
                        <a:t>Item</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ACT-REF</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Qty</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Unit Price</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tc>
                  <a:txBody>
                    <a:bodyPr/>
                    <a:lstStyle/>
                    <a:p>
                      <a:pPr marL="0" lvl="0" indent="0" algn="ctr" rtl="0">
                        <a:lnSpc>
                          <a:spcPct val="115000"/>
                        </a:lnSpc>
                        <a:spcBef>
                          <a:spcPts val="0"/>
                        </a:spcBef>
                        <a:spcAft>
                          <a:spcPts val="0"/>
                        </a:spcAft>
                        <a:buNone/>
                      </a:pPr>
                      <a:r>
                        <a:rPr lang="it" sz="700" b="1">
                          <a:solidFill>
                            <a:srgbClr val="FFFFFF"/>
                          </a:solidFill>
                        </a:rPr>
                        <a:t>Price</a:t>
                      </a:r>
                      <a:endParaRPr sz="700" b="1">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333375">
                <a:tc>
                  <a:txBody>
                    <a:bodyPr/>
                    <a:lstStyle/>
                    <a:p>
                      <a:pPr marL="0" lvl="0" indent="0" algn="ctr" rtl="0">
                        <a:lnSpc>
                          <a:spcPct val="115000"/>
                        </a:lnSpc>
                        <a:spcBef>
                          <a:spcPts val="0"/>
                        </a:spcBef>
                        <a:spcAft>
                          <a:spcPts val="0"/>
                        </a:spcAft>
                        <a:buNone/>
                      </a:pPr>
                      <a:r>
                        <a:rPr lang="it" sz="800"/>
                        <a:t>Sophos FW annual maintenance</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€ 1.000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it" sz="800"/>
                        <a:t>Aruba Central (3 years subscr)</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€ 200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€ 200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it" sz="800"/>
                        <a:t>(Sophos) Central Antivirus</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€ 500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€ 500</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it" sz="800"/>
                        <a:t>Synology Cloud C2 Backup</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€ 99</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€ 99</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it" sz="800"/>
                        <a:t>Synology Cloud C2 Storage</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ACT-1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1</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€ 139</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it" sz="800"/>
                        <a:t>€ 139</a:t>
                      </a:r>
                      <a:endParaRPr sz="8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extLst>
                  <a:ext uri="{0D108BD9-81ED-4DB2-BD59-A6C34878D82A}">
                    <a16:rowId xmlns:a16="http://schemas.microsoft.com/office/drawing/2014/main" val="10005"/>
                  </a:ext>
                </a:extLst>
              </a:tr>
              <a:tr h="251450">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None/>
                      </a:pPr>
                      <a:endParaRPr sz="1100"/>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251450">
                <a:tc gridSpan="2">
                  <a:txBody>
                    <a:bodyPr/>
                    <a:lstStyle/>
                    <a:p>
                      <a:pPr marL="0" lvl="0" indent="0" algn="ctr" rtl="0">
                        <a:lnSpc>
                          <a:spcPct val="115000"/>
                        </a:lnSpc>
                        <a:spcBef>
                          <a:spcPts val="0"/>
                        </a:spcBef>
                        <a:spcAft>
                          <a:spcPts val="0"/>
                        </a:spcAft>
                        <a:buNone/>
                      </a:pPr>
                      <a:r>
                        <a:rPr lang="it" sz="800" b="1"/>
                        <a:t>RECURRING MATERIAL (YEAR)</a:t>
                      </a:r>
                      <a:endParaRPr sz="800" b="1"/>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gridSpan="3">
                  <a:txBody>
                    <a:bodyPr/>
                    <a:lstStyle/>
                    <a:p>
                      <a:pPr marL="0" lvl="0" indent="0" algn="ctr" rtl="0">
                        <a:lnSpc>
                          <a:spcPct val="115000"/>
                        </a:lnSpc>
                        <a:spcBef>
                          <a:spcPts val="0"/>
                        </a:spcBef>
                        <a:spcAft>
                          <a:spcPts val="0"/>
                        </a:spcAft>
                        <a:buNone/>
                      </a:pPr>
                      <a:r>
                        <a:rPr lang="it" sz="800" b="1"/>
                        <a:t>€ 1938</a:t>
                      </a:r>
                      <a:endParaRPr sz="800" b="1"/>
                    </a:p>
                  </a:txBody>
                  <a:tcPr marL="25400" marR="2540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CC"/>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86" name="Google Shape;186;p26"/>
          <p:cNvPicPr preferRelativeResize="0"/>
          <p:nvPr/>
        </p:nvPicPr>
        <p:blipFill rotWithShape="1">
          <a:blip r:embed="rId3">
            <a:alphaModFix/>
          </a:blip>
          <a:srcRect b="63235"/>
          <a:stretch/>
        </p:blipFill>
        <p:spPr>
          <a:xfrm>
            <a:off x="0" y="0"/>
            <a:ext cx="9144000" cy="1065426"/>
          </a:xfrm>
          <a:prstGeom prst="rect">
            <a:avLst/>
          </a:prstGeom>
          <a:noFill/>
          <a:ln>
            <a:noFill/>
          </a:ln>
        </p:spPr>
      </p:pic>
      <p:sp>
        <p:nvSpPr>
          <p:cNvPr id="187" name="Google Shape;187;p26"/>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88" name="Google Shape;188;p26"/>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err="1">
                <a:solidFill>
                  <a:srgbClr val="9FC5E8"/>
                </a:solidFill>
              </a:rPr>
              <a:t>ezAccount</a:t>
            </a:r>
            <a:r>
              <a:rPr lang="it" sz="1600" b="1">
                <a:solidFill>
                  <a:srgbClr val="9FC5E8"/>
                </a:solidFill>
              </a:rPr>
              <a:t> - </a:t>
            </a:r>
            <a:r>
              <a:rPr lang="it" sz="1600" b="1" err="1">
                <a:solidFill>
                  <a:srgbClr val="9FC5E8"/>
                </a:solidFill>
              </a:rPr>
              <a:t>Improving</a:t>
            </a:r>
            <a:r>
              <a:rPr lang="it" sz="1600" b="1">
                <a:solidFill>
                  <a:srgbClr val="9FC5E8"/>
                </a:solidFill>
              </a:rPr>
              <a:t> network security in a tax </a:t>
            </a:r>
            <a:r>
              <a:rPr lang="it" sz="1600" b="1" err="1">
                <a:solidFill>
                  <a:srgbClr val="9FC5E8"/>
                </a:solidFill>
              </a:rPr>
              <a:t>accountant</a:t>
            </a:r>
            <a:r>
              <a:rPr lang="it" sz="1600" b="1">
                <a:solidFill>
                  <a:srgbClr val="9FC5E8"/>
                </a:solidFill>
              </a:rPr>
              <a:t> office</a:t>
            </a:r>
            <a:endParaRPr sz="1600" b="1">
              <a:solidFill>
                <a:schemeClr val="lt1"/>
              </a:solidFill>
            </a:endParaRPr>
          </a:p>
          <a:p>
            <a:pPr marL="0" lvl="0" indent="0" algn="l" rtl="0">
              <a:spcBef>
                <a:spcPts val="0"/>
              </a:spcBef>
              <a:spcAft>
                <a:spcPts val="0"/>
              </a:spcAft>
              <a:buNone/>
            </a:pPr>
            <a:r>
              <a:rPr lang="it" sz="1600" b="1" err="1">
                <a:solidFill>
                  <a:schemeClr val="lt1"/>
                </a:solidFill>
              </a:rPr>
              <a:t>Conclusion</a:t>
            </a:r>
            <a:endParaRPr sz="1600" b="1" err="1">
              <a:solidFill>
                <a:schemeClr val="lt1"/>
              </a:solidFill>
            </a:endParaRPr>
          </a:p>
        </p:txBody>
      </p:sp>
      <p:graphicFrame>
        <p:nvGraphicFramePr>
          <p:cNvPr id="189" name="Google Shape;189;p26"/>
          <p:cNvGraphicFramePr/>
          <p:nvPr>
            <p:extLst>
              <p:ext uri="{D42A27DB-BD31-4B8C-83A1-F6EECF244321}">
                <p14:modId xmlns:p14="http://schemas.microsoft.com/office/powerpoint/2010/main" val="4261140989"/>
              </p:ext>
            </p:extLst>
          </p:nvPr>
        </p:nvGraphicFramePr>
        <p:xfrm>
          <a:off x="311700" y="1814800"/>
          <a:ext cx="8520600" cy="2089762"/>
        </p:xfrm>
        <a:graphic>
          <a:graphicData uri="http://schemas.openxmlformats.org/drawingml/2006/table">
            <a:tbl>
              <a:tblPr>
                <a:noFill/>
                <a:tableStyleId>{4D11C929-2CF1-41A9-A7A1-38CD1D5D44DC}</a:tableStyleId>
              </a:tblPr>
              <a:tblGrid>
                <a:gridCol w="85206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it" b="1">
                          <a:solidFill>
                            <a:srgbClr val="FFFFFF"/>
                          </a:solidFill>
                        </a:rPr>
                        <a:t>The </a:t>
                      </a:r>
                      <a:r>
                        <a:rPr lang="it" b="1" err="1">
                          <a:solidFill>
                            <a:srgbClr val="FFFFFF"/>
                          </a:solidFill>
                        </a:rPr>
                        <a:t>proposed</a:t>
                      </a:r>
                      <a:r>
                        <a:rPr lang="it" b="1">
                          <a:solidFill>
                            <a:srgbClr val="FFFFFF"/>
                          </a:solidFill>
                        </a:rPr>
                        <a:t> project</a:t>
                      </a:r>
                      <a:endParaRPr b="1">
                        <a:solidFill>
                          <a:srgbClr val="FFFFFF"/>
                        </a:solidFill>
                      </a:endParaRPr>
                    </a:p>
                  </a:txBody>
                  <a:tcPr marL="91425" marR="91425" marT="91425" marB="91425">
                    <a:solidFill>
                      <a:srgbClr val="000000"/>
                    </a:solidFill>
                  </a:tcPr>
                </a:tc>
                <a:extLst>
                  <a:ext uri="{0D108BD9-81ED-4DB2-BD59-A6C34878D82A}">
                    <a16:rowId xmlns:a16="http://schemas.microsoft.com/office/drawing/2014/main" val="10000"/>
                  </a:ext>
                </a:extLst>
              </a:tr>
              <a:tr h="381000">
                <a:tc>
                  <a:txBody>
                    <a:bodyPr/>
                    <a:lstStyle/>
                    <a:p>
                      <a:pPr marL="0" lvl="0" indent="0" algn="just" rtl="0">
                        <a:lnSpc>
                          <a:spcPct val="115000"/>
                        </a:lnSpc>
                        <a:spcBef>
                          <a:spcPts val="0"/>
                        </a:spcBef>
                        <a:spcAft>
                          <a:spcPts val="1200"/>
                        </a:spcAft>
                        <a:buClr>
                          <a:schemeClr val="dk1"/>
                        </a:buClr>
                        <a:buSzPts val="1100"/>
                        <a:buFont typeface="Arial"/>
                        <a:buNone/>
                      </a:pPr>
                      <a:r>
                        <a:rPr lang="it" sz="1500" err="1">
                          <a:solidFill>
                            <a:schemeClr val="dk1"/>
                          </a:solidFill>
                        </a:rPr>
                        <a:t>Ensures</a:t>
                      </a:r>
                      <a:r>
                        <a:rPr lang="it" sz="1500">
                          <a:solidFill>
                            <a:schemeClr val="dk1"/>
                          </a:solidFill>
                        </a:rPr>
                        <a:t> </a:t>
                      </a:r>
                      <a:r>
                        <a:rPr lang="it" sz="1500" err="1">
                          <a:solidFill>
                            <a:schemeClr val="dk1"/>
                          </a:solidFill>
                        </a:rPr>
                        <a:t>greater</a:t>
                      </a:r>
                      <a:r>
                        <a:rPr lang="it" sz="1500">
                          <a:solidFill>
                            <a:schemeClr val="dk1"/>
                          </a:solidFill>
                        </a:rPr>
                        <a:t> </a:t>
                      </a:r>
                      <a:r>
                        <a:rPr lang="it" sz="1500" err="1">
                          <a:solidFill>
                            <a:schemeClr val="dk1"/>
                          </a:solidFill>
                        </a:rPr>
                        <a:t>confidentiality</a:t>
                      </a:r>
                      <a:r>
                        <a:rPr lang="it" sz="1500">
                          <a:solidFill>
                            <a:schemeClr val="dk1"/>
                          </a:solidFill>
                        </a:rPr>
                        <a:t> and </a:t>
                      </a:r>
                      <a:r>
                        <a:rPr lang="it" sz="1500" err="1">
                          <a:solidFill>
                            <a:schemeClr val="dk1"/>
                          </a:solidFill>
                        </a:rPr>
                        <a:t>integrity</a:t>
                      </a:r>
                      <a:r>
                        <a:rPr lang="it" sz="1500">
                          <a:solidFill>
                            <a:schemeClr val="dk1"/>
                          </a:solidFill>
                        </a:rPr>
                        <a:t> of the </a:t>
                      </a:r>
                      <a:r>
                        <a:rPr lang="it" sz="1500" err="1">
                          <a:solidFill>
                            <a:schemeClr val="dk1"/>
                          </a:solidFill>
                        </a:rPr>
                        <a:t>resources</a:t>
                      </a:r>
                      <a:endParaRPr sz="1500" err="1"/>
                    </a:p>
                  </a:txBody>
                  <a:tcPr marL="91425" marR="91425" marT="91425" marB="91425">
                    <a:solidFill>
                      <a:srgbClr val="CCCCCC"/>
                    </a:solidFill>
                  </a:tcPr>
                </a:tc>
                <a:extLst>
                  <a:ext uri="{0D108BD9-81ED-4DB2-BD59-A6C34878D82A}">
                    <a16:rowId xmlns:a16="http://schemas.microsoft.com/office/drawing/2014/main" val="10001"/>
                  </a:ext>
                </a:extLst>
              </a:tr>
              <a:tr h="381000">
                <a:tc>
                  <a:txBody>
                    <a:bodyPr/>
                    <a:lstStyle/>
                    <a:p>
                      <a:pPr marL="0" lvl="0" indent="0" algn="just" rtl="0">
                        <a:lnSpc>
                          <a:spcPct val="115000"/>
                        </a:lnSpc>
                        <a:spcBef>
                          <a:spcPts val="0"/>
                        </a:spcBef>
                        <a:spcAft>
                          <a:spcPts val="1200"/>
                        </a:spcAft>
                        <a:buClr>
                          <a:schemeClr val="dk1"/>
                        </a:buClr>
                        <a:buSzPts val="1100"/>
                        <a:buFont typeface="Arial"/>
                        <a:buNone/>
                      </a:pPr>
                      <a:r>
                        <a:rPr lang="it" sz="1500" err="1">
                          <a:solidFill>
                            <a:schemeClr val="dk1"/>
                          </a:solidFill>
                        </a:rPr>
                        <a:t>Improves</a:t>
                      </a:r>
                      <a:r>
                        <a:rPr lang="it" sz="1500">
                          <a:solidFill>
                            <a:schemeClr val="dk1"/>
                          </a:solidFill>
                        </a:rPr>
                        <a:t> the company </a:t>
                      </a:r>
                      <a:r>
                        <a:rPr lang="it" sz="1500" err="1">
                          <a:solidFill>
                            <a:schemeClr val="dk1"/>
                          </a:solidFill>
                        </a:rPr>
                        <a:t>ability</a:t>
                      </a:r>
                      <a:r>
                        <a:rPr lang="it" sz="1500">
                          <a:solidFill>
                            <a:schemeClr val="dk1"/>
                          </a:solidFill>
                        </a:rPr>
                        <a:t> to </a:t>
                      </a:r>
                      <a:r>
                        <a:rPr lang="it" sz="1500" err="1">
                          <a:solidFill>
                            <a:schemeClr val="dk1"/>
                          </a:solidFill>
                        </a:rPr>
                        <a:t>respond</a:t>
                      </a:r>
                      <a:r>
                        <a:rPr lang="it" sz="1500">
                          <a:solidFill>
                            <a:schemeClr val="dk1"/>
                          </a:solidFill>
                        </a:rPr>
                        <a:t> and </a:t>
                      </a:r>
                      <a:r>
                        <a:rPr lang="it" sz="1500" err="1">
                          <a:solidFill>
                            <a:schemeClr val="dk1"/>
                          </a:solidFill>
                        </a:rPr>
                        <a:t>recover</a:t>
                      </a:r>
                      <a:r>
                        <a:rPr lang="it" sz="1500">
                          <a:solidFill>
                            <a:schemeClr val="dk1"/>
                          </a:solidFill>
                        </a:rPr>
                        <a:t> from an </a:t>
                      </a:r>
                      <a:r>
                        <a:rPr lang="it" sz="1500" err="1">
                          <a:solidFill>
                            <a:schemeClr val="dk1"/>
                          </a:solidFill>
                        </a:rPr>
                        <a:t>incident</a:t>
                      </a:r>
                      <a:endParaRPr sz="1500" err="1"/>
                    </a:p>
                  </a:txBody>
                  <a:tcPr marL="91425" marR="91425" marT="91425" marB="91425">
                    <a:solidFill>
                      <a:srgbClr val="CCCCCC"/>
                    </a:solidFill>
                  </a:tcPr>
                </a:tc>
                <a:extLst>
                  <a:ext uri="{0D108BD9-81ED-4DB2-BD59-A6C34878D82A}">
                    <a16:rowId xmlns:a16="http://schemas.microsoft.com/office/drawing/2014/main" val="10002"/>
                  </a:ext>
                </a:extLst>
              </a:tr>
              <a:tr h="381000">
                <a:tc>
                  <a:txBody>
                    <a:bodyPr/>
                    <a:lstStyle/>
                    <a:p>
                      <a:pPr marL="0" lvl="0" indent="0" algn="just" rtl="0">
                        <a:lnSpc>
                          <a:spcPct val="115000"/>
                        </a:lnSpc>
                        <a:spcBef>
                          <a:spcPts val="0"/>
                        </a:spcBef>
                        <a:spcAft>
                          <a:spcPts val="1200"/>
                        </a:spcAft>
                        <a:buClr>
                          <a:schemeClr val="dk1"/>
                        </a:buClr>
                        <a:buSzPts val="1100"/>
                        <a:buFont typeface="Arial"/>
                        <a:buNone/>
                      </a:pPr>
                      <a:r>
                        <a:rPr lang="it" sz="1500" err="1">
                          <a:solidFill>
                            <a:schemeClr val="dk1"/>
                          </a:solidFill>
                        </a:rPr>
                        <a:t>Involves</a:t>
                      </a:r>
                      <a:r>
                        <a:rPr lang="it" sz="1500">
                          <a:solidFill>
                            <a:schemeClr val="dk1"/>
                          </a:solidFill>
                        </a:rPr>
                        <a:t> an investment of </a:t>
                      </a:r>
                      <a:r>
                        <a:rPr lang="it" sz="1500" b="1" i="0" u="none" strike="noStrike" noProof="0">
                          <a:solidFill>
                            <a:schemeClr val="tx1"/>
                          </a:solidFill>
                          <a:latin typeface="Arial"/>
                        </a:rPr>
                        <a:t>16.100</a:t>
                      </a:r>
                      <a:r>
                        <a:rPr lang="it" sz="1500" b="1">
                          <a:solidFill>
                            <a:schemeClr val="dk1"/>
                          </a:solidFill>
                        </a:rPr>
                        <a:t>$</a:t>
                      </a:r>
                      <a:r>
                        <a:rPr lang="it" sz="1500">
                          <a:solidFill>
                            <a:schemeClr val="dk1"/>
                          </a:solidFill>
                        </a:rPr>
                        <a:t> and </a:t>
                      </a:r>
                      <a:r>
                        <a:rPr lang="it" sz="1500" b="1">
                          <a:solidFill>
                            <a:schemeClr val="dk1"/>
                          </a:solidFill>
                        </a:rPr>
                        <a:t>62h</a:t>
                      </a:r>
                      <a:r>
                        <a:rPr lang="it" sz="1500">
                          <a:solidFill>
                            <a:schemeClr val="dk1"/>
                          </a:solidFill>
                        </a:rPr>
                        <a:t> to make the company risk-</a:t>
                      </a:r>
                      <a:r>
                        <a:rPr lang="it" sz="1500" err="1">
                          <a:solidFill>
                            <a:schemeClr val="dk1"/>
                          </a:solidFill>
                        </a:rPr>
                        <a:t>informed</a:t>
                      </a:r>
                      <a:endParaRPr sz="1500" err="1"/>
                    </a:p>
                  </a:txBody>
                  <a:tcPr marL="91425" marR="91425" marT="91425" marB="91425">
                    <a:solidFill>
                      <a:srgbClr val="CCCCCC"/>
                    </a:solidFill>
                  </a:tcPr>
                </a:tc>
                <a:extLst>
                  <a:ext uri="{0D108BD9-81ED-4DB2-BD59-A6C34878D82A}">
                    <a16:rowId xmlns:a16="http://schemas.microsoft.com/office/drawing/2014/main" val="10003"/>
                  </a:ext>
                </a:extLst>
              </a:tr>
              <a:tr h="381000">
                <a:tc>
                  <a:txBody>
                    <a:bodyPr/>
                    <a:lstStyle/>
                    <a:p>
                      <a:pPr marL="0" lvl="0" indent="0" algn="just" rtl="0">
                        <a:lnSpc>
                          <a:spcPct val="115000"/>
                        </a:lnSpc>
                        <a:spcBef>
                          <a:spcPts val="0"/>
                        </a:spcBef>
                        <a:spcAft>
                          <a:spcPts val="1200"/>
                        </a:spcAft>
                        <a:buClr>
                          <a:schemeClr val="dk1"/>
                        </a:buClr>
                        <a:buSzPts val="1100"/>
                        <a:buFont typeface="Arial"/>
                        <a:buNone/>
                      </a:pPr>
                      <a:r>
                        <a:rPr lang="it" sz="1500" err="1">
                          <a:solidFill>
                            <a:schemeClr val="dk1"/>
                          </a:solidFill>
                        </a:rPr>
                        <a:t>Achieves</a:t>
                      </a:r>
                      <a:r>
                        <a:rPr lang="it" sz="1500">
                          <a:solidFill>
                            <a:schemeClr val="dk1"/>
                          </a:solidFill>
                        </a:rPr>
                        <a:t> NIST </a:t>
                      </a:r>
                      <a:r>
                        <a:rPr lang="it" sz="1500" err="1">
                          <a:solidFill>
                            <a:schemeClr val="dk1"/>
                          </a:solidFill>
                        </a:rPr>
                        <a:t>tier</a:t>
                      </a:r>
                      <a:r>
                        <a:rPr lang="it" sz="1500">
                          <a:solidFill>
                            <a:schemeClr val="dk1"/>
                          </a:solidFill>
                        </a:rPr>
                        <a:t> 2</a:t>
                      </a:r>
                      <a:endParaRPr sz="1500"/>
                    </a:p>
                  </a:txBody>
                  <a:tcPr marL="91425" marR="91425" marT="91425" marB="91425">
                    <a:solidFill>
                      <a:srgbClr val="CCCCC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95" name="Google Shape;195;p27"/>
          <p:cNvSpPr txBox="1">
            <a:spLocks noGrp="1"/>
          </p:cNvSpPr>
          <p:nvPr>
            <p:ph type="body" idx="1"/>
          </p:nvPr>
        </p:nvSpPr>
        <p:spPr>
          <a:xfrm>
            <a:off x="311700" y="1390375"/>
            <a:ext cx="8520600" cy="3416400"/>
          </a:xfrm>
          <a:prstGeom prst="rect">
            <a:avLst/>
          </a:prstGeom>
          <a:noFill/>
        </p:spPr>
        <p:txBody>
          <a:bodyPr spcFirstLastPara="1" wrap="square" lIns="91425" tIns="91425" rIns="91425" bIns="91425" anchor="t" anchorCtr="0">
            <a:noAutofit/>
          </a:bodyPr>
          <a:lstStyle/>
          <a:p>
            <a:pPr marL="457200" lvl="0" indent="-457200" algn="l" rtl="0">
              <a:lnSpc>
                <a:spcPct val="100000"/>
              </a:lnSpc>
              <a:spcBef>
                <a:spcPts val="0"/>
              </a:spcBef>
              <a:spcAft>
                <a:spcPts val="0"/>
              </a:spcAft>
              <a:buClr>
                <a:schemeClr val="dk1"/>
              </a:buClr>
              <a:buSzPts val="1100"/>
              <a:buFont typeface="Arial"/>
              <a:buNone/>
            </a:pPr>
            <a:r>
              <a:rPr lang="it" sz="1200">
                <a:solidFill>
                  <a:srgbClr val="666666"/>
                </a:solidFill>
              </a:rPr>
              <a:t>Barrett, M. P. (2018). </a:t>
            </a:r>
            <a:r>
              <a:rPr lang="it" sz="1200" i="1">
                <a:solidFill>
                  <a:srgbClr val="666666"/>
                </a:solidFill>
              </a:rPr>
              <a:t>Framework for </a:t>
            </a:r>
            <a:r>
              <a:rPr lang="it" sz="1200" i="1" err="1">
                <a:solidFill>
                  <a:srgbClr val="666666"/>
                </a:solidFill>
              </a:rPr>
              <a:t>Improving</a:t>
            </a:r>
            <a:r>
              <a:rPr lang="it" sz="1200" i="1">
                <a:solidFill>
                  <a:srgbClr val="666666"/>
                </a:solidFill>
              </a:rPr>
              <a:t> Critical </a:t>
            </a:r>
            <a:r>
              <a:rPr lang="it" sz="1200" i="1" err="1">
                <a:solidFill>
                  <a:srgbClr val="666666"/>
                </a:solidFill>
              </a:rPr>
              <a:t>Infrastructure</a:t>
            </a:r>
            <a:r>
              <a:rPr lang="it" sz="1200" i="1">
                <a:solidFill>
                  <a:srgbClr val="666666"/>
                </a:solidFill>
              </a:rPr>
              <a:t> Cybersecurity</a:t>
            </a:r>
            <a:r>
              <a:rPr lang="it" sz="1200">
                <a:solidFill>
                  <a:srgbClr val="666666"/>
                </a:solidFill>
              </a:rPr>
              <a:t> (1.1). NIST Cybersecurity Framework. </a:t>
            </a:r>
            <a:r>
              <a:rPr lang="it" sz="1200" u="sng">
                <a:solidFill>
                  <a:srgbClr val="1155CC"/>
                </a:solidFill>
                <a:hlinkClick r:id="rId3">
                  <a:extLst>
                    <a:ext uri="{A12FA001-AC4F-418D-AE19-62706E023703}">
                      <ahyp:hlinkClr xmlns:ahyp="http://schemas.microsoft.com/office/drawing/2018/hyperlinkcolor" val="tx"/>
                    </a:ext>
                  </a:extLst>
                </a:hlinkClick>
              </a:rPr>
              <a:t>https://doi.org/10.6028/NIST.CSWP.04162018</a:t>
            </a:r>
            <a:endParaRPr sz="120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endParaRPr sz="120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it" sz="1200">
                <a:solidFill>
                  <a:srgbClr val="666666"/>
                </a:solidFill>
              </a:rPr>
              <a:t>Fernandez De </a:t>
            </a:r>
            <a:r>
              <a:rPr lang="it" sz="1200" err="1">
                <a:solidFill>
                  <a:srgbClr val="666666"/>
                </a:solidFill>
              </a:rPr>
              <a:t>Arroyabe</a:t>
            </a:r>
            <a:r>
              <a:rPr lang="it" sz="1200">
                <a:solidFill>
                  <a:srgbClr val="666666"/>
                </a:solidFill>
              </a:rPr>
              <a:t>, I., &amp; Fernandez De </a:t>
            </a:r>
            <a:r>
              <a:rPr lang="it" sz="1200" err="1">
                <a:solidFill>
                  <a:srgbClr val="666666"/>
                </a:solidFill>
              </a:rPr>
              <a:t>Arroyabe</a:t>
            </a:r>
            <a:r>
              <a:rPr lang="it" sz="1200">
                <a:solidFill>
                  <a:srgbClr val="666666"/>
                </a:solidFill>
              </a:rPr>
              <a:t>, J. C. (2021). </a:t>
            </a:r>
            <a:r>
              <a:rPr lang="it" sz="1200" i="1">
                <a:solidFill>
                  <a:srgbClr val="666666"/>
                </a:solidFill>
              </a:rPr>
              <a:t>The </a:t>
            </a:r>
            <a:r>
              <a:rPr lang="it" sz="1200" i="1" err="1">
                <a:solidFill>
                  <a:srgbClr val="666666"/>
                </a:solidFill>
              </a:rPr>
              <a:t>severity</a:t>
            </a:r>
            <a:r>
              <a:rPr lang="it" sz="1200" i="1">
                <a:solidFill>
                  <a:srgbClr val="666666"/>
                </a:solidFill>
              </a:rPr>
              <a:t> and </a:t>
            </a:r>
            <a:r>
              <a:rPr lang="it" sz="1200" i="1" err="1">
                <a:solidFill>
                  <a:srgbClr val="666666"/>
                </a:solidFill>
              </a:rPr>
              <a:t>effects</a:t>
            </a:r>
            <a:r>
              <a:rPr lang="it" sz="1200" i="1">
                <a:solidFill>
                  <a:srgbClr val="666666"/>
                </a:solidFill>
              </a:rPr>
              <a:t> of Cyber-</a:t>
            </a:r>
            <a:r>
              <a:rPr lang="it" sz="1200" i="1" err="1">
                <a:solidFill>
                  <a:srgbClr val="666666"/>
                </a:solidFill>
              </a:rPr>
              <a:t>breaches</a:t>
            </a:r>
            <a:r>
              <a:rPr lang="it" sz="1200" i="1">
                <a:solidFill>
                  <a:srgbClr val="666666"/>
                </a:solidFill>
              </a:rPr>
              <a:t> in </a:t>
            </a:r>
            <a:r>
              <a:rPr lang="it" sz="1200" i="1" err="1">
                <a:solidFill>
                  <a:srgbClr val="666666"/>
                </a:solidFill>
              </a:rPr>
              <a:t>SMEs</a:t>
            </a:r>
            <a:r>
              <a:rPr lang="it" sz="1200" i="1">
                <a:solidFill>
                  <a:srgbClr val="666666"/>
                </a:solidFill>
              </a:rPr>
              <a:t>: a machine learning </a:t>
            </a:r>
            <a:r>
              <a:rPr lang="it" sz="1200" i="1" err="1">
                <a:solidFill>
                  <a:srgbClr val="666666"/>
                </a:solidFill>
              </a:rPr>
              <a:t>approach</a:t>
            </a:r>
            <a:r>
              <a:rPr lang="it" sz="1200">
                <a:solidFill>
                  <a:srgbClr val="666666"/>
                </a:solidFill>
              </a:rPr>
              <a:t>. Enterprise Information Systems. 10.1080/17517575.2021.1942997 To link to </a:t>
            </a:r>
            <a:r>
              <a:rPr lang="it" sz="1200" err="1">
                <a:solidFill>
                  <a:srgbClr val="666666"/>
                </a:solidFill>
              </a:rPr>
              <a:t>this</a:t>
            </a:r>
            <a:r>
              <a:rPr lang="it" sz="1200">
                <a:solidFill>
                  <a:srgbClr val="666666"/>
                </a:solidFill>
              </a:rPr>
              <a:t> </a:t>
            </a:r>
            <a:r>
              <a:rPr lang="it" sz="1200" err="1">
                <a:solidFill>
                  <a:srgbClr val="666666"/>
                </a:solidFill>
              </a:rPr>
              <a:t>article</a:t>
            </a:r>
            <a:r>
              <a:rPr lang="it" sz="1200">
                <a:solidFill>
                  <a:srgbClr val="666666"/>
                </a:solidFill>
              </a:rPr>
              <a:t>: </a:t>
            </a:r>
            <a:r>
              <a:rPr lang="it" sz="1200" u="sng">
                <a:solidFill>
                  <a:srgbClr val="1155CC"/>
                </a:solidFill>
                <a:hlinkClick r:id="rId4">
                  <a:extLst>
                    <a:ext uri="{A12FA001-AC4F-418D-AE19-62706E023703}">
                      <ahyp:hlinkClr xmlns:ahyp="http://schemas.microsoft.com/office/drawing/2018/hyperlinkcolor" val="tx"/>
                    </a:ext>
                  </a:extLst>
                </a:hlinkClick>
              </a:rPr>
              <a:t>https://doi.org/10.1080/17517575.2021</a:t>
            </a:r>
            <a:r>
              <a:rPr lang="it" sz="1200">
                <a:solidFill>
                  <a:schemeClr val="dk1"/>
                </a:solidFill>
              </a:rPr>
              <a:t>.</a:t>
            </a:r>
            <a:endParaRPr sz="120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endParaRPr sz="120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it" sz="1200" i="1">
                <a:solidFill>
                  <a:srgbClr val="666666"/>
                </a:solidFill>
              </a:rPr>
              <a:t>IRS </a:t>
            </a:r>
            <a:r>
              <a:rPr lang="it" sz="1200" i="1" err="1">
                <a:solidFill>
                  <a:srgbClr val="666666"/>
                </a:solidFill>
              </a:rPr>
              <a:t>warns</a:t>
            </a:r>
            <a:r>
              <a:rPr lang="it" sz="1200" i="1">
                <a:solidFill>
                  <a:srgbClr val="666666"/>
                </a:solidFill>
              </a:rPr>
              <a:t> </a:t>
            </a:r>
            <a:r>
              <a:rPr lang="it" sz="1200" i="1" err="1">
                <a:solidFill>
                  <a:srgbClr val="666666"/>
                </a:solidFill>
              </a:rPr>
              <a:t>about</a:t>
            </a:r>
            <a:r>
              <a:rPr lang="it" sz="1200" i="1">
                <a:solidFill>
                  <a:srgbClr val="666666"/>
                </a:solidFill>
              </a:rPr>
              <a:t> COVID-19 </a:t>
            </a:r>
            <a:r>
              <a:rPr lang="it" sz="1200" i="1" err="1">
                <a:solidFill>
                  <a:srgbClr val="666666"/>
                </a:solidFill>
              </a:rPr>
              <a:t>economic</a:t>
            </a:r>
            <a:r>
              <a:rPr lang="it" sz="1200" i="1">
                <a:solidFill>
                  <a:srgbClr val="666666"/>
                </a:solidFill>
              </a:rPr>
              <a:t> impact payment </a:t>
            </a:r>
            <a:r>
              <a:rPr lang="it" sz="1200" i="1" err="1">
                <a:solidFill>
                  <a:srgbClr val="666666"/>
                </a:solidFill>
              </a:rPr>
              <a:t>fraud</a:t>
            </a:r>
            <a:r>
              <a:rPr lang="it" sz="1200">
                <a:solidFill>
                  <a:srgbClr val="666666"/>
                </a:solidFill>
              </a:rPr>
              <a:t>. (2021, </a:t>
            </a:r>
            <a:r>
              <a:rPr lang="it" sz="1200" err="1">
                <a:solidFill>
                  <a:srgbClr val="666666"/>
                </a:solidFill>
              </a:rPr>
              <a:t>June</a:t>
            </a:r>
            <a:r>
              <a:rPr lang="it" sz="1200">
                <a:solidFill>
                  <a:srgbClr val="666666"/>
                </a:solidFill>
              </a:rPr>
              <a:t> 4). </a:t>
            </a:r>
            <a:r>
              <a:rPr lang="it" sz="1200" err="1">
                <a:solidFill>
                  <a:srgbClr val="666666"/>
                </a:solidFill>
              </a:rPr>
              <a:t>Internal</a:t>
            </a:r>
            <a:r>
              <a:rPr lang="it" sz="1200">
                <a:solidFill>
                  <a:srgbClr val="666666"/>
                </a:solidFill>
              </a:rPr>
              <a:t> Revenue Service. </a:t>
            </a:r>
            <a:r>
              <a:rPr lang="it" sz="1200" err="1">
                <a:solidFill>
                  <a:srgbClr val="666666"/>
                </a:solidFill>
              </a:rPr>
              <a:t>Retrieved</a:t>
            </a:r>
            <a:r>
              <a:rPr lang="it" sz="1200">
                <a:solidFill>
                  <a:srgbClr val="666666"/>
                </a:solidFill>
              </a:rPr>
              <a:t> November 24, 2021, from </a:t>
            </a:r>
            <a:r>
              <a:rPr lang="it" sz="1200" u="sng">
                <a:solidFill>
                  <a:srgbClr val="1155CC"/>
                </a:solidFill>
                <a:hlinkClick r:id="rId5">
                  <a:extLst>
                    <a:ext uri="{A12FA001-AC4F-418D-AE19-62706E023703}">
                      <ahyp:hlinkClr xmlns:ahyp="http://schemas.microsoft.com/office/drawing/2018/hyperlinkcolor" val="tx"/>
                    </a:ext>
                  </a:extLst>
                </a:hlinkClick>
              </a:rPr>
              <a:t>https://www.irs.gov/compliance/criminal-investigation/irs-warns-about-covid-19-economic-impact-payment-fraud</a:t>
            </a:r>
            <a:endParaRPr sz="120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endParaRPr sz="120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it" sz="1200" err="1">
                <a:solidFill>
                  <a:srgbClr val="666666"/>
                </a:solidFill>
              </a:rPr>
              <a:t>Lallie</a:t>
            </a:r>
            <a:r>
              <a:rPr lang="it" sz="1200">
                <a:solidFill>
                  <a:srgbClr val="666666"/>
                </a:solidFill>
              </a:rPr>
              <a:t>, H. S., </a:t>
            </a:r>
            <a:r>
              <a:rPr lang="it" sz="1200" err="1">
                <a:solidFill>
                  <a:srgbClr val="666666"/>
                </a:solidFill>
              </a:rPr>
              <a:t>Shepherd</a:t>
            </a:r>
            <a:r>
              <a:rPr lang="it" sz="1200">
                <a:solidFill>
                  <a:srgbClr val="666666"/>
                </a:solidFill>
              </a:rPr>
              <a:t>, L. A., Nurse, J. R.C., </a:t>
            </a:r>
            <a:r>
              <a:rPr lang="it" sz="1200" err="1">
                <a:solidFill>
                  <a:srgbClr val="666666"/>
                </a:solidFill>
              </a:rPr>
              <a:t>Erola</a:t>
            </a:r>
            <a:r>
              <a:rPr lang="it" sz="1200">
                <a:solidFill>
                  <a:srgbClr val="666666"/>
                </a:solidFill>
              </a:rPr>
              <a:t>, A., </a:t>
            </a:r>
            <a:r>
              <a:rPr lang="it" sz="1200" err="1">
                <a:solidFill>
                  <a:srgbClr val="666666"/>
                </a:solidFill>
              </a:rPr>
              <a:t>Epiphaniou</a:t>
            </a:r>
            <a:r>
              <a:rPr lang="it" sz="1200">
                <a:solidFill>
                  <a:srgbClr val="666666"/>
                </a:solidFill>
              </a:rPr>
              <a:t>, G., </a:t>
            </a:r>
            <a:r>
              <a:rPr lang="it" sz="1200" err="1">
                <a:solidFill>
                  <a:srgbClr val="666666"/>
                </a:solidFill>
              </a:rPr>
              <a:t>Maple</a:t>
            </a:r>
            <a:r>
              <a:rPr lang="it" sz="1200">
                <a:solidFill>
                  <a:srgbClr val="666666"/>
                </a:solidFill>
              </a:rPr>
              <a:t>, C., &amp; </a:t>
            </a:r>
            <a:r>
              <a:rPr lang="it" sz="1200" err="1">
                <a:solidFill>
                  <a:srgbClr val="666666"/>
                </a:solidFill>
              </a:rPr>
              <a:t>Bellekens</a:t>
            </a:r>
            <a:r>
              <a:rPr lang="it" sz="1200">
                <a:solidFill>
                  <a:srgbClr val="666666"/>
                </a:solidFill>
              </a:rPr>
              <a:t>, X. (2021, </a:t>
            </a:r>
            <a:r>
              <a:rPr lang="it" sz="1200" err="1">
                <a:solidFill>
                  <a:srgbClr val="666666"/>
                </a:solidFill>
              </a:rPr>
              <a:t>June</a:t>
            </a:r>
            <a:r>
              <a:rPr lang="it" sz="1200">
                <a:solidFill>
                  <a:srgbClr val="666666"/>
                </a:solidFill>
              </a:rPr>
              <a:t>). Cyber security in the age of COVID-19: A timeline and </a:t>
            </a:r>
            <a:r>
              <a:rPr lang="it" sz="1200" err="1">
                <a:solidFill>
                  <a:srgbClr val="666666"/>
                </a:solidFill>
              </a:rPr>
              <a:t>analysis</a:t>
            </a:r>
            <a:r>
              <a:rPr lang="it" sz="1200">
                <a:solidFill>
                  <a:srgbClr val="666666"/>
                </a:solidFill>
              </a:rPr>
              <a:t> of cyber-crime and cyber-</a:t>
            </a:r>
            <a:r>
              <a:rPr lang="it" sz="1200" err="1">
                <a:solidFill>
                  <a:srgbClr val="666666"/>
                </a:solidFill>
              </a:rPr>
              <a:t>attacks</a:t>
            </a:r>
            <a:r>
              <a:rPr lang="it" sz="1200">
                <a:solidFill>
                  <a:srgbClr val="666666"/>
                </a:solidFill>
              </a:rPr>
              <a:t> </a:t>
            </a:r>
            <a:r>
              <a:rPr lang="it" sz="1200" err="1">
                <a:solidFill>
                  <a:srgbClr val="666666"/>
                </a:solidFill>
              </a:rPr>
              <a:t>during</a:t>
            </a:r>
            <a:r>
              <a:rPr lang="it" sz="1200">
                <a:solidFill>
                  <a:srgbClr val="666666"/>
                </a:solidFill>
              </a:rPr>
              <a:t> the pandemic. </a:t>
            </a:r>
            <a:r>
              <a:rPr lang="it" sz="1200" i="1">
                <a:solidFill>
                  <a:srgbClr val="666666"/>
                </a:solidFill>
              </a:rPr>
              <a:t>Computers &amp; Security</a:t>
            </a:r>
            <a:r>
              <a:rPr lang="it" sz="1200">
                <a:solidFill>
                  <a:srgbClr val="666666"/>
                </a:solidFill>
              </a:rPr>
              <a:t>, </a:t>
            </a:r>
            <a:r>
              <a:rPr lang="it" sz="1200" i="1">
                <a:solidFill>
                  <a:srgbClr val="666666"/>
                </a:solidFill>
              </a:rPr>
              <a:t>105</a:t>
            </a:r>
            <a:r>
              <a:rPr lang="it" sz="1200">
                <a:solidFill>
                  <a:srgbClr val="666666"/>
                </a:solidFill>
              </a:rPr>
              <a:t>(1), 102248. 10.1016/j.cose.2021.102248</a:t>
            </a:r>
            <a:endParaRPr sz="1200">
              <a:solidFill>
                <a:srgbClr val="666666"/>
              </a:solidFill>
            </a:endParaRPr>
          </a:p>
          <a:p>
            <a:pPr marL="457200" lvl="0" indent="-457200" algn="l" rtl="0">
              <a:lnSpc>
                <a:spcPct val="100000"/>
              </a:lnSpc>
              <a:spcBef>
                <a:spcPts val="0"/>
              </a:spcBef>
              <a:spcAft>
                <a:spcPts val="0"/>
              </a:spcAft>
              <a:buClr>
                <a:schemeClr val="dk1"/>
              </a:buClr>
              <a:buSzPts val="1100"/>
              <a:buFont typeface="Arial"/>
              <a:buNone/>
            </a:pPr>
            <a:endParaRPr sz="1200">
              <a:solidFill>
                <a:schemeClr val="dk1"/>
              </a:solidFill>
            </a:endParaRPr>
          </a:p>
          <a:p>
            <a:pPr marL="457200" lvl="0" indent="-457200" algn="l" rtl="0">
              <a:lnSpc>
                <a:spcPct val="100000"/>
              </a:lnSpc>
              <a:spcBef>
                <a:spcPts val="0"/>
              </a:spcBef>
              <a:spcAft>
                <a:spcPts val="0"/>
              </a:spcAft>
              <a:buClr>
                <a:schemeClr val="dk1"/>
              </a:buClr>
              <a:buSzPts val="1100"/>
              <a:buFont typeface="Arial"/>
              <a:buNone/>
            </a:pPr>
            <a:r>
              <a:rPr lang="it" sz="1200" err="1">
                <a:solidFill>
                  <a:srgbClr val="666666"/>
                </a:solidFill>
              </a:rPr>
              <a:t>Parkin</a:t>
            </a:r>
            <a:r>
              <a:rPr lang="it" sz="1200">
                <a:solidFill>
                  <a:srgbClr val="666666"/>
                </a:solidFill>
              </a:rPr>
              <a:t>, S., </a:t>
            </a:r>
            <a:r>
              <a:rPr lang="it" sz="1200" err="1">
                <a:solidFill>
                  <a:srgbClr val="666666"/>
                </a:solidFill>
              </a:rPr>
              <a:t>Fielder</a:t>
            </a:r>
            <a:r>
              <a:rPr lang="it" sz="1200">
                <a:solidFill>
                  <a:srgbClr val="666666"/>
                </a:solidFill>
              </a:rPr>
              <a:t>, A., &amp; Ashby, A. (2016). </a:t>
            </a:r>
            <a:r>
              <a:rPr lang="it" sz="1200" i="1" err="1">
                <a:solidFill>
                  <a:srgbClr val="666666"/>
                </a:solidFill>
              </a:rPr>
              <a:t>Pragmatic</a:t>
            </a:r>
            <a:r>
              <a:rPr lang="it" sz="1200" i="1">
                <a:solidFill>
                  <a:srgbClr val="666666"/>
                </a:solidFill>
              </a:rPr>
              <a:t> Security: </a:t>
            </a:r>
            <a:r>
              <a:rPr lang="it" sz="1200" i="1" err="1">
                <a:solidFill>
                  <a:srgbClr val="666666"/>
                </a:solidFill>
              </a:rPr>
              <a:t>Modelling</a:t>
            </a:r>
            <a:r>
              <a:rPr lang="it" sz="1200" i="1">
                <a:solidFill>
                  <a:srgbClr val="666666"/>
                </a:solidFill>
              </a:rPr>
              <a:t> IT Security Management </a:t>
            </a:r>
            <a:r>
              <a:rPr lang="it" sz="1200" i="1" err="1">
                <a:solidFill>
                  <a:srgbClr val="666666"/>
                </a:solidFill>
              </a:rPr>
              <a:t>Responsibilities</a:t>
            </a:r>
            <a:r>
              <a:rPr lang="it" sz="1200" i="1">
                <a:solidFill>
                  <a:srgbClr val="666666"/>
                </a:solidFill>
              </a:rPr>
              <a:t> for SME </a:t>
            </a:r>
            <a:r>
              <a:rPr lang="it" sz="1200" i="1" err="1">
                <a:solidFill>
                  <a:srgbClr val="666666"/>
                </a:solidFill>
              </a:rPr>
              <a:t>Archetypes</a:t>
            </a:r>
            <a:r>
              <a:rPr lang="it" sz="1200">
                <a:solidFill>
                  <a:srgbClr val="666666"/>
                </a:solidFill>
              </a:rPr>
              <a:t>. 10.1145/2995959.2995967</a:t>
            </a:r>
            <a:endParaRPr sz="1200">
              <a:solidFill>
                <a:srgbClr val="666666"/>
              </a:solidFill>
            </a:endParaRPr>
          </a:p>
        </p:txBody>
      </p:sp>
      <p:pic>
        <p:nvPicPr>
          <p:cNvPr id="196" name="Google Shape;196;p27"/>
          <p:cNvPicPr preferRelativeResize="0"/>
          <p:nvPr/>
        </p:nvPicPr>
        <p:blipFill rotWithShape="1">
          <a:blip r:embed="rId6">
            <a:alphaModFix/>
          </a:blip>
          <a:srcRect b="63235"/>
          <a:stretch/>
        </p:blipFill>
        <p:spPr>
          <a:xfrm>
            <a:off x="0" y="0"/>
            <a:ext cx="9144000" cy="1065426"/>
          </a:xfrm>
          <a:prstGeom prst="rect">
            <a:avLst/>
          </a:prstGeom>
          <a:noFill/>
          <a:ln>
            <a:noFill/>
          </a:ln>
        </p:spPr>
      </p:pic>
      <p:sp>
        <p:nvSpPr>
          <p:cNvPr id="197" name="Google Shape;197;p27"/>
          <p:cNvSpPr txBox="1"/>
          <p:nvPr/>
        </p:nvSpPr>
        <p:spPr>
          <a:xfrm>
            <a:off x="6991200" y="194163"/>
            <a:ext cx="1841100" cy="677100"/>
          </a:xfrm>
          <a:prstGeom prst="rect">
            <a:avLst/>
          </a:prstGeom>
          <a:solidFill>
            <a:srgbClr val="000000">
              <a:alpha val="63390"/>
            </a:srgbClr>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it" sz="3200" b="1">
                <a:solidFill>
                  <a:schemeClr val="lt1"/>
                </a:solidFill>
              </a:rPr>
              <a:t>TEAM 1</a:t>
            </a:r>
            <a:endParaRPr sz="3200" b="1">
              <a:solidFill>
                <a:schemeClr val="lt1"/>
              </a:solidFill>
            </a:endParaRPr>
          </a:p>
        </p:txBody>
      </p:sp>
      <p:sp>
        <p:nvSpPr>
          <p:cNvPr id="198" name="Google Shape;198;p27"/>
          <p:cNvSpPr txBox="1"/>
          <p:nvPr/>
        </p:nvSpPr>
        <p:spPr>
          <a:xfrm>
            <a:off x="311700" y="194175"/>
            <a:ext cx="6567000" cy="677100"/>
          </a:xfrm>
          <a:prstGeom prst="rect">
            <a:avLst/>
          </a:prstGeom>
          <a:solidFill>
            <a:srgbClr val="000000">
              <a:alpha val="63390"/>
            </a:srgbClr>
          </a:solid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sz="1600" b="1" err="1">
                <a:solidFill>
                  <a:srgbClr val="9FC5E8"/>
                </a:solidFill>
              </a:rPr>
              <a:t>ezAccount</a:t>
            </a:r>
            <a:r>
              <a:rPr lang="it" sz="1600" b="1">
                <a:solidFill>
                  <a:srgbClr val="9FC5E8"/>
                </a:solidFill>
              </a:rPr>
              <a:t> - </a:t>
            </a:r>
            <a:r>
              <a:rPr lang="it" sz="1600" b="1" err="1">
                <a:solidFill>
                  <a:srgbClr val="9FC5E8"/>
                </a:solidFill>
              </a:rPr>
              <a:t>Improving</a:t>
            </a:r>
            <a:r>
              <a:rPr lang="it" sz="1600" b="1">
                <a:solidFill>
                  <a:srgbClr val="9FC5E8"/>
                </a:solidFill>
              </a:rPr>
              <a:t> network security in a tax </a:t>
            </a:r>
            <a:r>
              <a:rPr lang="it" sz="1600" b="1" err="1">
                <a:solidFill>
                  <a:srgbClr val="9FC5E8"/>
                </a:solidFill>
              </a:rPr>
              <a:t>accountant</a:t>
            </a:r>
            <a:r>
              <a:rPr lang="it" sz="1600" b="1">
                <a:solidFill>
                  <a:srgbClr val="9FC5E8"/>
                </a:solidFill>
              </a:rPr>
              <a:t> office</a:t>
            </a:r>
            <a:endParaRPr sz="1600" b="1">
              <a:solidFill>
                <a:schemeClr val="lt1"/>
              </a:solidFill>
            </a:endParaRPr>
          </a:p>
          <a:p>
            <a:pPr marL="0" lvl="0" indent="0" algn="l" rtl="0">
              <a:spcBef>
                <a:spcPts val="0"/>
              </a:spcBef>
              <a:spcAft>
                <a:spcPts val="0"/>
              </a:spcAft>
              <a:buNone/>
            </a:pPr>
            <a:r>
              <a:rPr lang="it" sz="1600" b="1" err="1">
                <a:solidFill>
                  <a:schemeClr val="lt1"/>
                </a:solidFill>
              </a:rPr>
              <a:t>References</a:t>
            </a:r>
            <a:endParaRPr sz="1600" b="1" err="1">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8"/>
          <p:cNvPicPr preferRelativeResize="0"/>
          <p:nvPr/>
        </p:nvPicPr>
        <p:blipFill>
          <a:blip r:embed="rId3">
            <a:alphaModFix/>
          </a:blip>
          <a:stretch>
            <a:fillRect/>
          </a:stretch>
        </p:blipFill>
        <p:spPr>
          <a:xfrm>
            <a:off x="0" y="0"/>
            <a:ext cx="9144000" cy="5143500"/>
          </a:xfrm>
          <a:prstGeom prst="rect">
            <a:avLst/>
          </a:prstGeom>
          <a:noFill/>
          <a:ln>
            <a:noFill/>
          </a:ln>
        </p:spPr>
      </p:pic>
      <p:sp>
        <p:nvSpPr>
          <p:cNvPr id="204" name="Google Shape;204;p28"/>
          <p:cNvSpPr txBox="1">
            <a:spLocks noGrp="1"/>
          </p:cNvSpPr>
          <p:nvPr>
            <p:ph type="ctrTitle"/>
          </p:nvPr>
        </p:nvSpPr>
        <p:spPr>
          <a:xfrm>
            <a:off x="311708" y="1545450"/>
            <a:ext cx="8520600" cy="2052600"/>
          </a:xfrm>
          <a:prstGeom prst="rect">
            <a:avLst/>
          </a:prstGeom>
          <a:solidFill>
            <a:srgbClr val="000000">
              <a:alpha val="63390"/>
            </a:srgbClr>
          </a:solidFill>
        </p:spPr>
        <p:txBody>
          <a:bodyPr spcFirstLastPara="1" wrap="square" lIns="91425" tIns="91425" rIns="91425" bIns="91425" anchor="ctr" anchorCtr="0">
            <a:normAutofit/>
          </a:bodyPr>
          <a:lstStyle/>
          <a:p>
            <a:pPr marL="0" lvl="0" indent="0" algn="ctr" rtl="0">
              <a:spcBef>
                <a:spcPts val="0"/>
              </a:spcBef>
              <a:spcAft>
                <a:spcPts val="0"/>
              </a:spcAft>
              <a:buNone/>
            </a:pPr>
            <a:r>
              <a:rPr lang="it" b="1">
                <a:solidFill>
                  <a:srgbClr val="FFFFFF"/>
                </a:solidFill>
              </a:rPr>
              <a:t>THANK YOU</a:t>
            </a:r>
            <a:endParaRPr b="1">
              <a:solidFill>
                <a:srgbClr val="FFFFFF"/>
              </a:solidFill>
            </a:endParaRPr>
          </a:p>
          <a:p>
            <a:pPr marL="0" lvl="0" indent="0" algn="ctr" rtl="0">
              <a:spcBef>
                <a:spcPts val="0"/>
              </a:spcBef>
              <a:spcAft>
                <a:spcPts val="0"/>
              </a:spcAft>
              <a:buClr>
                <a:schemeClr val="dk1"/>
              </a:buClr>
              <a:buSzPts val="1100"/>
              <a:buFont typeface="Arial"/>
              <a:buNone/>
            </a:pPr>
            <a:r>
              <a:rPr lang="it" sz="2800">
                <a:solidFill>
                  <a:srgbClr val="FFFFFF"/>
                </a:solidFill>
                <a:highlight>
                  <a:srgbClr val="FFFFFF"/>
                </a:highlight>
              </a:rPr>
              <a:t>_</a:t>
            </a:r>
            <a:r>
              <a:rPr lang="it" sz="2800">
                <a:solidFill>
                  <a:srgbClr val="000000"/>
                </a:solidFill>
                <a:highlight>
                  <a:srgbClr val="FFFFFF"/>
                </a:highlight>
              </a:rPr>
              <a:t>for </a:t>
            </a:r>
            <a:r>
              <a:rPr lang="it" sz="2800" err="1">
                <a:solidFill>
                  <a:srgbClr val="000000"/>
                </a:solidFill>
                <a:highlight>
                  <a:srgbClr val="FFFFFF"/>
                </a:highlight>
              </a:rPr>
              <a:t>your</a:t>
            </a:r>
            <a:r>
              <a:rPr lang="it" sz="2800">
                <a:solidFill>
                  <a:srgbClr val="000000"/>
                </a:solidFill>
                <a:highlight>
                  <a:srgbClr val="FFFFFF"/>
                </a:highlight>
              </a:rPr>
              <a:t> </a:t>
            </a:r>
            <a:r>
              <a:rPr lang="it" sz="2800" err="1">
                <a:solidFill>
                  <a:srgbClr val="000000"/>
                </a:solidFill>
                <a:highlight>
                  <a:srgbClr val="FFFFFF"/>
                </a:highlight>
              </a:rPr>
              <a:t>precious</a:t>
            </a:r>
            <a:r>
              <a:rPr lang="it" sz="2800">
                <a:solidFill>
                  <a:srgbClr val="000000"/>
                </a:solidFill>
                <a:highlight>
                  <a:srgbClr val="FFFFFF"/>
                </a:highlight>
              </a:rPr>
              <a:t> time and </a:t>
            </a:r>
            <a:r>
              <a:rPr lang="it" sz="2800" err="1">
                <a:solidFill>
                  <a:srgbClr val="000000"/>
                </a:solidFill>
                <a:highlight>
                  <a:srgbClr val="FFFFFF"/>
                </a:highlight>
              </a:rPr>
              <a:t>attention</a:t>
            </a:r>
            <a:r>
              <a:rPr lang="it" sz="2800">
                <a:solidFill>
                  <a:srgbClr val="FFFFFF"/>
                </a:solidFill>
                <a:highlight>
                  <a:srgbClr val="FFFFFF"/>
                </a:highlight>
              </a:rPr>
              <a:t>_</a:t>
            </a:r>
            <a:endParaRPr>
              <a:solidFill>
                <a:srgbClr val="FFFFFF"/>
              </a:solidFill>
              <a:highlight>
                <a:srgbClr val="FFFFFF"/>
              </a:high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06F1B27D0B33F4E86C1486858F6AB05" ma:contentTypeVersion="10" ma:contentTypeDescription="Create a new document." ma:contentTypeScope="" ma:versionID="d4324ca0554b1216e0af3cc68e6eb8d8">
  <xsd:schema xmlns:xsd="http://www.w3.org/2001/XMLSchema" xmlns:xs="http://www.w3.org/2001/XMLSchema" xmlns:p="http://schemas.microsoft.com/office/2006/metadata/properties" xmlns:ns2="1f1423d5-14ca-4b48-81a4-8ffd3fb362cd" targetNamespace="http://schemas.microsoft.com/office/2006/metadata/properties" ma:root="true" ma:fieldsID="d6411663229ffcaa361a5f19f0f0cb65" ns2:_="">
    <xsd:import namespace="1f1423d5-14ca-4b48-81a4-8ffd3fb362c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1423d5-14ca-4b48-81a4-8ffd3fb362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AE5891-8F95-4C12-B543-949A05156EC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32ED337-E073-4303-92A1-C4C39C706001}">
  <ds:schemaRefs>
    <ds:schemaRef ds:uri="http://schemas.microsoft.com/sharepoint/v3/contenttype/forms"/>
  </ds:schemaRefs>
</ds:datastoreItem>
</file>

<file path=customXml/itemProps3.xml><?xml version="1.0" encoding="utf-8"?>
<ds:datastoreItem xmlns:ds="http://schemas.openxmlformats.org/officeDocument/2006/customXml" ds:itemID="{AC56FD58-AC69-4EC3-9C4C-84B34C608F30}">
  <ds:schemaRefs>
    <ds:schemaRef ds:uri="1f1423d5-14ca-4b48-81a4-8ffd3fb362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Simple Light</vt:lpstr>
      <vt:lpstr>ezAccount Improving network security in a tax accountant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_for your precious time and attention_</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ezAccount Improving network security in a tax accountant office</dc:title>
  <cp:revision>1</cp:revision>
  <dcterms:modified xsi:type="dcterms:W3CDTF">2021-12-03T12:43:21Z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0x010100106F1B27D0B33F4E86C1486858F6AB05</vt:lpwstr>
  </property>
</Properties>
</file>